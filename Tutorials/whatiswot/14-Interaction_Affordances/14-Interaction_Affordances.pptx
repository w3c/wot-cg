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sldIdLst>
    <p:sldId id="355" r:id="rId2"/>
    <p:sldId id="383" r:id="rId3"/>
    <p:sldId id="425" r:id="rId4"/>
    <p:sldId id="426" r:id="rId5"/>
    <p:sldId id="429" r:id="rId6"/>
    <p:sldId id="427" r:id="rId7"/>
    <p:sldId id="428" r:id="rId8"/>
    <p:sldId id="358" r:id="rId9"/>
    <p:sldId id="430" r:id="rId10"/>
    <p:sldId id="431" r:id="rId11"/>
    <p:sldId id="432" r:id="rId12"/>
    <p:sldId id="433" r:id="rId13"/>
    <p:sldId id="436" r:id="rId14"/>
    <p:sldId id="434" r:id="rId15"/>
    <p:sldId id="437" r:id="rId16"/>
    <p:sldId id="435" r:id="rId17"/>
    <p:sldId id="448" r:id="rId18"/>
    <p:sldId id="452" r:id="rId19"/>
    <p:sldId id="454" r:id="rId20"/>
    <p:sldId id="453" r:id="rId21"/>
    <p:sldId id="440" r:id="rId22"/>
    <p:sldId id="439" r:id="rId23"/>
    <p:sldId id="438" r:id="rId24"/>
    <p:sldId id="362" r:id="rId25"/>
    <p:sldId id="442" r:id="rId26"/>
    <p:sldId id="461" r:id="rId27"/>
    <p:sldId id="464" r:id="rId28"/>
    <p:sldId id="363" r:id="rId29"/>
    <p:sldId id="447" r:id="rId30"/>
    <p:sldId id="446" r:id="rId31"/>
    <p:sldId id="444" r:id="rId32"/>
    <p:sldId id="445" r:id="rId33"/>
    <p:sldId id="455" r:id="rId34"/>
    <p:sldId id="456" r:id="rId35"/>
    <p:sldId id="457" r:id="rId36"/>
    <p:sldId id="458" r:id="rId37"/>
    <p:sldId id="276" r:id="rId3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3B3B"/>
    <a:srgbClr val="FF3333"/>
    <a:srgbClr val="E8FA3C"/>
    <a:srgbClr val="F2F2F2"/>
    <a:srgbClr val="33CC33"/>
    <a:srgbClr val="AFCBE0"/>
    <a:srgbClr val="0052A5"/>
    <a:srgbClr val="6600FF"/>
    <a:srgbClr val="3333CC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929" autoAdjust="0"/>
    <p:restoredTop sz="78452" autoAdjust="0"/>
  </p:normalViewPr>
  <p:slideViewPr>
    <p:cSldViewPr snapToGrid="0">
      <p:cViewPr varScale="1">
        <p:scale>
          <a:sx n="61" d="100"/>
          <a:sy n="61" d="100"/>
        </p:scale>
        <p:origin x="1493" y="34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65C6DA-5C8D-412A-A384-5B74A29C9C75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2165D8-144D-4958-A83E-0D86045592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95172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this video, we’re going to dive deeper into Thing Descriptions by exploring one of their core concepts — Interaction Affordances.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2165D8-144D-4958-A83E-0D86045592C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3857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this video, we’re going to dive deeper into Thing Descriptions by exploring one of their core concepts — Interaction Affordances.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2165D8-144D-4958-A83E-0D86045592C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82295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A76748-2875-6926-C08C-D8980B6EBE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42554C-AFD1-2BFC-BC3C-5DCA54986F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560B80-29D9-8567-2567-DB233F6C92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this video, we’re going to dive deeper into Thing Descriptions by exploring one of their core concepts — Interaction Affordances.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A97454-A222-A7C3-3E58-054B79F71B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2165D8-144D-4958-A83E-0D86045592C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6218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A9E8F-68D0-D4CF-606E-FB648FF4B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F7212C-9544-2CD8-844E-20A7B15292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11BC7F-8245-8934-8FBB-1ABFBDFFC4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this video, we’re going to dive deeper into Thing Descriptions by exploring one of their core concepts — Interaction Affordances.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F607E7-06DA-1476-2B5F-7BA0D75A98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2165D8-144D-4958-A83E-0D86045592C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22600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As we previously learned, a TD serves as a description of the possible interactions with a device or service, defined as Interaction Affordances.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2165D8-144D-4958-A83E-0D86045592C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64333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we previously learned, a TD serves as a description of the possible interactions with a device or service, defined as Interaction Affordances.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2165D8-144D-4958-A83E-0D86045592C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88111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Interaction Affordance is one of three types: a property, an action, or an event. An affordance is defined not only by its semantic role, but by accompanying metadata, such as interaction metadata, made up of a data schema describing the input and output structure, and forms specifying protocol bindings.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2165D8-144D-4958-A83E-0D86045592C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9033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understand this better, we'll expand on the example from the last video. This is a snippet of the interaction affordances of a smart coffee machine. How an affordance is actually activated — e.g., via a network request — will be covered in a later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2165D8-144D-4958-A83E-0D86045592C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54142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19662-75EF-CD19-7589-50C08782D8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B658D1-69A0-0C2A-24C3-D9F3DF3868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140F45-E2A3-A4DB-FBBD-D9FED773C3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understand this better, we'll expand on the example from the last video. This is a snippet of the interaction affordances of a smart coffee machine. How an affordance is actually activated — e.g., via a network request — will be covered in a later video.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E344B3-6878-E1BF-740D-827D10E507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2165D8-144D-4958-A83E-0D86045592C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89950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DA41D-6E6E-ACE1-1F01-DDA917F37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A30AFE-3257-0F51-D559-D65B5C59DD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1D073D-AE47-651E-D6C5-7F593B211C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Properties define the state, sensor values, or configuration parameters of a Thing. They can be read, observed, or written to. In our example, </a:t>
            </a:r>
            <a:r>
              <a:rPr lang="en-US" dirty="0" err="1"/>
              <a:t>coffeeBeansLeft</a:t>
            </a:r>
            <a:r>
              <a:rPr lang="en-US" dirty="0"/>
              <a:t> is a property that returns the number of grams of coffee beans remaining in the machine.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B40458-4EE7-DC74-FD60-C4EEE53813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2165D8-144D-4958-A83E-0D86045592C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50004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696C10-DE63-2FB4-0963-412A29F1E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35FC0F-8CDB-87C5-A830-24560770DC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36B499-B2F1-0406-8850-7694AA0687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Properties define the state, sensor values, or configuration parameters of a Thing. They can be read, observed, or written to. In our example, </a:t>
            </a:r>
            <a:r>
              <a:rPr lang="en-US" dirty="0" err="1"/>
              <a:t>coffeeBeansLeft</a:t>
            </a:r>
            <a:r>
              <a:rPr lang="en-US" dirty="0"/>
              <a:t> is a property that returns the number of grams of coffee beans remaining in the machine.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1B91AD-AC88-53F8-CDAA-E8210F4929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2165D8-144D-4958-A83E-0D86045592C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3599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F1241-77C4-5D68-C2BB-708605FB4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A8700D-7F9A-AD93-C974-E39A0C4DB8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B3FEF14-E142-7E68-66F9-11D3E8DF48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Properties define the state, sensor values, or configuration parameters of a Thing. They can be read, observed, or written to. In our example, </a:t>
            </a:r>
            <a:r>
              <a:rPr lang="en-US" dirty="0" err="1"/>
              <a:t>coffeeBeansLeft</a:t>
            </a:r>
            <a:r>
              <a:rPr lang="en-US" dirty="0"/>
              <a:t> is a property that returns the number of grams of coffee beans remaining in the machine.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68180F-F647-52E5-7F28-828A27E4A5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2165D8-144D-4958-A83E-0D86045592C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615297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37DAF-6640-53A9-E2F8-2F912DF51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7D2334-F664-4A97-166B-FC8DF303DF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B2E866-6C5D-0245-5A46-3D26D9DBC1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property can be read, but neither observed nor written to.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A1CD88-B790-8FD5-A3ED-8EC6762557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2165D8-144D-4958-A83E-0D86045592C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60184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183DB-E406-E15E-5F62-64633421D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CDFCD8-F1F7-573C-2859-95D6E4C609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0B059E-DF7D-6B68-8FC4-21AC36B493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Actions define operations that a Consumer application can trigger. These are used when something needs to happen within the Thing, like starting a process or performing a task. For instance, </a:t>
            </a:r>
            <a:r>
              <a:rPr lang="en-US" dirty="0" err="1"/>
              <a:t>brewCoffee</a:t>
            </a:r>
            <a:r>
              <a:rPr lang="en-US" dirty="0"/>
              <a:t> is an action that starts brewing a cup of coffee.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8EF2A7-3D04-D0D9-E603-0FC9A14134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2165D8-144D-4958-A83E-0D86045592C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88807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FB3F88-6006-5FCD-53D8-7E2A3352A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A5E4A3-6DF1-8ED1-934F-67208FF583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37CD9E-9021-DCF5-DFEF-61D6C699C0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 takes an input — the volume of coffee to brew — and is invoked by the Consumer.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5C2F0F-36FA-31DA-A82D-7BBE7C84BB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2165D8-144D-4958-A83E-0D86045592C5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798700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37DFE-BADC-A989-B810-3E38ECDF8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EFAC93-1535-7D12-2D4A-92615ACC58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654D4D-CCED-FCB5-5B0C-786B436D9E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Events represent notifications that a Thing emits to the subscribers of the event, often asynchronously. These are used for real-time updates or alerts. In this case, `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lowOnWater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is an event triggered when the water level is low. A Consumer can subscribe to this event and be notified when it occurs. This event definition currently has no data field, meaning it simply signals that the condition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occured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However, events can also carry data — for example, `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lowOnWater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could include the exact volume of water remaining in milliliters.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980D9B-47C5-91C1-9923-F93F8F0EE0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2165D8-144D-4958-A83E-0D86045592C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19627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2AC2D-F9A7-9E44-D108-BC9655775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911110-D534-011C-1B64-D781BC3681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2CA867-1EA4-C56D-6A8C-44EBA2750F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However, events can also carry data — for example, `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lowOnWater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could include the exact volume of water remaining in milliliters.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B58E97-5EE0-7F5E-9B1C-FCEA5DD0C4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2165D8-144D-4958-A83E-0D86045592C5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77306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6AC232-8CD9-D95E-9420-019831775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78B512-56A5-0599-90E6-695B345E5F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407488-69ED-8367-084B-5444FE9581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However, events can also carry data — for example, `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lowOnWater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could include the exact volume of water remaining in milliliters.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7DFE90-1186-6B4F-65C3-195B5746B3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2165D8-144D-4958-A83E-0D86045592C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666620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77C15-EF54-9507-1D2D-2032AC246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D4624E-5C96-7B5A-2B52-697F407372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34EAB3-2A8A-51C2-D8B4-93EF14EDF0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However, events can also carry data — for example, `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lowOnWater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could include the exact volume of water remaining in milliliters.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D75C22-9337-977B-6FBB-541BAE9506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2165D8-144D-4958-A83E-0D86045592C5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045811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A6382-9507-28E8-C6F9-C5E9365A5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576894-3DB8-4D3E-552D-70867FDB57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B5F030-BD79-E907-386E-2F6E62605E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However, events can also carry data — for example, `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lowOnWater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could include the exact volume of water remaining in milliliters.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1BA311-01FD-724D-2579-7F1486C514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2165D8-144D-4958-A83E-0D86045592C5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39387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20A37-EDC5-0145-B088-8834AED4B4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2E762B-C390-DB14-1E23-A0E564746B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C1BDF1-18FC-E1E0-BA55-89FDF1AFDD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affordance includes interaction metadata, which provide context about how it can be used, including the following:</a:t>
            </a:r>
          </a:p>
          <a:p>
            <a:r>
              <a:rPr lang="en-US" dirty="0"/>
              <a:t>title and description: human-readable labels</a:t>
            </a:r>
          </a:p>
          <a:p>
            <a:r>
              <a:rPr lang="en-US" dirty="0"/>
              <a:t>flags: only on properties; such as </a:t>
            </a:r>
            <a:r>
              <a:rPr lang="en-US" dirty="0" err="1"/>
              <a:t>readOnly</a:t>
            </a:r>
            <a:r>
              <a:rPr lang="en-US" dirty="0"/>
              <a:t>, </a:t>
            </a:r>
            <a:r>
              <a:rPr lang="en-US" dirty="0" err="1"/>
              <a:t>writeOnly</a:t>
            </a:r>
            <a:r>
              <a:rPr lang="en-US" dirty="0"/>
              <a:t>, or observable</a:t>
            </a:r>
          </a:p>
          <a:p>
            <a:r>
              <a:rPr lang="en-US" dirty="0"/>
              <a:t>subtypes: applicable to actions; may be safe, idempotent, or synchronous</a:t>
            </a:r>
          </a:p>
          <a:p>
            <a:r>
              <a:rPr lang="en-US" dirty="0"/>
              <a:t>This metadata ensures clients know how to interact with the affordance over the network.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4B15F6-D5E1-06F8-5713-7D1058D04A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2165D8-144D-4958-A83E-0D86045592C5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62011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447B97-8503-6CF0-F7B3-421DDF611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1ACCD8-547B-F952-DD5B-C133CDC885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D14C86-AF5E-9017-DA21-F5B47DD137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affordance includes interaction metadata, which provide context about how it can be used, including the following:</a:t>
            </a:r>
          </a:p>
          <a:p>
            <a:r>
              <a:rPr lang="en-US" dirty="0"/>
              <a:t>title and description: human-readable labels</a:t>
            </a:r>
          </a:p>
          <a:p>
            <a:r>
              <a:rPr lang="en-US" dirty="0"/>
              <a:t>flags: only on properties; such as </a:t>
            </a:r>
            <a:r>
              <a:rPr lang="en-US" dirty="0" err="1"/>
              <a:t>readOnly</a:t>
            </a:r>
            <a:r>
              <a:rPr lang="en-US" dirty="0"/>
              <a:t>, </a:t>
            </a:r>
            <a:r>
              <a:rPr lang="en-US" dirty="0" err="1"/>
              <a:t>writeOnly</a:t>
            </a:r>
            <a:r>
              <a:rPr lang="en-US" dirty="0"/>
              <a:t>, or observable</a:t>
            </a:r>
          </a:p>
          <a:p>
            <a:r>
              <a:rPr lang="en-US" dirty="0"/>
              <a:t>This metadata ensures clients know how to interact with the affordance over the network.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B7463E-4655-0611-ACF3-96AE9FBAEC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2165D8-144D-4958-A83E-0D86045592C5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80283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FAF92-8391-A4DA-9F0E-D26972049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7B170B-DD2A-0907-74A6-1C78E7B75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17360E-6DEA-365E-3220-CCDD8D645B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affordance includes interaction metadata, which provide context about how it can be used, including the following:</a:t>
            </a:r>
          </a:p>
          <a:p>
            <a:r>
              <a:rPr lang="en-US" dirty="0"/>
              <a:t>title and description: human-readable labels</a:t>
            </a:r>
          </a:p>
          <a:p>
            <a:r>
              <a:rPr lang="en-US" dirty="0"/>
              <a:t>flags: only on properties; such as </a:t>
            </a:r>
            <a:r>
              <a:rPr lang="en-US" dirty="0" err="1"/>
              <a:t>readOnly</a:t>
            </a:r>
            <a:r>
              <a:rPr lang="en-US" dirty="0"/>
              <a:t>, </a:t>
            </a:r>
            <a:r>
              <a:rPr lang="en-US" dirty="0" err="1"/>
              <a:t>writeOnly</a:t>
            </a:r>
            <a:r>
              <a:rPr lang="en-US" dirty="0"/>
              <a:t>, or observable</a:t>
            </a:r>
          </a:p>
          <a:p>
            <a:r>
              <a:rPr lang="en-US" dirty="0"/>
              <a:t>This metadata ensures clients know how to interact with the affordance over the network.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E30F80-90CB-5F20-8838-9709E6C4F2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2165D8-144D-4958-A83E-0D86045592C5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976744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affordance includes interaction metadata, which provide context about how it can be used, including the following:</a:t>
            </a:r>
          </a:p>
          <a:p>
            <a:r>
              <a:rPr lang="en-US" dirty="0"/>
              <a:t>title and description: human-readable labels</a:t>
            </a:r>
          </a:p>
          <a:p>
            <a:r>
              <a:rPr lang="en-US" dirty="0"/>
              <a:t>flags: only on properties; such as </a:t>
            </a:r>
            <a:r>
              <a:rPr lang="en-US" dirty="0" err="1"/>
              <a:t>readOnly</a:t>
            </a:r>
            <a:r>
              <a:rPr lang="en-US" dirty="0"/>
              <a:t>, </a:t>
            </a:r>
            <a:r>
              <a:rPr lang="en-US" dirty="0" err="1"/>
              <a:t>writeOnly</a:t>
            </a:r>
            <a:r>
              <a:rPr lang="en-US" dirty="0"/>
              <a:t>, or observable</a:t>
            </a:r>
          </a:p>
          <a:p>
            <a:r>
              <a:rPr lang="en-US" dirty="0"/>
              <a:t>This metadata ensures clients know how to interact with the affordance over the network.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2165D8-144D-4958-A83E-0D86045592C5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848339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C8C7D-FA9B-3415-DCC1-3CEC25B0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858930-661D-3C71-E49B-55C779A130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0EE675-EC1E-3814-01D2-F7FE67486A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affordance includes interaction metadata, which provide context about how it can be used, including the following:</a:t>
            </a:r>
          </a:p>
          <a:p>
            <a:r>
              <a:rPr lang="en-US" dirty="0"/>
              <a:t>title and description: human-readable labels</a:t>
            </a:r>
          </a:p>
          <a:p>
            <a:r>
              <a:rPr lang="en-US" dirty="0"/>
              <a:t>flags: only on properties; such as </a:t>
            </a:r>
            <a:r>
              <a:rPr lang="en-US" dirty="0" err="1"/>
              <a:t>readOnly</a:t>
            </a:r>
            <a:r>
              <a:rPr lang="en-US" dirty="0"/>
              <a:t>, </a:t>
            </a:r>
            <a:r>
              <a:rPr lang="en-US" dirty="0" err="1"/>
              <a:t>writeOnly</a:t>
            </a:r>
            <a:r>
              <a:rPr lang="en-US" dirty="0"/>
              <a:t>, or observable</a:t>
            </a:r>
          </a:p>
          <a:p>
            <a:r>
              <a:rPr lang="en-US" dirty="0"/>
              <a:t>This metadata ensures clients know how to interact with the affordance over the network. 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Alongside the given examples, there are additional, more technical forms of interaction metadata, which we will introduce and explain in future tutorials, once the fundamentals are clear.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D48A60-EFCC-A821-2C7A-8AFA2FE853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2165D8-144D-4958-A83E-0D86045592C5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618576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D55A5C-E571-F23A-1DC2-7C31676D8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5AF80D-39A9-C501-6617-898C55AB7E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712371-0BA0-6B32-53F5-DA215C6E90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affordance includes interaction metadata, which provide context about how it can be used, including the following:</a:t>
            </a:r>
          </a:p>
          <a:p>
            <a:r>
              <a:rPr lang="en-US" dirty="0"/>
              <a:t>title and description: human-readable labels</a:t>
            </a:r>
          </a:p>
          <a:p>
            <a:r>
              <a:rPr lang="en-US" dirty="0"/>
              <a:t>flags: only on properties; such as </a:t>
            </a:r>
            <a:r>
              <a:rPr lang="en-US" dirty="0" err="1"/>
              <a:t>readOnly</a:t>
            </a:r>
            <a:r>
              <a:rPr lang="en-US" dirty="0"/>
              <a:t>, </a:t>
            </a:r>
            <a:r>
              <a:rPr lang="en-US" dirty="0" err="1"/>
              <a:t>writeOnly</a:t>
            </a:r>
            <a:r>
              <a:rPr lang="en-US" dirty="0"/>
              <a:t>, or observable</a:t>
            </a:r>
          </a:p>
          <a:p>
            <a:r>
              <a:rPr lang="en-US" dirty="0"/>
              <a:t>This metadata ensures clients know how to interact with the affordance over the network. 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Alongside the given examples, there are additional, more technical forms of interaction metadata, which we will introduce and explain in future tutorials, once the fundamentals are clear.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7C4F42-C96C-F2E3-D3A4-85072DDEBF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2165D8-144D-4958-A83E-0D86045592C5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78885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CED6F-853B-F2C0-214A-82BEC9767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4F1D1D-DC5F-8678-C24B-8AB1A7A264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201161-306D-C2B0-D14B-1D60BF4FA8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affordance includes interaction metadata, which provide context about how it can be used, including the following:</a:t>
            </a:r>
          </a:p>
          <a:p>
            <a:r>
              <a:rPr lang="en-US" dirty="0"/>
              <a:t>title and description: human-readable labels</a:t>
            </a:r>
          </a:p>
          <a:p>
            <a:r>
              <a:rPr lang="en-US" dirty="0"/>
              <a:t>flags: only on properties; such as </a:t>
            </a:r>
            <a:r>
              <a:rPr lang="en-US" dirty="0" err="1"/>
              <a:t>readOnly</a:t>
            </a:r>
            <a:r>
              <a:rPr lang="en-US" dirty="0"/>
              <a:t>, </a:t>
            </a:r>
            <a:r>
              <a:rPr lang="en-US" dirty="0" err="1"/>
              <a:t>writeOnly</a:t>
            </a:r>
            <a:r>
              <a:rPr lang="en-US" dirty="0"/>
              <a:t>, or observable</a:t>
            </a:r>
          </a:p>
          <a:p>
            <a:r>
              <a:rPr lang="en-US" dirty="0"/>
              <a:t>This metadata ensures clients know how to interact with the affordance over the network. 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Alongside the given examples, there are additional, more technical forms of interaction metadata, which we will introduce and explain in future tutorials, once the fundamentals are clear.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2E1423-E514-6F11-C3F0-D0419EBF60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2165D8-144D-4958-A83E-0D86045592C5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841176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Interaction affordances also define data schemas that describe the structure of inputs and outputs. These schemas use JSON Schema — as introduced in our preliminary series — to define data types, allowed values, and nested structures.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2165D8-144D-4958-A83E-0D86045592C5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70326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F422F8-D7C8-6231-395B-D62B1FC896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41DF98-2F18-A9A5-3CC3-91F5396ADF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D1F24E-AA62-C86E-6632-9AF5C666A5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our example, the </a:t>
            </a:r>
            <a:r>
              <a:rPr lang="en-US" dirty="0" err="1"/>
              <a:t>brewCoffee</a:t>
            </a:r>
            <a:r>
              <a:rPr lang="en-US" dirty="0"/>
              <a:t> action expects an input object with a size property, which must be either "small", "medium", or "large".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C7F481-11F9-5FE0-6D88-00B609D4E6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2165D8-144D-4958-A83E-0D86045592C5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45782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27BC6-4FED-2421-A5BF-BBBA797DE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80FD4D-5477-512E-4677-5BDEF071EA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75EC72-9044-18C8-6E2C-8021E37CE9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our example, the </a:t>
            </a:r>
            <a:r>
              <a:rPr lang="en-US" dirty="0" err="1"/>
              <a:t>brewCoffee</a:t>
            </a:r>
            <a:r>
              <a:rPr lang="en-US" dirty="0"/>
              <a:t> action expects an input object with a size property, which must be either "small", "medium", or "large".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3FFAA7-1F47-F5EE-58B2-16D989997B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2165D8-144D-4958-A83E-0D86045592C5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003014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AAF3CF-3555-6E6E-3839-4BBF33B4D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488052-6B28-6108-5F03-D1409EC52E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C7837E-F0EE-A277-F3A1-D3A7C1C30C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our example, the </a:t>
            </a:r>
            <a:r>
              <a:rPr lang="en-US" dirty="0" err="1"/>
              <a:t>brewCoffee</a:t>
            </a:r>
            <a:r>
              <a:rPr lang="en-US" dirty="0"/>
              <a:t> action expects an input object with a size property, which must be either "small", "medium", or "large".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12060A-AF4D-F255-8B03-75DAF90B83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2165D8-144D-4958-A83E-0D86045592C5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5481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406DE-63BE-AB56-3A09-D4489E1EDA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D8B6B6-8081-4CA2-CF5C-5C0F7BB5C6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F428E3-E99A-6D02-052F-C6A9305759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our example, the </a:t>
            </a:r>
            <a:r>
              <a:rPr lang="en-US" dirty="0" err="1"/>
              <a:t>brewCoffee</a:t>
            </a:r>
            <a:r>
              <a:rPr lang="en-US" dirty="0"/>
              <a:t> action expects an input object with a size property, which must be either "small", "medium", or "large".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CE3AF-0A16-8131-0BD9-8DE3F750FA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2165D8-144D-4958-A83E-0D86045592C5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508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81981-C557-FB82-8E5B-AC08408A4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6C4B8D-DA7B-BEAD-0CC1-11BAF0195D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FE4A43-C61D-3F6F-47E0-B501458079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Any interaction affordance can also structured data, regardless of its type: here, the event </a:t>
            </a:r>
            <a:r>
              <a:rPr lang="en-US" dirty="0" err="1"/>
              <a:t>lowOnWater</a:t>
            </a:r>
            <a:r>
              <a:rPr lang="en-US" dirty="0"/>
              <a:t> includes a numeric value describing the remaining water in milliliters.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F15C9F-6130-BF01-9C20-B615C9C5BE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2165D8-144D-4958-A83E-0D86045592C5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206280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947DFA-1980-BD60-A622-2C28D3BC4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91A4A9-8232-04C5-3578-C5CAEE4639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7F1B96-30AA-5B13-8014-C9B414F061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Any interaction affordance can also structured data, regardless of its type: here, the event </a:t>
            </a:r>
            <a:r>
              <a:rPr lang="en-US" dirty="0" err="1"/>
              <a:t>lowOnWater</a:t>
            </a:r>
            <a:r>
              <a:rPr lang="en-US" dirty="0"/>
              <a:t> includes a numeric value describing the remaining water in milliliters.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8A2B7B-33E9-BB20-3706-0D2B6CF0D4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2165D8-144D-4958-A83E-0D86045592C5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76971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79BC9-9737-AA61-2274-D05622DC1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18DFE1-13F1-D866-664F-754161E482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DA7BC2-84A7-DAF1-3A7D-E3DBF4D717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Similarly, the property </a:t>
            </a:r>
            <a:r>
              <a:rPr lang="en-US" dirty="0" err="1"/>
              <a:t>coffeeBeansLeft</a:t>
            </a:r>
            <a:r>
              <a:rPr lang="en-US" dirty="0"/>
              <a:t> specifies a number between 0 and 500 representing the grams of beans available.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1332EB-7432-AC79-6F2E-BF7CDB7559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2165D8-144D-4958-A83E-0D86045592C5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74744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6E3CCC-9E95-C49C-5FBA-C765B0F49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1CE216-3575-BA58-2D26-CD7946B4D8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4263F0-AE20-654C-07BD-712145AC52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Similarly, the property </a:t>
            </a:r>
            <a:r>
              <a:rPr lang="en-US" dirty="0" err="1"/>
              <a:t>coffeeBeansLeft</a:t>
            </a:r>
            <a:r>
              <a:rPr lang="en-US" dirty="0"/>
              <a:t> specifies a number between 0 and 500 representing the grams of beans available. Data schemas are crucial for validation, tooling, and interoperability. So when you’re authoring a Thing Description, make sure to clearly describe your data to ensure it can be interpreted correctly.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C6D42E-E9AB-5C27-123B-5CC64E26D1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2165D8-144D-4958-A83E-0D86045592C5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248110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8D45EA-097A-449E-8E80-C10F8140ABDB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06358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54F9CB-E3D7-441A-A1FF-5C1CDFA7D5B3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7062D-F1E8-4268-AE56-56D8738C72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7435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54F9CB-E3D7-441A-A1FF-5C1CDFA7D5B3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7062D-F1E8-4268-AE56-56D8738C72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28829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54F9CB-E3D7-441A-A1FF-5C1CDFA7D5B3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7062D-F1E8-4268-AE56-56D8738C72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124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54F9CB-E3D7-441A-A1FF-5C1CDFA7D5B3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7062D-F1E8-4268-AE56-56D8738C72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96131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54F9CB-E3D7-441A-A1FF-5C1CDFA7D5B3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7062D-F1E8-4268-AE56-56D8738C72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750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54F9CB-E3D7-441A-A1FF-5C1CDFA7D5B3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7062D-F1E8-4268-AE56-56D8738C72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7399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54F9CB-E3D7-441A-A1FF-5C1CDFA7D5B3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7062D-F1E8-4268-AE56-56D8738C72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57501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54F9CB-E3D7-441A-A1FF-5C1CDFA7D5B3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7062D-F1E8-4268-AE56-56D8738C72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1956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54F9CB-E3D7-441A-A1FF-5C1CDFA7D5B3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7062D-F1E8-4268-AE56-56D8738C72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93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54F9CB-E3D7-441A-A1FF-5C1CDFA7D5B3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7062D-F1E8-4268-AE56-56D8738C72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1462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54F9CB-E3D7-441A-A1FF-5C1CDFA7D5B3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7062D-F1E8-4268-AE56-56D8738C72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95046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54F9CB-E3D7-441A-A1FF-5C1CDFA7D5B3}" type="datetimeFigureOut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067062D-F1E8-4268-AE56-56D8738C72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1156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6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sv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sv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sv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6.sv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6AEDECF-CA77-A241-43F0-1133D41290B1}"/>
              </a:ext>
            </a:extLst>
          </p:cNvPr>
          <p:cNvSpPr txBox="1">
            <a:spLocks/>
          </p:cNvSpPr>
          <p:nvPr/>
        </p:nvSpPr>
        <p:spPr>
          <a:xfrm>
            <a:off x="6261326" y="4678474"/>
            <a:ext cx="3594094" cy="72601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70000"/>
              </a:lnSpc>
            </a:pPr>
            <a:r>
              <a:rPr lang="en-GB" sz="2800" dirty="0">
                <a:solidFill>
                  <a:schemeClr val="accent1">
                    <a:lumMod val="20000"/>
                    <a:lumOff val="80000"/>
                  </a:schemeClr>
                </a:solidFill>
                <a:latin typeface="Consolas" panose="020B0609020204030204" pitchFamily="49" charset="0"/>
              </a:rPr>
              <a:t>Interaction Affordances</a:t>
            </a:r>
            <a:endParaRPr lang="tr-TR" sz="2800" dirty="0">
              <a:solidFill>
                <a:schemeClr val="accent1">
                  <a:lumMod val="20000"/>
                  <a:lumOff val="8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28C1D12-93AE-F369-E64C-33AF94451D50}"/>
              </a:ext>
            </a:extLst>
          </p:cNvPr>
          <p:cNvSpPr/>
          <p:nvPr/>
        </p:nvSpPr>
        <p:spPr>
          <a:xfrm>
            <a:off x="4126402" y="1798200"/>
            <a:ext cx="2261013" cy="2237766"/>
          </a:xfrm>
          <a:prstGeom prst="ellipse">
            <a:avLst/>
          </a:prstGeom>
          <a:solidFill>
            <a:srgbClr val="DFEAF3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lang="en-US">
              <a:solidFill>
                <a:schemeClr val="accent1"/>
              </a:solidFill>
              <a:latin typeface="Century Gothic" panose="020B0502020202020204" pitchFamily="34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F520380-3466-9C63-2C7D-108702479253}"/>
              </a:ext>
            </a:extLst>
          </p:cNvPr>
          <p:cNvSpPr txBox="1">
            <a:spLocks/>
          </p:cNvSpPr>
          <p:nvPr/>
        </p:nvSpPr>
        <p:spPr>
          <a:xfrm>
            <a:off x="4937254" y="2364404"/>
            <a:ext cx="831086" cy="72601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0000"/>
              </a:lnSpc>
            </a:pPr>
            <a:r>
              <a:rPr lang="tr-TR" sz="6600">
                <a:solidFill>
                  <a:schemeClr val="tx2"/>
                </a:solidFill>
                <a:latin typeface="Consolas" panose="020B0609020204030204" pitchFamily="49" charset="0"/>
              </a:rPr>
              <a:t>W</a:t>
            </a:r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651CE5AC-415B-FF4A-7E69-CF76CB6AC943}"/>
              </a:ext>
            </a:extLst>
          </p:cNvPr>
          <p:cNvSpPr/>
          <p:nvPr/>
        </p:nvSpPr>
        <p:spPr>
          <a:xfrm>
            <a:off x="4548853" y="2168484"/>
            <a:ext cx="328240" cy="1485359"/>
          </a:xfrm>
          <a:prstGeom prst="leftBrace">
            <a:avLst>
              <a:gd name="adj1" fmla="val 41120"/>
              <a:gd name="adj2" fmla="val 50000"/>
            </a:avLst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FC3E99C-C383-A62B-CD81-9B99789A48F4}"/>
              </a:ext>
            </a:extLst>
          </p:cNvPr>
          <p:cNvSpPr txBox="1">
            <a:spLocks/>
          </p:cNvSpPr>
          <p:nvPr/>
        </p:nvSpPr>
        <p:spPr>
          <a:xfrm>
            <a:off x="4936185" y="3090423"/>
            <a:ext cx="683013" cy="72601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0000"/>
              </a:lnSpc>
            </a:pPr>
            <a:r>
              <a:rPr lang="tr-TR" sz="6600">
                <a:solidFill>
                  <a:schemeClr val="tx2"/>
                </a:solidFill>
                <a:latin typeface="Consolas" panose="020B0609020204030204" pitchFamily="49" charset="0"/>
              </a:rPr>
              <a:t>W</a:t>
            </a:r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A5248189-D205-78EA-AB1D-945D2AFBB99F}"/>
              </a:ext>
            </a:extLst>
          </p:cNvPr>
          <p:cNvSpPr/>
          <p:nvPr/>
        </p:nvSpPr>
        <p:spPr>
          <a:xfrm flipH="1">
            <a:off x="5641860" y="2168670"/>
            <a:ext cx="328240" cy="1485359"/>
          </a:xfrm>
          <a:prstGeom prst="leftBrace">
            <a:avLst>
              <a:gd name="adj1" fmla="val 41120"/>
              <a:gd name="adj2" fmla="val 50000"/>
            </a:avLst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577A8FE5-30C3-91B3-1FDF-3CAD9BDD32B6}"/>
              </a:ext>
            </a:extLst>
          </p:cNvPr>
          <p:cNvSpPr txBox="1">
            <a:spLocks/>
          </p:cNvSpPr>
          <p:nvPr/>
        </p:nvSpPr>
        <p:spPr>
          <a:xfrm>
            <a:off x="5396787" y="2435584"/>
            <a:ext cx="831086" cy="72601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0000"/>
              </a:lnSpc>
            </a:pPr>
            <a:r>
              <a:rPr lang="tr-TR" sz="3600">
                <a:solidFill>
                  <a:schemeClr val="bg2"/>
                </a:solidFill>
                <a:latin typeface="Consolas" panose="020B0609020204030204" pitchFamily="49" charset="0"/>
              </a:rPr>
              <a:t>,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55BE55F-A93B-F07D-B3E9-73A6CC249B85}"/>
              </a:ext>
            </a:extLst>
          </p:cNvPr>
          <p:cNvCxnSpPr>
            <a:cxnSpLocks/>
            <a:stCxn id="13" idx="3"/>
            <a:endCxn id="25" idx="7"/>
          </p:cNvCxnSpPr>
          <p:nvPr/>
        </p:nvCxnSpPr>
        <p:spPr>
          <a:xfrm flipH="1">
            <a:off x="3883778" y="2631685"/>
            <a:ext cx="568713" cy="498481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E27C9369-733F-CCAE-ABD3-74AD9AA4BE01}"/>
              </a:ext>
            </a:extLst>
          </p:cNvPr>
          <p:cNvCxnSpPr>
            <a:cxnSpLocks/>
            <a:stCxn id="25" idx="5"/>
            <a:endCxn id="16" idx="1"/>
          </p:cNvCxnSpPr>
          <p:nvPr/>
        </p:nvCxnSpPr>
        <p:spPr>
          <a:xfrm>
            <a:off x="3870220" y="3292390"/>
            <a:ext cx="606293" cy="703592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6D1C0AD8-9F3F-97C9-0D16-B3972AF9BE44}"/>
              </a:ext>
            </a:extLst>
          </p:cNvPr>
          <p:cNvSpPr/>
          <p:nvPr/>
        </p:nvSpPr>
        <p:spPr>
          <a:xfrm>
            <a:off x="4435879" y="2534860"/>
            <a:ext cx="113437" cy="11343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03F61D1C-6220-98B9-50BE-36DB0D79B14F}"/>
              </a:ext>
            </a:extLst>
          </p:cNvPr>
          <p:cNvSpPr/>
          <p:nvPr/>
        </p:nvSpPr>
        <p:spPr>
          <a:xfrm>
            <a:off x="3814427" y="1832439"/>
            <a:ext cx="180972" cy="180972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8B18FF0-2702-1761-E7F6-5ACF9FE70A35}"/>
              </a:ext>
            </a:extLst>
          </p:cNvPr>
          <p:cNvCxnSpPr>
            <a:cxnSpLocks/>
            <a:stCxn id="14" idx="4"/>
            <a:endCxn id="25" idx="0"/>
          </p:cNvCxnSpPr>
          <p:nvPr/>
        </p:nvCxnSpPr>
        <p:spPr>
          <a:xfrm flipH="1">
            <a:off x="3805474" y="2013411"/>
            <a:ext cx="99439" cy="1076378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00A26D4D-F619-49EE-B3A3-B6B46460E95B}"/>
              </a:ext>
            </a:extLst>
          </p:cNvPr>
          <p:cNvSpPr/>
          <p:nvPr/>
        </p:nvSpPr>
        <p:spPr>
          <a:xfrm rot="20652436">
            <a:off x="4466831" y="3956988"/>
            <a:ext cx="152311" cy="152311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A3CDBA5-9E25-1A95-AEC4-D705463A887B}"/>
              </a:ext>
            </a:extLst>
          </p:cNvPr>
          <p:cNvCxnSpPr>
            <a:cxnSpLocks/>
            <a:stCxn id="16" idx="5"/>
            <a:endCxn id="18" idx="2"/>
          </p:cNvCxnSpPr>
          <p:nvPr/>
        </p:nvCxnSpPr>
        <p:spPr>
          <a:xfrm>
            <a:off x="4609460" y="4070305"/>
            <a:ext cx="845691" cy="157768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4853A6E1-B085-41E0-4266-8D2D60DF5E2A}"/>
              </a:ext>
            </a:extLst>
          </p:cNvPr>
          <p:cNvSpPr/>
          <p:nvPr/>
        </p:nvSpPr>
        <p:spPr>
          <a:xfrm rot="684807">
            <a:off x="5453362" y="4155493"/>
            <a:ext cx="180972" cy="180972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819E646-8027-12F5-8417-C298ABB5996C}"/>
              </a:ext>
            </a:extLst>
          </p:cNvPr>
          <p:cNvCxnSpPr>
            <a:cxnSpLocks/>
            <a:stCxn id="25" idx="0"/>
            <a:endCxn id="20" idx="0"/>
          </p:cNvCxnSpPr>
          <p:nvPr/>
        </p:nvCxnSpPr>
        <p:spPr>
          <a:xfrm flipH="1">
            <a:off x="3666269" y="3089789"/>
            <a:ext cx="139205" cy="436870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59AD42FA-C035-40D9-9C47-80E8D979C663}"/>
              </a:ext>
            </a:extLst>
          </p:cNvPr>
          <p:cNvSpPr/>
          <p:nvPr/>
        </p:nvSpPr>
        <p:spPr>
          <a:xfrm rot="1830353">
            <a:off x="3591345" y="3519780"/>
            <a:ext cx="99393" cy="99393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130FC2CC-25D7-F0BA-8898-31914E02A0A2}"/>
              </a:ext>
            </a:extLst>
          </p:cNvPr>
          <p:cNvSpPr txBox="1">
            <a:spLocks/>
          </p:cNvSpPr>
          <p:nvPr/>
        </p:nvSpPr>
        <p:spPr>
          <a:xfrm>
            <a:off x="5417305" y="2389469"/>
            <a:ext cx="2891874" cy="72601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0000"/>
              </a:lnSpc>
            </a:pPr>
            <a:r>
              <a:rPr lang="tr-TR" sz="6000" spc="-150">
                <a:solidFill>
                  <a:schemeClr val="tx2"/>
                </a:solidFill>
                <a:latin typeface="Consolas" panose="020B0609020204030204" pitchFamily="49" charset="0"/>
              </a:rPr>
              <a:t>hat is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7737A1B4-C476-F7D6-1877-D1DF51DDD8A0}"/>
              </a:ext>
            </a:extLst>
          </p:cNvPr>
          <p:cNvSpPr txBox="1">
            <a:spLocks/>
          </p:cNvSpPr>
          <p:nvPr/>
        </p:nvSpPr>
        <p:spPr>
          <a:xfrm>
            <a:off x="5412751" y="3098282"/>
            <a:ext cx="2891874" cy="72601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0000"/>
              </a:lnSpc>
            </a:pPr>
            <a:r>
              <a:rPr lang="tr-TR" sz="6000" spc="-300">
                <a:solidFill>
                  <a:schemeClr val="tx2"/>
                </a:solidFill>
                <a:latin typeface="Consolas" panose="020B0609020204030204" pitchFamily="49" charset="0"/>
              </a:rPr>
              <a:t>oT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3B8974A-0FE4-596B-241C-2727868AFA1F}"/>
              </a:ext>
            </a:extLst>
          </p:cNvPr>
          <p:cNvCxnSpPr>
            <a:cxnSpLocks/>
            <a:stCxn id="18" idx="6"/>
            <a:endCxn id="24" idx="1"/>
          </p:cNvCxnSpPr>
          <p:nvPr/>
        </p:nvCxnSpPr>
        <p:spPr>
          <a:xfrm>
            <a:off x="5632545" y="4263885"/>
            <a:ext cx="970408" cy="721261"/>
          </a:xfrm>
          <a:prstGeom prst="line">
            <a:avLst/>
          </a:prstGeom>
          <a:ln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Left Brace 23">
            <a:extLst>
              <a:ext uri="{FF2B5EF4-FFF2-40B4-BE49-F238E27FC236}">
                <a16:creationId xmlns:a16="http://schemas.microsoft.com/office/drawing/2014/main" id="{E5326A17-4B2D-A111-A482-ADC0165D1E97}"/>
              </a:ext>
            </a:extLst>
          </p:cNvPr>
          <p:cNvSpPr/>
          <p:nvPr/>
        </p:nvSpPr>
        <p:spPr>
          <a:xfrm>
            <a:off x="6602953" y="4486999"/>
            <a:ext cx="255735" cy="996294"/>
          </a:xfrm>
          <a:prstGeom prst="leftBrace">
            <a:avLst>
              <a:gd name="adj1" fmla="val 41120"/>
              <a:gd name="adj2" fmla="val 50000"/>
            </a:avLst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D87E5B72-638E-0D4E-1421-8CA056E4B794}"/>
              </a:ext>
            </a:extLst>
          </p:cNvPr>
          <p:cNvSpPr/>
          <p:nvPr/>
        </p:nvSpPr>
        <p:spPr>
          <a:xfrm rot="286644">
            <a:off x="3680777" y="3089389"/>
            <a:ext cx="230220" cy="23022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Left Brace 25">
            <a:extLst>
              <a:ext uri="{FF2B5EF4-FFF2-40B4-BE49-F238E27FC236}">
                <a16:creationId xmlns:a16="http://schemas.microsoft.com/office/drawing/2014/main" id="{A7B28016-F4C3-D954-6344-A2BF37902DA5}"/>
              </a:ext>
            </a:extLst>
          </p:cNvPr>
          <p:cNvSpPr/>
          <p:nvPr/>
        </p:nvSpPr>
        <p:spPr>
          <a:xfrm flipH="1">
            <a:off x="9253334" y="4486999"/>
            <a:ext cx="255735" cy="996294"/>
          </a:xfrm>
          <a:prstGeom prst="leftBrace">
            <a:avLst>
              <a:gd name="adj1" fmla="val 41120"/>
              <a:gd name="adj2" fmla="val 50000"/>
            </a:avLst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4904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500"/>
    </mc:Choice>
    <mc:Fallback xmlns="">
      <p:transition spd="slow" advTm="95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20651 -1.85185E-6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326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63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875E-6 2.96296E-6 L 0.2168 2.96296E-6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33" y="0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000"/>
                            </p:stCondLst>
                            <p:childTnLst>
                              <p:par>
                                <p:cTn id="2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000"/>
                            </p:stCondLst>
                            <p:childTnLst>
                              <p:par>
                                <p:cTn id="40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450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5000"/>
                            </p:stCondLst>
                            <p:childTnLst>
                              <p:par>
                                <p:cTn id="4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550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6000"/>
                            </p:stCondLst>
                            <p:childTnLst>
                              <p:par>
                                <p:cTn id="56" presetID="22" presetClass="entr" presetSubtype="1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8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800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9000"/>
                            </p:stCondLst>
                            <p:childTnLst>
                              <p:par>
                                <p:cTn id="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0000"/>
                            </p:stCondLst>
                            <p:childTnLst>
                              <p:par>
                                <p:cTn id="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9" grpId="0" animBg="1"/>
      <p:bldP spid="10" grpId="0"/>
      <p:bldP spid="13" grpId="0" animBg="1"/>
      <p:bldP spid="14" grpId="0" animBg="1"/>
      <p:bldP spid="16" grpId="0" animBg="1"/>
      <p:bldP spid="18" grpId="0" animBg="1"/>
      <p:bldP spid="20" grpId="0" animBg="1"/>
      <p:bldP spid="21" grpId="0"/>
      <p:bldP spid="22" grpId="0"/>
      <p:bldP spid="24" grpId="0" animBg="1"/>
      <p:bldP spid="25" grpId="0" animBg="1"/>
      <p:bldP spid="26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3FBA35A-1A54-CD45-99E9-09C3A572FE54}"/>
              </a:ext>
            </a:extLst>
          </p:cNvPr>
          <p:cNvSpPr/>
          <p:nvPr/>
        </p:nvSpPr>
        <p:spPr>
          <a:xfrm>
            <a:off x="4849516" y="1614654"/>
            <a:ext cx="2962359" cy="3371875"/>
          </a:xfrm>
          <a:prstGeom prst="rect">
            <a:avLst/>
          </a:prstGeom>
          <a:solidFill>
            <a:schemeClr val="accent3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A18FBFA-9A38-B788-AEA1-E86B24A64102}"/>
              </a:ext>
            </a:extLst>
          </p:cNvPr>
          <p:cNvGrpSpPr/>
          <p:nvPr/>
        </p:nvGrpSpPr>
        <p:grpSpPr>
          <a:xfrm>
            <a:off x="3895978" y="1228978"/>
            <a:ext cx="4400044" cy="4400044"/>
            <a:chOff x="4300668" y="-1299739"/>
            <a:chExt cx="2827861" cy="2827862"/>
          </a:xfrm>
        </p:grpSpPr>
        <p:pic>
          <p:nvPicPr>
            <p:cNvPr id="7" name="Graphic 6" descr="Paper outline">
              <a:extLst>
                <a:ext uri="{FF2B5EF4-FFF2-40B4-BE49-F238E27FC236}">
                  <a16:creationId xmlns:a16="http://schemas.microsoft.com/office/drawing/2014/main" id="{8B4745D5-FBFD-0DF0-23E9-7D4E74E3C1C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300668" y="-1299739"/>
              <a:ext cx="2827861" cy="2827862"/>
            </a:xfrm>
            <a:prstGeom prst="rect">
              <a:avLst/>
            </a:prstGeom>
          </p:spPr>
        </p:pic>
        <p:pic>
          <p:nvPicPr>
            <p:cNvPr id="8" name="Picture 7" descr="Logo&#10;&#10;Description automatically generated">
              <a:extLst>
                <a:ext uri="{FF2B5EF4-FFF2-40B4-BE49-F238E27FC236}">
                  <a16:creationId xmlns:a16="http://schemas.microsoft.com/office/drawing/2014/main" id="{1F027CD2-5974-490E-EF00-735B43ED40A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48340" y="-951731"/>
              <a:ext cx="921590" cy="555788"/>
            </a:xfrm>
            <a:prstGeom prst="rect">
              <a:avLst/>
            </a:prstGeom>
          </p:spPr>
        </p:pic>
      </p:grpSp>
      <p:sp>
        <p:nvSpPr>
          <p:cNvPr id="2" name="Oval 1">
            <a:extLst>
              <a:ext uri="{FF2B5EF4-FFF2-40B4-BE49-F238E27FC236}">
                <a16:creationId xmlns:a16="http://schemas.microsoft.com/office/drawing/2014/main" id="{DF9439D0-3E87-5445-7CF1-93A0E7A02B90}"/>
              </a:ext>
            </a:extLst>
          </p:cNvPr>
          <p:cNvSpPr/>
          <p:nvPr/>
        </p:nvSpPr>
        <p:spPr>
          <a:xfrm>
            <a:off x="12805906" y="1822938"/>
            <a:ext cx="3212123" cy="3212123"/>
          </a:xfrm>
          <a:prstGeom prst="ellipse">
            <a:avLst/>
          </a:prstGeom>
          <a:solidFill>
            <a:schemeClr val="accent3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3">
                  <a:lumMod val="95000"/>
                </a:schemeClr>
              </a:solidFill>
            </a:endParaRPr>
          </a:p>
        </p:txBody>
      </p:sp>
      <p:pic>
        <p:nvPicPr>
          <p:cNvPr id="3" name="Graphic 2" descr="Magnifying glass with solid fill">
            <a:extLst>
              <a:ext uri="{FF2B5EF4-FFF2-40B4-BE49-F238E27FC236}">
                <a16:creationId xmlns:a16="http://schemas.microsoft.com/office/drawing/2014/main" id="{0FF4E987-290C-EC3A-4F78-BD9ECB2E844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2192000" y="1228978"/>
            <a:ext cx="5510928" cy="5510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813865"/>
      </p:ext>
    </p:extLst>
  </p:cSld>
  <p:clrMapOvr>
    <a:masterClrMapping/>
  </p:clrMapOvr>
  <p:transition spd="slow" advTm="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27F5C-F87E-B90E-B73E-96C64B2DA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D3267F7-25DF-30FC-509B-C095CC4E8876}"/>
              </a:ext>
            </a:extLst>
          </p:cNvPr>
          <p:cNvSpPr/>
          <p:nvPr/>
        </p:nvSpPr>
        <p:spPr>
          <a:xfrm>
            <a:off x="4849516" y="1614654"/>
            <a:ext cx="2962359" cy="3371875"/>
          </a:xfrm>
          <a:prstGeom prst="rect">
            <a:avLst/>
          </a:prstGeom>
          <a:solidFill>
            <a:schemeClr val="accent3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34135AC-8E0B-7AE5-0940-D5443FF34793}"/>
              </a:ext>
            </a:extLst>
          </p:cNvPr>
          <p:cNvGrpSpPr/>
          <p:nvPr/>
        </p:nvGrpSpPr>
        <p:grpSpPr>
          <a:xfrm>
            <a:off x="3895978" y="1228978"/>
            <a:ext cx="4400044" cy="4400044"/>
            <a:chOff x="4300668" y="-1299739"/>
            <a:chExt cx="2827861" cy="2827862"/>
          </a:xfrm>
        </p:grpSpPr>
        <p:pic>
          <p:nvPicPr>
            <p:cNvPr id="7" name="Graphic 6" descr="Paper outline">
              <a:extLst>
                <a:ext uri="{FF2B5EF4-FFF2-40B4-BE49-F238E27FC236}">
                  <a16:creationId xmlns:a16="http://schemas.microsoft.com/office/drawing/2014/main" id="{8EB8582A-45FB-E72F-74F0-389D9D883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300668" y="-1299739"/>
              <a:ext cx="2827861" cy="2827862"/>
            </a:xfrm>
            <a:prstGeom prst="rect">
              <a:avLst/>
            </a:prstGeom>
          </p:spPr>
        </p:pic>
        <p:pic>
          <p:nvPicPr>
            <p:cNvPr id="8" name="Picture 7" descr="Logo&#10;&#10;Description automatically generated">
              <a:extLst>
                <a:ext uri="{FF2B5EF4-FFF2-40B4-BE49-F238E27FC236}">
                  <a16:creationId xmlns:a16="http://schemas.microsoft.com/office/drawing/2014/main" id="{73AD5827-DC25-21BA-C33B-62BD9AAAD12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48340" y="-951731"/>
              <a:ext cx="921590" cy="555788"/>
            </a:xfrm>
            <a:prstGeom prst="rect">
              <a:avLst/>
            </a:prstGeom>
          </p:spPr>
        </p:pic>
      </p:grpSp>
      <p:sp>
        <p:nvSpPr>
          <p:cNvPr id="2" name="Oval 1">
            <a:extLst>
              <a:ext uri="{FF2B5EF4-FFF2-40B4-BE49-F238E27FC236}">
                <a16:creationId xmlns:a16="http://schemas.microsoft.com/office/drawing/2014/main" id="{6A6F4A3B-EC26-F96A-E712-262E7083AAAF}"/>
              </a:ext>
            </a:extLst>
          </p:cNvPr>
          <p:cNvSpPr/>
          <p:nvPr/>
        </p:nvSpPr>
        <p:spPr>
          <a:xfrm>
            <a:off x="6407410" y="1822938"/>
            <a:ext cx="3212123" cy="3212123"/>
          </a:xfrm>
          <a:prstGeom prst="ellipse">
            <a:avLst/>
          </a:prstGeom>
          <a:solidFill>
            <a:schemeClr val="accent3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3">
                  <a:lumMod val="95000"/>
                </a:schemeClr>
              </a:solidFill>
            </a:endParaRPr>
          </a:p>
        </p:txBody>
      </p:sp>
      <p:pic>
        <p:nvPicPr>
          <p:cNvPr id="3" name="Graphic 2" descr="Magnifying glass with solid fill">
            <a:extLst>
              <a:ext uri="{FF2B5EF4-FFF2-40B4-BE49-F238E27FC236}">
                <a16:creationId xmlns:a16="http://schemas.microsoft.com/office/drawing/2014/main" id="{8B033E44-49BC-CD13-EA11-A3DFB2105AB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793504" y="1228978"/>
            <a:ext cx="5510928" cy="5510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44373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0">
        <p159:morph option="byObject"/>
      </p:transition>
    </mc:Choice>
    <mc:Fallback xmlns="">
      <p:transition spd="slow" advTm="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F6F304-3168-7BA8-55AF-46CE8B525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4340B46-EDCA-1E0C-41CB-2A40168A373D}"/>
              </a:ext>
            </a:extLst>
          </p:cNvPr>
          <p:cNvSpPr/>
          <p:nvPr/>
        </p:nvSpPr>
        <p:spPr>
          <a:xfrm>
            <a:off x="4849516" y="1614654"/>
            <a:ext cx="2962359" cy="3371875"/>
          </a:xfrm>
          <a:prstGeom prst="rect">
            <a:avLst/>
          </a:prstGeom>
          <a:solidFill>
            <a:schemeClr val="accent3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4483D17-C33F-07AA-0D1E-8EE4ACA8FE7D}"/>
              </a:ext>
            </a:extLst>
          </p:cNvPr>
          <p:cNvGrpSpPr/>
          <p:nvPr/>
        </p:nvGrpSpPr>
        <p:grpSpPr>
          <a:xfrm>
            <a:off x="3895978" y="1228978"/>
            <a:ext cx="4400044" cy="4400044"/>
            <a:chOff x="4300668" y="-1299739"/>
            <a:chExt cx="2827861" cy="2827862"/>
          </a:xfrm>
        </p:grpSpPr>
        <p:pic>
          <p:nvPicPr>
            <p:cNvPr id="7" name="Graphic 6" descr="Paper outline">
              <a:extLst>
                <a:ext uri="{FF2B5EF4-FFF2-40B4-BE49-F238E27FC236}">
                  <a16:creationId xmlns:a16="http://schemas.microsoft.com/office/drawing/2014/main" id="{49002787-1049-865F-0EF0-C93148B93E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300668" y="-1299739"/>
              <a:ext cx="2827861" cy="2827862"/>
            </a:xfrm>
            <a:prstGeom prst="rect">
              <a:avLst/>
            </a:prstGeom>
          </p:spPr>
        </p:pic>
        <p:pic>
          <p:nvPicPr>
            <p:cNvPr id="8" name="Picture 7" descr="Logo&#10;&#10;Description automatically generated">
              <a:extLst>
                <a:ext uri="{FF2B5EF4-FFF2-40B4-BE49-F238E27FC236}">
                  <a16:creationId xmlns:a16="http://schemas.microsoft.com/office/drawing/2014/main" id="{A4512359-1CAE-6970-EE9F-F30B16150B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48340" y="-951731"/>
              <a:ext cx="921590" cy="555788"/>
            </a:xfrm>
            <a:prstGeom prst="rect">
              <a:avLst/>
            </a:prstGeom>
          </p:spPr>
        </p:pic>
      </p:grpSp>
      <p:sp>
        <p:nvSpPr>
          <p:cNvPr id="2" name="Oval 1">
            <a:extLst>
              <a:ext uri="{FF2B5EF4-FFF2-40B4-BE49-F238E27FC236}">
                <a16:creationId xmlns:a16="http://schemas.microsoft.com/office/drawing/2014/main" id="{474512B3-E660-BAD3-00AF-807AB8EB131F}"/>
              </a:ext>
            </a:extLst>
          </p:cNvPr>
          <p:cNvSpPr/>
          <p:nvPr/>
        </p:nvSpPr>
        <p:spPr>
          <a:xfrm>
            <a:off x="6407410" y="1822938"/>
            <a:ext cx="3212123" cy="3212123"/>
          </a:xfrm>
          <a:prstGeom prst="ellipse">
            <a:avLst/>
          </a:prstGeom>
          <a:solidFill>
            <a:schemeClr val="accent3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3">
                  <a:lumMod val="9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CB000E-6BFD-1E34-CFA3-A33B32E08429}"/>
              </a:ext>
            </a:extLst>
          </p:cNvPr>
          <p:cNvSpPr txBox="1"/>
          <p:nvPr/>
        </p:nvSpPr>
        <p:spPr>
          <a:xfrm>
            <a:off x="6878600" y="2747130"/>
            <a:ext cx="2259872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chemeClr val="accent5"/>
                </a:solidFill>
              </a:rPr>
              <a:t>Interaction Affordances</a:t>
            </a:r>
          </a:p>
        </p:txBody>
      </p:sp>
      <p:pic>
        <p:nvPicPr>
          <p:cNvPr id="3" name="Graphic 2" descr="Magnifying glass with solid fill">
            <a:extLst>
              <a:ext uri="{FF2B5EF4-FFF2-40B4-BE49-F238E27FC236}">
                <a16:creationId xmlns:a16="http://schemas.microsoft.com/office/drawing/2014/main" id="{B26B2753-9E93-72D2-690E-D69058BDFC7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793504" y="1228978"/>
            <a:ext cx="5510928" cy="5510928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AC8F0EF-E656-2E0D-F98D-4B23C9752187}"/>
              </a:ext>
            </a:extLst>
          </p:cNvPr>
          <p:cNvCxnSpPr/>
          <p:nvPr/>
        </p:nvCxnSpPr>
        <p:spPr>
          <a:xfrm>
            <a:off x="7159083" y="3324616"/>
            <a:ext cx="1683834" cy="0"/>
          </a:xfrm>
          <a:prstGeom prst="line">
            <a:avLst/>
          </a:prstGeom>
          <a:ln w="762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6E89B51-6707-C447-29C4-9D4E28F083A1}"/>
              </a:ext>
            </a:extLst>
          </p:cNvPr>
          <p:cNvCxnSpPr/>
          <p:nvPr/>
        </p:nvCxnSpPr>
        <p:spPr>
          <a:xfrm>
            <a:off x="7159083" y="3727919"/>
            <a:ext cx="1683834" cy="0"/>
          </a:xfrm>
          <a:prstGeom prst="line">
            <a:avLst/>
          </a:prstGeom>
          <a:ln w="762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49B4219-663E-5E6E-8AD5-1CAB9181EDFA}"/>
              </a:ext>
            </a:extLst>
          </p:cNvPr>
          <p:cNvCxnSpPr/>
          <p:nvPr/>
        </p:nvCxnSpPr>
        <p:spPr>
          <a:xfrm>
            <a:off x="7161387" y="4125646"/>
            <a:ext cx="1683834" cy="0"/>
          </a:xfrm>
          <a:prstGeom prst="line">
            <a:avLst/>
          </a:prstGeom>
          <a:ln w="762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22102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10" advTm="6200">
        <p159:morph option="byObject"/>
      </p:transition>
    </mc:Choice>
    <mc:Fallback xmlns="">
      <p:transition advTm="62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50"/>
                            </p:stCondLst>
                            <p:childTnLst>
                              <p:par>
                                <p:cTn id="1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5F3DA44-2F39-B626-ED87-ABEF48503BAD}"/>
              </a:ext>
            </a:extLst>
          </p:cNvPr>
          <p:cNvSpPr txBox="1">
            <a:spLocks/>
          </p:cNvSpPr>
          <p:nvPr/>
        </p:nvSpPr>
        <p:spPr>
          <a:xfrm>
            <a:off x="1274798" y="2766219"/>
            <a:ext cx="964240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>
                <a:solidFill>
                  <a:schemeClr val="accent1"/>
                </a:solidFill>
                <a:latin typeface="Century Gothic" panose="020B0502020202020204" pitchFamily="34" charset="0"/>
              </a:rPr>
              <a:t>W</a:t>
            </a:r>
            <a:r>
              <a:rPr lang="aa-ET" dirty="0">
                <a:solidFill>
                  <a:schemeClr val="accent1"/>
                </a:solidFill>
                <a:latin typeface="Century Gothic" panose="020B0502020202020204" pitchFamily="34" charset="0"/>
              </a:rPr>
              <a:t>hat are </a:t>
            </a:r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Interaction Affordances</a:t>
            </a:r>
            <a:r>
              <a:rPr lang="aa-ET" dirty="0">
                <a:solidFill>
                  <a:schemeClr val="accent1"/>
                </a:solidFill>
                <a:latin typeface="Century Gothic" panose="020B0502020202020204" pitchFamily="34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3661447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0">
        <p159:morph option="byObject"/>
      </p:transition>
    </mc:Choice>
    <mc:Fallback xmlns="">
      <p:transition spd="slow" advTm="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65D9B03-025A-45AA-6E0C-158E551E757A}"/>
              </a:ext>
            </a:extLst>
          </p:cNvPr>
          <p:cNvSpPr/>
          <p:nvPr/>
        </p:nvSpPr>
        <p:spPr>
          <a:xfrm>
            <a:off x="8814213" y="2840362"/>
            <a:ext cx="236219" cy="1177276"/>
          </a:xfrm>
          <a:prstGeom prst="roundRect">
            <a:avLst>
              <a:gd name="adj" fmla="val 50000"/>
            </a:avLst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7C5DFEA-B602-3633-421E-5727ADF23F67}"/>
              </a:ext>
            </a:extLst>
          </p:cNvPr>
          <p:cNvSpPr/>
          <p:nvPr/>
        </p:nvSpPr>
        <p:spPr>
          <a:xfrm>
            <a:off x="8592535" y="5074912"/>
            <a:ext cx="865632" cy="537593"/>
          </a:xfrm>
          <a:prstGeom prst="rect">
            <a:avLst/>
          </a:prstGeom>
          <a:solidFill>
            <a:schemeClr val="accent3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8F5CB42-7743-4F04-0964-EE6A621EA2ED}"/>
              </a:ext>
            </a:extLst>
          </p:cNvPr>
          <p:cNvGrpSpPr/>
          <p:nvPr/>
        </p:nvGrpSpPr>
        <p:grpSpPr>
          <a:xfrm>
            <a:off x="1612496" y="2073023"/>
            <a:ext cx="4013198" cy="4013198"/>
            <a:chOff x="4300668" y="-1299739"/>
            <a:chExt cx="2827861" cy="2827862"/>
          </a:xfrm>
        </p:grpSpPr>
        <p:pic>
          <p:nvPicPr>
            <p:cNvPr id="5" name="Graphic 4" descr="Paper outline">
              <a:extLst>
                <a:ext uri="{FF2B5EF4-FFF2-40B4-BE49-F238E27FC236}">
                  <a16:creationId xmlns:a16="http://schemas.microsoft.com/office/drawing/2014/main" id="{82D3CD0F-056C-7442-2D03-C39E397302B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4300668" y="-1299739"/>
              <a:ext cx="2827861" cy="2827862"/>
            </a:xfrm>
            <a:prstGeom prst="rect">
              <a:avLst/>
            </a:prstGeom>
          </p:spPr>
        </p:pic>
        <p:pic>
          <p:nvPicPr>
            <p:cNvPr id="6" name="Picture 5" descr="Logo&#10;&#10;Description automatically generated">
              <a:extLst>
                <a:ext uri="{FF2B5EF4-FFF2-40B4-BE49-F238E27FC236}">
                  <a16:creationId xmlns:a16="http://schemas.microsoft.com/office/drawing/2014/main" id="{3F4DAFE5-2489-5B8D-A036-9C0E90507B7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48340" y="-951731"/>
              <a:ext cx="921590" cy="555788"/>
            </a:xfrm>
            <a:prstGeom prst="rect">
              <a:avLst/>
            </a:prstGeom>
          </p:spPr>
        </p:pic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DF8682A4-4EAC-1C45-56E8-1E91D75E6A76}"/>
              </a:ext>
            </a:extLst>
          </p:cNvPr>
          <p:cNvGrpSpPr/>
          <p:nvPr/>
        </p:nvGrpSpPr>
        <p:grpSpPr>
          <a:xfrm>
            <a:off x="7343662" y="2386385"/>
            <a:ext cx="2425178" cy="3386475"/>
            <a:chOff x="974627" y="2611041"/>
            <a:chExt cx="520902" cy="727378"/>
          </a:xfrm>
          <a:solidFill>
            <a:schemeClr val="tx2"/>
          </a:solidFill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36FE230-872B-2FF3-EF17-37843AB6D7FC}"/>
                </a:ext>
              </a:extLst>
            </p:cNvPr>
            <p:cNvSpPr/>
            <p:nvPr/>
          </p:nvSpPr>
          <p:spPr>
            <a:xfrm>
              <a:off x="974627" y="2611041"/>
              <a:ext cx="520902" cy="727378"/>
            </a:xfrm>
            <a:custGeom>
              <a:avLst/>
              <a:gdLst>
                <a:gd name="connsiteX0" fmla="*/ 58472 w 798363"/>
                <a:gd name="connsiteY0" fmla="*/ 0 h 1032987"/>
                <a:gd name="connsiteX1" fmla="*/ 292354 w 798363"/>
                <a:gd name="connsiteY1" fmla="*/ 0 h 1032987"/>
                <a:gd name="connsiteX2" fmla="*/ 292359 w 798363"/>
                <a:gd name="connsiteY2" fmla="*/ 1 h 1032987"/>
                <a:gd name="connsiteX3" fmla="*/ 622950 w 798363"/>
                <a:gd name="connsiteY3" fmla="*/ 1 h 1032987"/>
                <a:gd name="connsiteX4" fmla="*/ 798363 w 798363"/>
                <a:gd name="connsiteY4" fmla="*/ 175414 h 1032987"/>
                <a:gd name="connsiteX5" fmla="*/ 622950 w 798363"/>
                <a:gd name="connsiteY5" fmla="*/ 350827 h 1032987"/>
                <a:gd name="connsiteX6" fmla="*/ 562765 w 798363"/>
                <a:gd name="connsiteY6" fmla="*/ 350827 h 1032987"/>
                <a:gd name="connsiteX7" fmla="*/ 562765 w 798363"/>
                <a:gd name="connsiteY7" fmla="*/ 503174 h 1032987"/>
                <a:gd name="connsiteX8" fmla="*/ 549447 w 798363"/>
                <a:gd name="connsiteY8" fmla="*/ 516492 h 1032987"/>
                <a:gd name="connsiteX9" fmla="*/ 496174 w 798363"/>
                <a:gd name="connsiteY9" fmla="*/ 516492 h 1032987"/>
                <a:gd name="connsiteX10" fmla="*/ 482856 w 798363"/>
                <a:gd name="connsiteY10" fmla="*/ 503174 h 1032987"/>
                <a:gd name="connsiteX11" fmla="*/ 482856 w 798363"/>
                <a:gd name="connsiteY11" fmla="*/ 350827 h 1032987"/>
                <a:gd name="connsiteX12" fmla="*/ 350826 w 798363"/>
                <a:gd name="connsiteY12" fmla="*/ 350827 h 1032987"/>
                <a:gd name="connsiteX13" fmla="*/ 350826 w 798363"/>
                <a:gd name="connsiteY13" fmla="*/ 858878 h 1032987"/>
                <a:gd name="connsiteX14" fmla="*/ 765662 w 798363"/>
                <a:gd name="connsiteY14" fmla="*/ 858878 h 1032987"/>
                <a:gd name="connsiteX15" fmla="*/ 794681 w 798363"/>
                <a:gd name="connsiteY15" fmla="*/ 887897 h 1032987"/>
                <a:gd name="connsiteX16" fmla="*/ 794681 w 798363"/>
                <a:gd name="connsiteY16" fmla="*/ 1003968 h 1032987"/>
                <a:gd name="connsiteX17" fmla="*/ 765662 w 798363"/>
                <a:gd name="connsiteY17" fmla="*/ 1032987 h 1032987"/>
                <a:gd name="connsiteX18" fmla="*/ 292357 w 798363"/>
                <a:gd name="connsiteY18" fmla="*/ 1032987 h 1032987"/>
                <a:gd name="connsiteX19" fmla="*/ 292354 w 798363"/>
                <a:gd name="connsiteY19" fmla="*/ 1032987 h 1032987"/>
                <a:gd name="connsiteX20" fmla="*/ 58472 w 798363"/>
                <a:gd name="connsiteY20" fmla="*/ 1032987 h 1032987"/>
                <a:gd name="connsiteX21" fmla="*/ 58470 w 798363"/>
                <a:gd name="connsiteY21" fmla="*/ 1032987 h 1032987"/>
                <a:gd name="connsiteX22" fmla="*/ 30592 w 798363"/>
                <a:gd name="connsiteY22" fmla="*/ 1032987 h 1032987"/>
                <a:gd name="connsiteX23" fmla="*/ 1573 w 798363"/>
                <a:gd name="connsiteY23" fmla="*/ 1003968 h 1032987"/>
                <a:gd name="connsiteX24" fmla="*/ 1573 w 798363"/>
                <a:gd name="connsiteY24" fmla="*/ 982304 h 1032987"/>
                <a:gd name="connsiteX25" fmla="*/ 0 w 798363"/>
                <a:gd name="connsiteY25" fmla="*/ 974515 h 1032987"/>
                <a:gd name="connsiteX26" fmla="*/ 0 w 798363"/>
                <a:gd name="connsiteY26" fmla="*/ 58472 h 1032987"/>
                <a:gd name="connsiteX27" fmla="*/ 58472 w 798363"/>
                <a:gd name="connsiteY27" fmla="*/ 0 h 1032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798363" h="1032987">
                  <a:moveTo>
                    <a:pt x="58472" y="0"/>
                  </a:moveTo>
                  <a:lnTo>
                    <a:pt x="292354" y="0"/>
                  </a:lnTo>
                  <a:lnTo>
                    <a:pt x="292359" y="1"/>
                  </a:lnTo>
                  <a:lnTo>
                    <a:pt x="622950" y="1"/>
                  </a:lnTo>
                  <a:cubicBezTo>
                    <a:pt x="719828" y="1"/>
                    <a:pt x="798363" y="78536"/>
                    <a:pt x="798363" y="175414"/>
                  </a:cubicBezTo>
                  <a:cubicBezTo>
                    <a:pt x="798363" y="272292"/>
                    <a:pt x="719828" y="350827"/>
                    <a:pt x="622950" y="350827"/>
                  </a:cubicBezTo>
                  <a:lnTo>
                    <a:pt x="562765" y="350827"/>
                  </a:lnTo>
                  <a:lnTo>
                    <a:pt x="562765" y="503174"/>
                  </a:lnTo>
                  <a:cubicBezTo>
                    <a:pt x="562765" y="510529"/>
                    <a:pt x="556802" y="516492"/>
                    <a:pt x="549447" y="516492"/>
                  </a:cubicBezTo>
                  <a:lnTo>
                    <a:pt x="496174" y="516492"/>
                  </a:lnTo>
                  <a:cubicBezTo>
                    <a:pt x="488819" y="516492"/>
                    <a:pt x="482856" y="510529"/>
                    <a:pt x="482856" y="503174"/>
                  </a:cubicBezTo>
                  <a:lnTo>
                    <a:pt x="482856" y="350827"/>
                  </a:lnTo>
                  <a:lnTo>
                    <a:pt x="350826" y="350827"/>
                  </a:lnTo>
                  <a:lnTo>
                    <a:pt x="350826" y="858878"/>
                  </a:lnTo>
                  <a:lnTo>
                    <a:pt x="765662" y="858878"/>
                  </a:lnTo>
                  <a:cubicBezTo>
                    <a:pt x="781689" y="858878"/>
                    <a:pt x="794681" y="871870"/>
                    <a:pt x="794681" y="887897"/>
                  </a:cubicBezTo>
                  <a:lnTo>
                    <a:pt x="794681" y="1003968"/>
                  </a:lnTo>
                  <a:cubicBezTo>
                    <a:pt x="794681" y="1019995"/>
                    <a:pt x="781689" y="1032987"/>
                    <a:pt x="765662" y="1032987"/>
                  </a:cubicBezTo>
                  <a:lnTo>
                    <a:pt x="292357" y="1032987"/>
                  </a:lnTo>
                  <a:lnTo>
                    <a:pt x="292354" y="1032987"/>
                  </a:lnTo>
                  <a:lnTo>
                    <a:pt x="58472" y="1032987"/>
                  </a:lnTo>
                  <a:lnTo>
                    <a:pt x="58470" y="1032987"/>
                  </a:lnTo>
                  <a:lnTo>
                    <a:pt x="30592" y="1032987"/>
                  </a:lnTo>
                  <a:cubicBezTo>
                    <a:pt x="14565" y="1032987"/>
                    <a:pt x="1573" y="1019995"/>
                    <a:pt x="1573" y="1003968"/>
                  </a:cubicBezTo>
                  <a:lnTo>
                    <a:pt x="1573" y="982304"/>
                  </a:lnTo>
                  <a:lnTo>
                    <a:pt x="0" y="974515"/>
                  </a:lnTo>
                  <a:lnTo>
                    <a:pt x="0" y="58472"/>
                  </a:lnTo>
                  <a:cubicBezTo>
                    <a:pt x="0" y="26179"/>
                    <a:pt x="26179" y="0"/>
                    <a:pt x="58472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1E6BD9DB-F2D2-157A-0A3A-FE6AAA2FD22B}"/>
                </a:ext>
              </a:extLst>
            </p:cNvPr>
            <p:cNvSpPr/>
            <p:nvPr/>
          </p:nvSpPr>
          <p:spPr>
            <a:xfrm>
              <a:off x="1254841" y="3042122"/>
              <a:ext cx="206628" cy="165303"/>
            </a:xfrm>
            <a:custGeom>
              <a:avLst/>
              <a:gdLst>
                <a:gd name="connsiteX0" fmla="*/ 206629 w 206628"/>
                <a:gd name="connsiteY0" fmla="*/ 70089 h 165303"/>
                <a:gd name="connsiteX1" fmla="*/ 158691 w 206628"/>
                <a:gd name="connsiteY1" fmla="*/ 19836 h 165303"/>
                <a:gd name="connsiteX2" fmla="*/ 158691 w 206628"/>
                <a:gd name="connsiteY2" fmla="*/ 0 h 165303"/>
                <a:gd name="connsiteX3" fmla="*/ 0 w 206628"/>
                <a:gd name="connsiteY3" fmla="*/ 0 h 165303"/>
                <a:gd name="connsiteX4" fmla="*/ 0 w 206628"/>
                <a:gd name="connsiteY4" fmla="*/ 152079 h 165303"/>
                <a:gd name="connsiteX5" fmla="*/ 13224 w 206628"/>
                <a:gd name="connsiteY5" fmla="*/ 165303 h 165303"/>
                <a:gd name="connsiteX6" fmla="*/ 145467 w 206628"/>
                <a:gd name="connsiteY6" fmla="*/ 165303 h 165303"/>
                <a:gd name="connsiteX7" fmla="*/ 158691 w 206628"/>
                <a:gd name="connsiteY7" fmla="*/ 152079 h 165303"/>
                <a:gd name="connsiteX8" fmla="*/ 158691 w 206628"/>
                <a:gd name="connsiteY8" fmla="*/ 120671 h 165303"/>
                <a:gd name="connsiteX9" fmla="*/ 206629 w 206628"/>
                <a:gd name="connsiteY9" fmla="*/ 70089 h 165303"/>
                <a:gd name="connsiteX10" fmla="*/ 159022 w 206628"/>
                <a:gd name="connsiteY10" fmla="*/ 100835 h 165303"/>
                <a:gd name="connsiteX11" fmla="*/ 159022 w 206628"/>
                <a:gd name="connsiteY11" fmla="*/ 39673 h 165303"/>
                <a:gd name="connsiteX12" fmla="*/ 187123 w 206628"/>
                <a:gd name="connsiteY12" fmla="*/ 70089 h 165303"/>
                <a:gd name="connsiteX13" fmla="*/ 159022 w 206628"/>
                <a:gd name="connsiteY13" fmla="*/ 100835 h 165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6628" h="165303">
                  <a:moveTo>
                    <a:pt x="206629" y="70089"/>
                  </a:moveTo>
                  <a:cubicBezTo>
                    <a:pt x="206629" y="42979"/>
                    <a:pt x="185470" y="21159"/>
                    <a:pt x="158691" y="19836"/>
                  </a:cubicBezTo>
                  <a:lnTo>
                    <a:pt x="158691" y="0"/>
                  </a:lnTo>
                  <a:lnTo>
                    <a:pt x="0" y="0"/>
                  </a:lnTo>
                  <a:lnTo>
                    <a:pt x="0" y="152079"/>
                  </a:lnTo>
                  <a:cubicBezTo>
                    <a:pt x="0" y="159352"/>
                    <a:pt x="5951" y="165303"/>
                    <a:pt x="13224" y="165303"/>
                  </a:cubicBezTo>
                  <a:lnTo>
                    <a:pt x="145467" y="165303"/>
                  </a:lnTo>
                  <a:cubicBezTo>
                    <a:pt x="152740" y="165303"/>
                    <a:pt x="158691" y="159352"/>
                    <a:pt x="158691" y="152079"/>
                  </a:cubicBezTo>
                  <a:lnTo>
                    <a:pt x="158691" y="120671"/>
                  </a:lnTo>
                  <a:cubicBezTo>
                    <a:pt x="185470" y="119349"/>
                    <a:pt x="206629" y="97198"/>
                    <a:pt x="206629" y="70089"/>
                  </a:cubicBezTo>
                  <a:close/>
                  <a:moveTo>
                    <a:pt x="159022" y="100835"/>
                  </a:moveTo>
                  <a:lnTo>
                    <a:pt x="159022" y="39673"/>
                  </a:lnTo>
                  <a:cubicBezTo>
                    <a:pt x="174891" y="40995"/>
                    <a:pt x="187123" y="54219"/>
                    <a:pt x="187123" y="70089"/>
                  </a:cubicBezTo>
                  <a:cubicBezTo>
                    <a:pt x="187123" y="85958"/>
                    <a:pt x="174560" y="99512"/>
                    <a:pt x="159022" y="100835"/>
                  </a:cubicBezTo>
                  <a:close/>
                </a:path>
              </a:pathLst>
            </a:custGeom>
            <a:solidFill>
              <a:schemeClr val="accent5">
                <a:lumMod val="60000"/>
                <a:lumOff val="40000"/>
              </a:schemeClr>
            </a:solidFill>
            <a:ln w="32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0" name="Title 1">
            <a:extLst>
              <a:ext uri="{FF2B5EF4-FFF2-40B4-BE49-F238E27FC236}">
                <a16:creationId xmlns:a16="http://schemas.microsoft.com/office/drawing/2014/main" id="{7716347D-FC6C-CDC1-A1B4-623712171EA5}"/>
              </a:ext>
            </a:extLst>
          </p:cNvPr>
          <p:cNvSpPr txBox="1">
            <a:spLocks/>
          </p:cNvSpPr>
          <p:nvPr/>
        </p:nvSpPr>
        <p:spPr>
          <a:xfrm>
            <a:off x="1274798" y="365124"/>
            <a:ext cx="964240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>
                <a:solidFill>
                  <a:schemeClr val="accent1"/>
                </a:solidFill>
                <a:latin typeface="Century Gothic" panose="020B0502020202020204" pitchFamily="34" charset="0"/>
              </a:rPr>
              <a:t>W</a:t>
            </a:r>
            <a:r>
              <a:rPr lang="aa-ET" dirty="0">
                <a:solidFill>
                  <a:schemeClr val="accent1"/>
                </a:solidFill>
                <a:latin typeface="Century Gothic" panose="020B0502020202020204" pitchFamily="34" charset="0"/>
              </a:rPr>
              <a:t>hat are </a:t>
            </a:r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Interaction Affordances</a:t>
            </a:r>
            <a:r>
              <a:rPr lang="aa-ET" dirty="0">
                <a:solidFill>
                  <a:schemeClr val="accent1"/>
                </a:solidFill>
                <a:latin typeface="Century Gothic" panose="020B0502020202020204" pitchFamily="34" charset="0"/>
              </a:rPr>
              <a:t>?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AA39AC4-4697-B40B-C587-879414F58126}"/>
              </a:ext>
            </a:extLst>
          </p:cNvPr>
          <p:cNvCxnSpPr/>
          <p:nvPr/>
        </p:nvCxnSpPr>
        <p:spPr>
          <a:xfrm>
            <a:off x="2784791" y="4140162"/>
            <a:ext cx="1683834" cy="0"/>
          </a:xfrm>
          <a:prstGeom prst="line">
            <a:avLst/>
          </a:prstGeom>
          <a:ln w="762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0766B86-183A-1FD7-2438-9EA00B0A78F2}"/>
              </a:ext>
            </a:extLst>
          </p:cNvPr>
          <p:cNvCxnSpPr/>
          <p:nvPr/>
        </p:nvCxnSpPr>
        <p:spPr>
          <a:xfrm>
            <a:off x="2784791" y="4543465"/>
            <a:ext cx="1683834" cy="0"/>
          </a:xfrm>
          <a:prstGeom prst="line">
            <a:avLst/>
          </a:prstGeom>
          <a:ln w="762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92360D2-CD95-9BC6-7CB4-F7C6E3152A7E}"/>
              </a:ext>
            </a:extLst>
          </p:cNvPr>
          <p:cNvCxnSpPr/>
          <p:nvPr/>
        </p:nvCxnSpPr>
        <p:spPr>
          <a:xfrm>
            <a:off x="2787095" y="4941192"/>
            <a:ext cx="1683834" cy="0"/>
          </a:xfrm>
          <a:prstGeom prst="line">
            <a:avLst/>
          </a:prstGeom>
          <a:ln w="762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D88788EC-7E82-E86A-3339-7E33FD0EECF0}"/>
              </a:ext>
            </a:extLst>
          </p:cNvPr>
          <p:cNvGrpSpPr/>
          <p:nvPr/>
        </p:nvGrpSpPr>
        <p:grpSpPr>
          <a:xfrm>
            <a:off x="8329722" y="2742511"/>
            <a:ext cx="1101971" cy="437538"/>
            <a:chOff x="9843013" y="2095500"/>
            <a:chExt cx="1101971" cy="437538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DB89DD5C-7028-F087-2706-3415B7B2C43A}"/>
                </a:ext>
              </a:extLst>
            </p:cNvPr>
            <p:cNvSpPr/>
            <p:nvPr/>
          </p:nvSpPr>
          <p:spPr>
            <a:xfrm>
              <a:off x="9843013" y="2095500"/>
              <a:ext cx="1101971" cy="437538"/>
            </a:xfrm>
            <a:prstGeom prst="roundRect">
              <a:avLst>
                <a:gd name="adj" fmla="val 50000"/>
              </a:avLst>
            </a:prstGeom>
            <a:solidFill>
              <a:schemeClr val="accent3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31932C76-7410-7501-809A-046D0DE75293}"/>
                </a:ext>
              </a:extLst>
            </p:cNvPr>
            <p:cNvGrpSpPr/>
            <p:nvPr/>
          </p:nvGrpSpPr>
          <p:grpSpPr>
            <a:xfrm>
              <a:off x="9998060" y="2173688"/>
              <a:ext cx="791876" cy="281161"/>
              <a:chOff x="9931328" y="2153492"/>
              <a:chExt cx="941880" cy="334421"/>
            </a:xfrm>
          </p:grpSpPr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8E25355C-3084-7B5F-BDC4-76995F8A8BF5}"/>
                  </a:ext>
                </a:extLst>
              </p:cNvPr>
              <p:cNvSpPr/>
              <p:nvPr/>
            </p:nvSpPr>
            <p:spPr>
              <a:xfrm rot="19951854">
                <a:off x="9931328" y="2160944"/>
                <a:ext cx="297563" cy="326969"/>
              </a:xfrm>
              <a:custGeom>
                <a:avLst/>
                <a:gdLst>
                  <a:gd name="connsiteX0" fmla="*/ 242170 w 297563"/>
                  <a:gd name="connsiteY0" fmla="*/ 17895 h 326969"/>
                  <a:gd name="connsiteX1" fmla="*/ 32972 w 297563"/>
                  <a:gd name="connsiteY1" fmla="*/ 89190 h 326969"/>
                  <a:gd name="connsiteX2" fmla="*/ 55384 w 297563"/>
                  <a:gd name="connsiteY2" fmla="*/ 309075 h 326969"/>
                  <a:gd name="connsiteX3" fmla="*/ 264591 w 297563"/>
                  <a:gd name="connsiteY3" fmla="*/ 237770 h 326969"/>
                  <a:gd name="connsiteX4" fmla="*/ 242170 w 297563"/>
                  <a:gd name="connsiteY4" fmla="*/ 17895 h 326969"/>
                  <a:gd name="connsiteX5" fmla="*/ 167770 w 297563"/>
                  <a:gd name="connsiteY5" fmla="*/ 162323 h 326969"/>
                  <a:gd name="connsiteX6" fmla="*/ 113277 w 297563"/>
                  <a:gd name="connsiteY6" fmla="*/ 288558 h 326969"/>
                  <a:gd name="connsiteX7" fmla="*/ 75958 w 297563"/>
                  <a:gd name="connsiteY7" fmla="*/ 277004 h 326969"/>
                  <a:gd name="connsiteX8" fmla="*/ 72968 w 297563"/>
                  <a:gd name="connsiteY8" fmla="*/ 274804 h 326969"/>
                  <a:gd name="connsiteX9" fmla="*/ 130756 w 297563"/>
                  <a:gd name="connsiteY9" fmla="*/ 153322 h 326969"/>
                  <a:gd name="connsiteX10" fmla="*/ 179047 w 297563"/>
                  <a:gd name="connsiteY10" fmla="*/ 38069 h 326969"/>
                  <a:gd name="connsiteX11" fmla="*/ 179457 w 297563"/>
                  <a:gd name="connsiteY11" fmla="*/ 38069 h 326969"/>
                  <a:gd name="connsiteX12" fmla="*/ 221596 w 297563"/>
                  <a:gd name="connsiteY12" fmla="*/ 49937 h 326969"/>
                  <a:gd name="connsiteX13" fmla="*/ 221958 w 297563"/>
                  <a:gd name="connsiteY13" fmla="*/ 50204 h 326969"/>
                  <a:gd name="connsiteX14" fmla="*/ 167770 w 297563"/>
                  <a:gd name="connsiteY14" fmla="*/ 162323 h 326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97563" h="326969">
                    <a:moveTo>
                      <a:pt x="242170" y="17895"/>
                    </a:moveTo>
                    <a:cubicBezTo>
                      <a:pt x="178209" y="-23138"/>
                      <a:pt x="84550" y="8789"/>
                      <a:pt x="32972" y="89190"/>
                    </a:cubicBezTo>
                    <a:cubicBezTo>
                      <a:pt x="-18606" y="169590"/>
                      <a:pt x="-8576" y="268041"/>
                      <a:pt x="55384" y="309075"/>
                    </a:cubicBezTo>
                    <a:cubicBezTo>
                      <a:pt x="119345" y="350108"/>
                      <a:pt x="213004" y="318180"/>
                      <a:pt x="264591" y="237770"/>
                    </a:cubicBezTo>
                    <a:cubicBezTo>
                      <a:pt x="316179" y="157360"/>
                      <a:pt x="306130" y="58919"/>
                      <a:pt x="242170" y="17895"/>
                    </a:cubicBezTo>
                    <a:close/>
                    <a:moveTo>
                      <a:pt x="167770" y="162323"/>
                    </a:moveTo>
                    <a:cubicBezTo>
                      <a:pt x="157378" y="205128"/>
                      <a:pt x="145862" y="251972"/>
                      <a:pt x="113277" y="288558"/>
                    </a:cubicBezTo>
                    <a:cubicBezTo>
                      <a:pt x="100040" y="288039"/>
                      <a:pt x="87172" y="284055"/>
                      <a:pt x="75958" y="277004"/>
                    </a:cubicBezTo>
                    <a:cubicBezTo>
                      <a:pt x="74911" y="276328"/>
                      <a:pt x="73977" y="275527"/>
                      <a:pt x="72968" y="274804"/>
                    </a:cubicBezTo>
                    <a:cubicBezTo>
                      <a:pt x="108515" y="244543"/>
                      <a:pt x="119411" y="200023"/>
                      <a:pt x="130756" y="153322"/>
                    </a:cubicBezTo>
                    <a:cubicBezTo>
                      <a:pt x="140786" y="112021"/>
                      <a:pt x="151139" y="69845"/>
                      <a:pt x="179047" y="38069"/>
                    </a:cubicBezTo>
                    <a:lnTo>
                      <a:pt x="179457" y="38069"/>
                    </a:lnTo>
                    <a:cubicBezTo>
                      <a:pt x="194358" y="37844"/>
                      <a:pt x="209002" y="41969"/>
                      <a:pt x="221596" y="49937"/>
                    </a:cubicBezTo>
                    <a:cubicBezTo>
                      <a:pt x="221719" y="50023"/>
                      <a:pt x="221834" y="50128"/>
                      <a:pt x="221958" y="50204"/>
                    </a:cubicBezTo>
                    <a:cubicBezTo>
                      <a:pt x="188973" y="75083"/>
                      <a:pt x="178990" y="116146"/>
                      <a:pt x="167770" y="162323"/>
                    </a:cubicBez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0840F9AC-DC4B-116B-ED3D-A8C591621C07}"/>
                  </a:ext>
                </a:extLst>
              </p:cNvPr>
              <p:cNvSpPr/>
              <p:nvPr/>
            </p:nvSpPr>
            <p:spPr>
              <a:xfrm rot="19951854">
                <a:off x="10257161" y="2155864"/>
                <a:ext cx="297563" cy="326969"/>
              </a:xfrm>
              <a:custGeom>
                <a:avLst/>
                <a:gdLst>
                  <a:gd name="connsiteX0" fmla="*/ 242170 w 297563"/>
                  <a:gd name="connsiteY0" fmla="*/ 17895 h 326969"/>
                  <a:gd name="connsiteX1" fmla="*/ 32972 w 297563"/>
                  <a:gd name="connsiteY1" fmla="*/ 89190 h 326969"/>
                  <a:gd name="connsiteX2" fmla="*/ 55384 w 297563"/>
                  <a:gd name="connsiteY2" fmla="*/ 309075 h 326969"/>
                  <a:gd name="connsiteX3" fmla="*/ 264591 w 297563"/>
                  <a:gd name="connsiteY3" fmla="*/ 237770 h 326969"/>
                  <a:gd name="connsiteX4" fmla="*/ 242170 w 297563"/>
                  <a:gd name="connsiteY4" fmla="*/ 17895 h 326969"/>
                  <a:gd name="connsiteX5" fmla="*/ 167770 w 297563"/>
                  <a:gd name="connsiteY5" fmla="*/ 162323 h 326969"/>
                  <a:gd name="connsiteX6" fmla="*/ 113277 w 297563"/>
                  <a:gd name="connsiteY6" fmla="*/ 288558 h 326969"/>
                  <a:gd name="connsiteX7" fmla="*/ 75958 w 297563"/>
                  <a:gd name="connsiteY7" fmla="*/ 277004 h 326969"/>
                  <a:gd name="connsiteX8" fmla="*/ 72968 w 297563"/>
                  <a:gd name="connsiteY8" fmla="*/ 274804 h 326969"/>
                  <a:gd name="connsiteX9" fmla="*/ 130756 w 297563"/>
                  <a:gd name="connsiteY9" fmla="*/ 153322 h 326969"/>
                  <a:gd name="connsiteX10" fmla="*/ 179047 w 297563"/>
                  <a:gd name="connsiteY10" fmla="*/ 38069 h 326969"/>
                  <a:gd name="connsiteX11" fmla="*/ 179457 w 297563"/>
                  <a:gd name="connsiteY11" fmla="*/ 38069 h 326969"/>
                  <a:gd name="connsiteX12" fmla="*/ 221596 w 297563"/>
                  <a:gd name="connsiteY12" fmla="*/ 49937 h 326969"/>
                  <a:gd name="connsiteX13" fmla="*/ 221958 w 297563"/>
                  <a:gd name="connsiteY13" fmla="*/ 50204 h 326969"/>
                  <a:gd name="connsiteX14" fmla="*/ 167770 w 297563"/>
                  <a:gd name="connsiteY14" fmla="*/ 162323 h 326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97563" h="326969">
                    <a:moveTo>
                      <a:pt x="242170" y="17895"/>
                    </a:moveTo>
                    <a:cubicBezTo>
                      <a:pt x="178209" y="-23138"/>
                      <a:pt x="84550" y="8789"/>
                      <a:pt x="32972" y="89190"/>
                    </a:cubicBezTo>
                    <a:cubicBezTo>
                      <a:pt x="-18606" y="169590"/>
                      <a:pt x="-8576" y="268041"/>
                      <a:pt x="55384" y="309075"/>
                    </a:cubicBezTo>
                    <a:cubicBezTo>
                      <a:pt x="119345" y="350108"/>
                      <a:pt x="213004" y="318180"/>
                      <a:pt x="264591" y="237770"/>
                    </a:cubicBezTo>
                    <a:cubicBezTo>
                      <a:pt x="316179" y="157360"/>
                      <a:pt x="306130" y="58919"/>
                      <a:pt x="242170" y="17895"/>
                    </a:cubicBezTo>
                    <a:close/>
                    <a:moveTo>
                      <a:pt x="167770" y="162323"/>
                    </a:moveTo>
                    <a:cubicBezTo>
                      <a:pt x="157378" y="205128"/>
                      <a:pt x="145862" y="251972"/>
                      <a:pt x="113277" y="288558"/>
                    </a:cubicBezTo>
                    <a:cubicBezTo>
                      <a:pt x="100040" y="288039"/>
                      <a:pt x="87172" y="284055"/>
                      <a:pt x="75958" y="277004"/>
                    </a:cubicBezTo>
                    <a:cubicBezTo>
                      <a:pt x="74911" y="276328"/>
                      <a:pt x="73977" y="275527"/>
                      <a:pt x="72968" y="274804"/>
                    </a:cubicBezTo>
                    <a:cubicBezTo>
                      <a:pt x="108515" y="244543"/>
                      <a:pt x="119411" y="200023"/>
                      <a:pt x="130756" y="153322"/>
                    </a:cubicBezTo>
                    <a:cubicBezTo>
                      <a:pt x="140786" y="112021"/>
                      <a:pt x="151139" y="69845"/>
                      <a:pt x="179047" y="38069"/>
                    </a:cubicBezTo>
                    <a:lnTo>
                      <a:pt x="179457" y="38069"/>
                    </a:lnTo>
                    <a:cubicBezTo>
                      <a:pt x="194358" y="37844"/>
                      <a:pt x="209002" y="41969"/>
                      <a:pt x="221596" y="49937"/>
                    </a:cubicBezTo>
                    <a:cubicBezTo>
                      <a:pt x="221719" y="50023"/>
                      <a:pt x="221834" y="50128"/>
                      <a:pt x="221958" y="50204"/>
                    </a:cubicBezTo>
                    <a:cubicBezTo>
                      <a:pt x="188973" y="75083"/>
                      <a:pt x="178990" y="116146"/>
                      <a:pt x="167770" y="162323"/>
                    </a:cubicBez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CFB64125-C0B7-3FB7-F0A6-FE075859225C}"/>
                  </a:ext>
                </a:extLst>
              </p:cNvPr>
              <p:cNvSpPr/>
              <p:nvPr/>
            </p:nvSpPr>
            <p:spPr>
              <a:xfrm rot="19951854">
                <a:off x="10575645" y="2153492"/>
                <a:ext cx="297563" cy="326969"/>
              </a:xfrm>
              <a:custGeom>
                <a:avLst/>
                <a:gdLst>
                  <a:gd name="connsiteX0" fmla="*/ 242170 w 297563"/>
                  <a:gd name="connsiteY0" fmla="*/ 17895 h 326969"/>
                  <a:gd name="connsiteX1" fmla="*/ 32972 w 297563"/>
                  <a:gd name="connsiteY1" fmla="*/ 89190 h 326969"/>
                  <a:gd name="connsiteX2" fmla="*/ 55384 w 297563"/>
                  <a:gd name="connsiteY2" fmla="*/ 309075 h 326969"/>
                  <a:gd name="connsiteX3" fmla="*/ 264591 w 297563"/>
                  <a:gd name="connsiteY3" fmla="*/ 237770 h 326969"/>
                  <a:gd name="connsiteX4" fmla="*/ 242170 w 297563"/>
                  <a:gd name="connsiteY4" fmla="*/ 17895 h 326969"/>
                  <a:gd name="connsiteX5" fmla="*/ 167770 w 297563"/>
                  <a:gd name="connsiteY5" fmla="*/ 162323 h 326969"/>
                  <a:gd name="connsiteX6" fmla="*/ 113277 w 297563"/>
                  <a:gd name="connsiteY6" fmla="*/ 288558 h 326969"/>
                  <a:gd name="connsiteX7" fmla="*/ 75958 w 297563"/>
                  <a:gd name="connsiteY7" fmla="*/ 277004 h 326969"/>
                  <a:gd name="connsiteX8" fmla="*/ 72968 w 297563"/>
                  <a:gd name="connsiteY8" fmla="*/ 274804 h 326969"/>
                  <a:gd name="connsiteX9" fmla="*/ 130756 w 297563"/>
                  <a:gd name="connsiteY9" fmla="*/ 153322 h 326969"/>
                  <a:gd name="connsiteX10" fmla="*/ 179047 w 297563"/>
                  <a:gd name="connsiteY10" fmla="*/ 38069 h 326969"/>
                  <a:gd name="connsiteX11" fmla="*/ 179457 w 297563"/>
                  <a:gd name="connsiteY11" fmla="*/ 38069 h 326969"/>
                  <a:gd name="connsiteX12" fmla="*/ 221596 w 297563"/>
                  <a:gd name="connsiteY12" fmla="*/ 49937 h 326969"/>
                  <a:gd name="connsiteX13" fmla="*/ 221958 w 297563"/>
                  <a:gd name="connsiteY13" fmla="*/ 50204 h 326969"/>
                  <a:gd name="connsiteX14" fmla="*/ 167770 w 297563"/>
                  <a:gd name="connsiteY14" fmla="*/ 162323 h 326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97563" h="326969">
                    <a:moveTo>
                      <a:pt x="242170" y="17895"/>
                    </a:moveTo>
                    <a:cubicBezTo>
                      <a:pt x="178209" y="-23138"/>
                      <a:pt x="84550" y="8789"/>
                      <a:pt x="32972" y="89190"/>
                    </a:cubicBezTo>
                    <a:cubicBezTo>
                      <a:pt x="-18606" y="169590"/>
                      <a:pt x="-8576" y="268041"/>
                      <a:pt x="55384" y="309075"/>
                    </a:cubicBezTo>
                    <a:cubicBezTo>
                      <a:pt x="119345" y="350108"/>
                      <a:pt x="213004" y="318180"/>
                      <a:pt x="264591" y="237770"/>
                    </a:cubicBezTo>
                    <a:cubicBezTo>
                      <a:pt x="316179" y="157360"/>
                      <a:pt x="306130" y="58919"/>
                      <a:pt x="242170" y="17895"/>
                    </a:cubicBezTo>
                    <a:close/>
                    <a:moveTo>
                      <a:pt x="167770" y="162323"/>
                    </a:moveTo>
                    <a:cubicBezTo>
                      <a:pt x="157378" y="205128"/>
                      <a:pt x="145862" y="251972"/>
                      <a:pt x="113277" y="288558"/>
                    </a:cubicBezTo>
                    <a:cubicBezTo>
                      <a:pt x="100040" y="288039"/>
                      <a:pt x="87172" y="284055"/>
                      <a:pt x="75958" y="277004"/>
                    </a:cubicBezTo>
                    <a:cubicBezTo>
                      <a:pt x="74911" y="276328"/>
                      <a:pt x="73977" y="275527"/>
                      <a:pt x="72968" y="274804"/>
                    </a:cubicBezTo>
                    <a:cubicBezTo>
                      <a:pt x="108515" y="244543"/>
                      <a:pt x="119411" y="200023"/>
                      <a:pt x="130756" y="153322"/>
                    </a:cubicBezTo>
                    <a:cubicBezTo>
                      <a:pt x="140786" y="112021"/>
                      <a:pt x="151139" y="69845"/>
                      <a:pt x="179047" y="38069"/>
                    </a:cubicBezTo>
                    <a:lnTo>
                      <a:pt x="179457" y="38069"/>
                    </a:lnTo>
                    <a:cubicBezTo>
                      <a:pt x="194358" y="37844"/>
                      <a:pt x="209002" y="41969"/>
                      <a:pt x="221596" y="49937"/>
                    </a:cubicBezTo>
                    <a:cubicBezTo>
                      <a:pt x="221719" y="50023"/>
                      <a:pt x="221834" y="50128"/>
                      <a:pt x="221958" y="50204"/>
                    </a:cubicBezTo>
                    <a:cubicBezTo>
                      <a:pt x="188973" y="75083"/>
                      <a:pt x="178990" y="116146"/>
                      <a:pt x="167770" y="162323"/>
                    </a:cubicBez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sp>
        <p:nvSpPr>
          <p:cNvPr id="16" name="Oval 15">
            <a:extLst>
              <a:ext uri="{FF2B5EF4-FFF2-40B4-BE49-F238E27FC236}">
                <a16:creationId xmlns:a16="http://schemas.microsoft.com/office/drawing/2014/main" id="{764E63CC-1EAC-E66C-B927-E399CA771057}"/>
              </a:ext>
            </a:extLst>
          </p:cNvPr>
          <p:cNvSpPr/>
          <p:nvPr/>
        </p:nvSpPr>
        <p:spPr>
          <a:xfrm>
            <a:off x="9349778" y="2541429"/>
            <a:ext cx="163830" cy="163830"/>
          </a:xfrm>
          <a:prstGeom prst="ellipse">
            <a:avLst/>
          </a:prstGeom>
          <a:solidFill>
            <a:srgbClr val="F7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86624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Tm="6000">
        <p159:morph option="byObject"/>
      </p:transition>
    </mc:Choice>
    <mc:Fallback xmlns="">
      <p:transition spd="slow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2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500"/>
                            </p:stCondLst>
                            <p:childTnLst>
                              <p:par>
                                <p:cTn id="15" presetID="22" presetClass="exit" presetSubtype="2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3500"/>
                            </p:stCondLst>
                            <p:childTnLst>
                              <p:par>
                                <p:cTn id="19" presetID="42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6 0 L -2.08333E-6 0.25 " pathEditMode="relative" rAng="0" ptsTypes="AA">
                                      <p:cBhvr>
                                        <p:cTn id="20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2500"/>
                                    </p:animMotion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4500"/>
                            </p:stCondLst>
                            <p:childTnLst>
                              <p:par>
                                <p:cTn id="25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500"/>
                            </p:stCondLst>
                            <p:childTnLst>
                              <p:par>
                                <p:cTn id="36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6000"/>
                            </p:stCondLst>
                            <p:childTnLst>
                              <p:par>
                                <p:cTn id="40" presetID="10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6500"/>
                            </p:stCondLst>
                            <p:childTnLst>
                              <p:par>
                                <p:cTn id="44" presetID="10" presetClass="exit" presetSubtype="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7000"/>
                            </p:stCondLst>
                            <p:childTnLst>
                              <p:par>
                                <p:cTn id="48" presetID="10" presetClass="entr" presetSubtype="0" fill="hold" grpId="4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7500"/>
                            </p:stCondLst>
                            <p:childTnLst>
                              <p:par>
                                <p:cTn id="52" presetID="10" presetClass="exit" presetSubtype="0" fill="hold" grpId="5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4" grpId="1" animBg="1"/>
      <p:bldP spid="14" grpId="2" animBg="1"/>
      <p:bldP spid="16" grpId="0" animBg="1"/>
      <p:bldP spid="16" grpId="1" animBg="1"/>
      <p:bldP spid="16" grpId="2" animBg="1"/>
      <p:bldP spid="16" grpId="3" animBg="1"/>
      <p:bldP spid="16" grpId="4" animBg="1"/>
      <p:bldP spid="16" grpId="5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63F0F84D-5209-62F4-B4F7-21DDE065C690}"/>
              </a:ext>
            </a:extLst>
          </p:cNvPr>
          <p:cNvSpPr txBox="1">
            <a:spLocks/>
          </p:cNvSpPr>
          <p:nvPr/>
        </p:nvSpPr>
        <p:spPr>
          <a:xfrm>
            <a:off x="1274798" y="365124"/>
            <a:ext cx="964240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>
                <a:solidFill>
                  <a:schemeClr val="accent1"/>
                </a:solidFill>
                <a:latin typeface="Century Gothic" panose="020B0502020202020204" pitchFamily="34" charset="0"/>
              </a:rPr>
              <a:t>W</a:t>
            </a:r>
            <a:r>
              <a:rPr lang="aa-ET" dirty="0">
                <a:solidFill>
                  <a:schemeClr val="accent1"/>
                </a:solidFill>
                <a:latin typeface="Century Gothic" panose="020B0502020202020204" pitchFamily="34" charset="0"/>
              </a:rPr>
              <a:t>hat are </a:t>
            </a:r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Interaction Affordances</a:t>
            </a:r>
            <a:r>
              <a:rPr lang="aa-ET" dirty="0">
                <a:solidFill>
                  <a:schemeClr val="accent1"/>
                </a:solidFill>
                <a:latin typeface="Century Gothic" panose="020B0502020202020204" pitchFamily="34" charset="0"/>
              </a:rPr>
              <a:t>?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7E9EB6C-D41D-8F2A-5B28-ED39D6A750C9}"/>
              </a:ext>
            </a:extLst>
          </p:cNvPr>
          <p:cNvGrpSpPr/>
          <p:nvPr/>
        </p:nvGrpSpPr>
        <p:grpSpPr>
          <a:xfrm>
            <a:off x="1332070" y="2185212"/>
            <a:ext cx="2382383" cy="1837167"/>
            <a:chOff x="1332070" y="2185212"/>
            <a:chExt cx="2382383" cy="1837167"/>
          </a:xfrm>
        </p:grpSpPr>
        <p:pic>
          <p:nvPicPr>
            <p:cNvPr id="17" name="Graphic 16" descr="Document with solid fill">
              <a:extLst>
                <a:ext uri="{FF2B5EF4-FFF2-40B4-BE49-F238E27FC236}">
                  <a16:creationId xmlns:a16="http://schemas.microsoft.com/office/drawing/2014/main" id="{3C2D0DFD-9A2F-D940-C921-641E8AD7010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944617" y="2185212"/>
              <a:ext cx="1157290" cy="115729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528EB3C-8D11-5C73-5493-7EFA4584C680}"/>
                </a:ext>
              </a:extLst>
            </p:cNvPr>
            <p:cNvSpPr txBox="1"/>
            <p:nvPr/>
          </p:nvSpPr>
          <p:spPr>
            <a:xfrm>
              <a:off x="1332070" y="3376048"/>
              <a:ext cx="238238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6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5"/>
                  </a:solidFill>
                  <a:effectLst/>
                  <a:uLnTx/>
                  <a:uFillTx/>
                  <a:latin typeface="Century Gothic" panose="020B0502020202020204" pitchFamily="34" charset="0"/>
                  <a:ea typeface="+mn-ea"/>
                  <a:cs typeface="+mn-cs"/>
                </a:rPr>
                <a:t>Properties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2A25136-84A9-7B26-9C0A-63F0039ABA0C}"/>
              </a:ext>
            </a:extLst>
          </p:cNvPr>
          <p:cNvGrpSpPr/>
          <p:nvPr/>
        </p:nvGrpSpPr>
        <p:grpSpPr>
          <a:xfrm>
            <a:off x="5141853" y="2185212"/>
            <a:ext cx="1838965" cy="1837166"/>
            <a:chOff x="5141853" y="2185212"/>
            <a:chExt cx="1838965" cy="1837166"/>
          </a:xfrm>
        </p:grpSpPr>
        <p:pic>
          <p:nvPicPr>
            <p:cNvPr id="15" name="Graphic 14" descr="Play with solid fill">
              <a:extLst>
                <a:ext uri="{FF2B5EF4-FFF2-40B4-BE49-F238E27FC236}">
                  <a16:creationId xmlns:a16="http://schemas.microsoft.com/office/drawing/2014/main" id="{CF60D86E-7BE2-1D07-9552-95BC142D7F5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517355" y="2185212"/>
              <a:ext cx="1157290" cy="115729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71EA922-678D-D10A-293B-CE242CE1AE2E}"/>
                </a:ext>
              </a:extLst>
            </p:cNvPr>
            <p:cNvSpPr txBox="1"/>
            <p:nvPr/>
          </p:nvSpPr>
          <p:spPr>
            <a:xfrm>
              <a:off x="5141853" y="3376047"/>
              <a:ext cx="183896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6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Century Gothic" panose="020B0502020202020204" pitchFamily="34" charset="0"/>
                  <a:ea typeface="+mn-ea"/>
                  <a:cs typeface="+mn-cs"/>
                </a:rPr>
                <a:t>Actions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0EEC80C4-B41B-E632-0F48-02B40BF92486}"/>
              </a:ext>
            </a:extLst>
          </p:cNvPr>
          <p:cNvGrpSpPr/>
          <p:nvPr/>
        </p:nvGrpSpPr>
        <p:grpSpPr>
          <a:xfrm>
            <a:off x="8865473" y="2185212"/>
            <a:ext cx="1606530" cy="1837167"/>
            <a:chOff x="8865473" y="2185212"/>
            <a:chExt cx="1606530" cy="1837167"/>
          </a:xfrm>
        </p:grpSpPr>
        <p:pic>
          <p:nvPicPr>
            <p:cNvPr id="13" name="Graphic 12" descr="Bell with solid fill">
              <a:extLst>
                <a:ext uri="{FF2B5EF4-FFF2-40B4-BE49-F238E27FC236}">
                  <a16:creationId xmlns:a16="http://schemas.microsoft.com/office/drawing/2014/main" id="{560FC3C1-BE99-215B-5FEA-F8BB9C7EABD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090093" y="2185212"/>
              <a:ext cx="1157290" cy="115729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B94D7D3-A701-09F5-10C9-1BD1E37FE534}"/>
                </a:ext>
              </a:extLst>
            </p:cNvPr>
            <p:cNvSpPr txBox="1"/>
            <p:nvPr/>
          </p:nvSpPr>
          <p:spPr>
            <a:xfrm>
              <a:off x="8865473" y="3376048"/>
              <a:ext cx="160653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36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2"/>
                  </a:solidFill>
                  <a:effectLst/>
                  <a:uLnTx/>
                  <a:uFillTx/>
                  <a:latin typeface="Century Gothic" panose="020B0502020202020204" pitchFamily="34" charset="0"/>
                  <a:ea typeface="+mn-ea"/>
                  <a:cs typeface="+mn-cs"/>
                </a:rPr>
                <a:t>Events</a:t>
              </a: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FD5D50BD-58EE-C63A-F4A9-5A0A8F05CE2A}"/>
              </a:ext>
            </a:extLst>
          </p:cNvPr>
          <p:cNvSpPr txBox="1"/>
          <p:nvPr/>
        </p:nvSpPr>
        <p:spPr>
          <a:xfrm>
            <a:off x="1875289" y="4336052"/>
            <a:ext cx="122661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+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 … 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B2EE914-E374-49D7-0A04-75F475D2E2D2}"/>
              </a:ext>
            </a:extLst>
          </p:cNvPr>
          <p:cNvSpPr txBox="1"/>
          <p:nvPr/>
        </p:nvSpPr>
        <p:spPr>
          <a:xfrm>
            <a:off x="5448027" y="4336052"/>
            <a:ext cx="122661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chemeClr val="accent6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+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schemeClr val="accent6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chemeClr val="accent6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 … }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D5EC672-2917-53CB-65F3-E6805E3CD3EF}"/>
              </a:ext>
            </a:extLst>
          </p:cNvPr>
          <p:cNvSpPr txBox="1"/>
          <p:nvPr/>
        </p:nvSpPr>
        <p:spPr>
          <a:xfrm>
            <a:off x="9020765" y="4336052"/>
            <a:ext cx="122661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+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Century Gothic" panose="020B0502020202020204" pitchFamily="34" charset="0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Century Gothic" panose="020B0502020202020204" pitchFamily="34" charset="0"/>
                <a:ea typeface="+mn-ea"/>
                <a:cs typeface="+mn-cs"/>
              </a:rPr>
              <a:t>{ … }</a:t>
            </a:r>
          </a:p>
        </p:txBody>
      </p:sp>
    </p:spTree>
    <p:extLst>
      <p:ext uri="{BB962C8B-B14F-4D97-AF65-F5344CB8AC3E}">
        <p14:creationId xmlns:p14="http://schemas.microsoft.com/office/powerpoint/2010/main" val="16593402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19300">
        <p159:morph option="byObject"/>
      </p:transition>
    </mc:Choice>
    <mc:Fallback xmlns="">
      <p:transition spd="slow" advTm="193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0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25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30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6" grpId="0"/>
      <p:bldP spid="1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BE00BD7F-5441-4F0C-E356-5AF2444A2E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8446" y="1615849"/>
            <a:ext cx="7512938" cy="6210097"/>
          </a:xfrm>
        </p:spPr>
        <p:txBody>
          <a:bodyPr>
            <a:noAutofit/>
          </a:bodyPr>
          <a:lstStyle/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"properties":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coffeeBeansLeft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"title":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"Remaining Coffee Beans"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"description":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"Amount of remaining coffee beans in grams"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"type":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"number"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"minimum":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"maximum":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500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</a:t>
            </a:r>
            <a:r>
              <a:rPr lang="en-US" sz="1600" dirty="0" err="1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true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"observable":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false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"forms":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 ... 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"actions":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brewCoffee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"title":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"Brew Coffee"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"description":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"Starts brewing a cup of coffee"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"input":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"type":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"object"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"properties":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"size":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"type":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"string"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enum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["small", "medium", "large"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},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"forms":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 ... 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"events":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lowOnWater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 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"title":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"Low Water Level"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"forms":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 ... 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5936A34-A730-E152-B563-8B505900154C}"/>
              </a:ext>
            </a:extLst>
          </p:cNvPr>
          <p:cNvGrpSpPr/>
          <p:nvPr/>
        </p:nvGrpSpPr>
        <p:grpSpPr>
          <a:xfrm>
            <a:off x="8837182" y="1735762"/>
            <a:ext cx="2425178" cy="3386475"/>
            <a:chOff x="974627" y="2611041"/>
            <a:chExt cx="520902" cy="727378"/>
          </a:xfrm>
          <a:solidFill>
            <a:schemeClr val="tx2"/>
          </a:solidFill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F5C10047-88B7-4B63-CABD-D4773E2C1077}"/>
                </a:ext>
              </a:extLst>
            </p:cNvPr>
            <p:cNvSpPr/>
            <p:nvPr/>
          </p:nvSpPr>
          <p:spPr>
            <a:xfrm>
              <a:off x="974627" y="2611041"/>
              <a:ext cx="520902" cy="727378"/>
            </a:xfrm>
            <a:custGeom>
              <a:avLst/>
              <a:gdLst>
                <a:gd name="connsiteX0" fmla="*/ 58472 w 798363"/>
                <a:gd name="connsiteY0" fmla="*/ 0 h 1032987"/>
                <a:gd name="connsiteX1" fmla="*/ 292354 w 798363"/>
                <a:gd name="connsiteY1" fmla="*/ 0 h 1032987"/>
                <a:gd name="connsiteX2" fmla="*/ 292359 w 798363"/>
                <a:gd name="connsiteY2" fmla="*/ 1 h 1032987"/>
                <a:gd name="connsiteX3" fmla="*/ 622950 w 798363"/>
                <a:gd name="connsiteY3" fmla="*/ 1 h 1032987"/>
                <a:gd name="connsiteX4" fmla="*/ 798363 w 798363"/>
                <a:gd name="connsiteY4" fmla="*/ 175414 h 1032987"/>
                <a:gd name="connsiteX5" fmla="*/ 622950 w 798363"/>
                <a:gd name="connsiteY5" fmla="*/ 350827 h 1032987"/>
                <a:gd name="connsiteX6" fmla="*/ 562765 w 798363"/>
                <a:gd name="connsiteY6" fmla="*/ 350827 h 1032987"/>
                <a:gd name="connsiteX7" fmla="*/ 562765 w 798363"/>
                <a:gd name="connsiteY7" fmla="*/ 503174 h 1032987"/>
                <a:gd name="connsiteX8" fmla="*/ 549447 w 798363"/>
                <a:gd name="connsiteY8" fmla="*/ 516492 h 1032987"/>
                <a:gd name="connsiteX9" fmla="*/ 496174 w 798363"/>
                <a:gd name="connsiteY9" fmla="*/ 516492 h 1032987"/>
                <a:gd name="connsiteX10" fmla="*/ 482856 w 798363"/>
                <a:gd name="connsiteY10" fmla="*/ 503174 h 1032987"/>
                <a:gd name="connsiteX11" fmla="*/ 482856 w 798363"/>
                <a:gd name="connsiteY11" fmla="*/ 350827 h 1032987"/>
                <a:gd name="connsiteX12" fmla="*/ 350826 w 798363"/>
                <a:gd name="connsiteY12" fmla="*/ 350827 h 1032987"/>
                <a:gd name="connsiteX13" fmla="*/ 350826 w 798363"/>
                <a:gd name="connsiteY13" fmla="*/ 858878 h 1032987"/>
                <a:gd name="connsiteX14" fmla="*/ 765662 w 798363"/>
                <a:gd name="connsiteY14" fmla="*/ 858878 h 1032987"/>
                <a:gd name="connsiteX15" fmla="*/ 794681 w 798363"/>
                <a:gd name="connsiteY15" fmla="*/ 887897 h 1032987"/>
                <a:gd name="connsiteX16" fmla="*/ 794681 w 798363"/>
                <a:gd name="connsiteY16" fmla="*/ 1003968 h 1032987"/>
                <a:gd name="connsiteX17" fmla="*/ 765662 w 798363"/>
                <a:gd name="connsiteY17" fmla="*/ 1032987 h 1032987"/>
                <a:gd name="connsiteX18" fmla="*/ 292357 w 798363"/>
                <a:gd name="connsiteY18" fmla="*/ 1032987 h 1032987"/>
                <a:gd name="connsiteX19" fmla="*/ 292354 w 798363"/>
                <a:gd name="connsiteY19" fmla="*/ 1032987 h 1032987"/>
                <a:gd name="connsiteX20" fmla="*/ 58472 w 798363"/>
                <a:gd name="connsiteY20" fmla="*/ 1032987 h 1032987"/>
                <a:gd name="connsiteX21" fmla="*/ 58470 w 798363"/>
                <a:gd name="connsiteY21" fmla="*/ 1032987 h 1032987"/>
                <a:gd name="connsiteX22" fmla="*/ 30592 w 798363"/>
                <a:gd name="connsiteY22" fmla="*/ 1032987 h 1032987"/>
                <a:gd name="connsiteX23" fmla="*/ 1573 w 798363"/>
                <a:gd name="connsiteY23" fmla="*/ 1003968 h 1032987"/>
                <a:gd name="connsiteX24" fmla="*/ 1573 w 798363"/>
                <a:gd name="connsiteY24" fmla="*/ 982304 h 1032987"/>
                <a:gd name="connsiteX25" fmla="*/ 0 w 798363"/>
                <a:gd name="connsiteY25" fmla="*/ 974515 h 1032987"/>
                <a:gd name="connsiteX26" fmla="*/ 0 w 798363"/>
                <a:gd name="connsiteY26" fmla="*/ 58472 h 1032987"/>
                <a:gd name="connsiteX27" fmla="*/ 58472 w 798363"/>
                <a:gd name="connsiteY27" fmla="*/ 0 h 1032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798363" h="1032987">
                  <a:moveTo>
                    <a:pt x="58472" y="0"/>
                  </a:moveTo>
                  <a:lnTo>
                    <a:pt x="292354" y="0"/>
                  </a:lnTo>
                  <a:lnTo>
                    <a:pt x="292359" y="1"/>
                  </a:lnTo>
                  <a:lnTo>
                    <a:pt x="622950" y="1"/>
                  </a:lnTo>
                  <a:cubicBezTo>
                    <a:pt x="719828" y="1"/>
                    <a:pt x="798363" y="78536"/>
                    <a:pt x="798363" y="175414"/>
                  </a:cubicBezTo>
                  <a:cubicBezTo>
                    <a:pt x="798363" y="272292"/>
                    <a:pt x="719828" y="350827"/>
                    <a:pt x="622950" y="350827"/>
                  </a:cubicBezTo>
                  <a:lnTo>
                    <a:pt x="562765" y="350827"/>
                  </a:lnTo>
                  <a:lnTo>
                    <a:pt x="562765" y="503174"/>
                  </a:lnTo>
                  <a:cubicBezTo>
                    <a:pt x="562765" y="510529"/>
                    <a:pt x="556802" y="516492"/>
                    <a:pt x="549447" y="516492"/>
                  </a:cubicBezTo>
                  <a:lnTo>
                    <a:pt x="496174" y="516492"/>
                  </a:lnTo>
                  <a:cubicBezTo>
                    <a:pt x="488819" y="516492"/>
                    <a:pt x="482856" y="510529"/>
                    <a:pt x="482856" y="503174"/>
                  </a:cubicBezTo>
                  <a:lnTo>
                    <a:pt x="482856" y="350827"/>
                  </a:lnTo>
                  <a:lnTo>
                    <a:pt x="350826" y="350827"/>
                  </a:lnTo>
                  <a:lnTo>
                    <a:pt x="350826" y="858878"/>
                  </a:lnTo>
                  <a:lnTo>
                    <a:pt x="765662" y="858878"/>
                  </a:lnTo>
                  <a:cubicBezTo>
                    <a:pt x="781689" y="858878"/>
                    <a:pt x="794681" y="871870"/>
                    <a:pt x="794681" y="887897"/>
                  </a:cubicBezTo>
                  <a:lnTo>
                    <a:pt x="794681" y="1003968"/>
                  </a:lnTo>
                  <a:cubicBezTo>
                    <a:pt x="794681" y="1019995"/>
                    <a:pt x="781689" y="1032987"/>
                    <a:pt x="765662" y="1032987"/>
                  </a:cubicBezTo>
                  <a:lnTo>
                    <a:pt x="292357" y="1032987"/>
                  </a:lnTo>
                  <a:lnTo>
                    <a:pt x="292354" y="1032987"/>
                  </a:lnTo>
                  <a:lnTo>
                    <a:pt x="58472" y="1032987"/>
                  </a:lnTo>
                  <a:lnTo>
                    <a:pt x="58470" y="1032987"/>
                  </a:lnTo>
                  <a:lnTo>
                    <a:pt x="30592" y="1032987"/>
                  </a:lnTo>
                  <a:cubicBezTo>
                    <a:pt x="14565" y="1032987"/>
                    <a:pt x="1573" y="1019995"/>
                    <a:pt x="1573" y="1003968"/>
                  </a:cubicBezTo>
                  <a:lnTo>
                    <a:pt x="1573" y="982304"/>
                  </a:lnTo>
                  <a:lnTo>
                    <a:pt x="0" y="974515"/>
                  </a:lnTo>
                  <a:lnTo>
                    <a:pt x="0" y="58472"/>
                  </a:lnTo>
                  <a:cubicBezTo>
                    <a:pt x="0" y="26179"/>
                    <a:pt x="26179" y="0"/>
                    <a:pt x="58472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1929A878-05A1-7DA1-6878-72B3A5C7E7C4}"/>
                </a:ext>
              </a:extLst>
            </p:cNvPr>
            <p:cNvSpPr/>
            <p:nvPr/>
          </p:nvSpPr>
          <p:spPr>
            <a:xfrm>
              <a:off x="1254841" y="3042122"/>
              <a:ext cx="206628" cy="165303"/>
            </a:xfrm>
            <a:custGeom>
              <a:avLst/>
              <a:gdLst>
                <a:gd name="connsiteX0" fmla="*/ 206629 w 206628"/>
                <a:gd name="connsiteY0" fmla="*/ 70089 h 165303"/>
                <a:gd name="connsiteX1" fmla="*/ 158691 w 206628"/>
                <a:gd name="connsiteY1" fmla="*/ 19836 h 165303"/>
                <a:gd name="connsiteX2" fmla="*/ 158691 w 206628"/>
                <a:gd name="connsiteY2" fmla="*/ 0 h 165303"/>
                <a:gd name="connsiteX3" fmla="*/ 0 w 206628"/>
                <a:gd name="connsiteY3" fmla="*/ 0 h 165303"/>
                <a:gd name="connsiteX4" fmla="*/ 0 w 206628"/>
                <a:gd name="connsiteY4" fmla="*/ 152079 h 165303"/>
                <a:gd name="connsiteX5" fmla="*/ 13224 w 206628"/>
                <a:gd name="connsiteY5" fmla="*/ 165303 h 165303"/>
                <a:gd name="connsiteX6" fmla="*/ 145467 w 206628"/>
                <a:gd name="connsiteY6" fmla="*/ 165303 h 165303"/>
                <a:gd name="connsiteX7" fmla="*/ 158691 w 206628"/>
                <a:gd name="connsiteY7" fmla="*/ 152079 h 165303"/>
                <a:gd name="connsiteX8" fmla="*/ 158691 w 206628"/>
                <a:gd name="connsiteY8" fmla="*/ 120671 h 165303"/>
                <a:gd name="connsiteX9" fmla="*/ 206629 w 206628"/>
                <a:gd name="connsiteY9" fmla="*/ 70089 h 165303"/>
                <a:gd name="connsiteX10" fmla="*/ 159022 w 206628"/>
                <a:gd name="connsiteY10" fmla="*/ 100835 h 165303"/>
                <a:gd name="connsiteX11" fmla="*/ 159022 w 206628"/>
                <a:gd name="connsiteY11" fmla="*/ 39673 h 165303"/>
                <a:gd name="connsiteX12" fmla="*/ 187123 w 206628"/>
                <a:gd name="connsiteY12" fmla="*/ 70089 h 165303"/>
                <a:gd name="connsiteX13" fmla="*/ 159022 w 206628"/>
                <a:gd name="connsiteY13" fmla="*/ 100835 h 165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6628" h="165303">
                  <a:moveTo>
                    <a:pt x="206629" y="70089"/>
                  </a:moveTo>
                  <a:cubicBezTo>
                    <a:pt x="206629" y="42979"/>
                    <a:pt x="185470" y="21159"/>
                    <a:pt x="158691" y="19836"/>
                  </a:cubicBezTo>
                  <a:lnTo>
                    <a:pt x="158691" y="0"/>
                  </a:lnTo>
                  <a:lnTo>
                    <a:pt x="0" y="0"/>
                  </a:lnTo>
                  <a:lnTo>
                    <a:pt x="0" y="152079"/>
                  </a:lnTo>
                  <a:cubicBezTo>
                    <a:pt x="0" y="159352"/>
                    <a:pt x="5951" y="165303"/>
                    <a:pt x="13224" y="165303"/>
                  </a:cubicBezTo>
                  <a:lnTo>
                    <a:pt x="145467" y="165303"/>
                  </a:lnTo>
                  <a:cubicBezTo>
                    <a:pt x="152740" y="165303"/>
                    <a:pt x="158691" y="159352"/>
                    <a:pt x="158691" y="152079"/>
                  </a:cubicBezTo>
                  <a:lnTo>
                    <a:pt x="158691" y="120671"/>
                  </a:lnTo>
                  <a:cubicBezTo>
                    <a:pt x="185470" y="119349"/>
                    <a:pt x="206629" y="97198"/>
                    <a:pt x="206629" y="70089"/>
                  </a:cubicBezTo>
                  <a:close/>
                  <a:moveTo>
                    <a:pt x="159022" y="100835"/>
                  </a:moveTo>
                  <a:lnTo>
                    <a:pt x="159022" y="39673"/>
                  </a:lnTo>
                  <a:cubicBezTo>
                    <a:pt x="174891" y="40995"/>
                    <a:pt x="187123" y="54219"/>
                    <a:pt x="187123" y="70089"/>
                  </a:cubicBezTo>
                  <a:cubicBezTo>
                    <a:pt x="187123" y="85958"/>
                    <a:pt x="174560" y="99512"/>
                    <a:pt x="159022" y="100835"/>
                  </a:cubicBezTo>
                  <a:close/>
                </a:path>
              </a:pathLst>
            </a:custGeom>
            <a:solidFill>
              <a:schemeClr val="accent5">
                <a:lumMod val="60000"/>
                <a:lumOff val="40000"/>
              </a:schemeClr>
            </a:solidFill>
            <a:ln w="32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1645554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3000">
        <p159:morph option="byObject"/>
      </p:transition>
    </mc:Choice>
    <mc:Fallback xmlns="">
      <p:transition spd="slow" advTm="300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2B66AB-CABA-DB4A-645C-47512BC00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342633E-EF96-038A-9D5F-30F0186742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8446" y="-6013813"/>
            <a:ext cx="7512938" cy="21438941"/>
          </a:xfrm>
        </p:spPr>
        <p:txBody>
          <a:bodyPr>
            <a:noAutofit/>
          </a:bodyPr>
          <a:lstStyle/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"properties":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coffeeBeansLeft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"title":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"Remaining Coffee Beans"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"description":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"Amount of remaining coffee beans in grams"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"type":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"number"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"minimum":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"maximum":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500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</a:t>
            </a:r>
            <a:r>
              <a:rPr lang="en-US" sz="1600" dirty="0" err="1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true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"observable":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false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"forms":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 ... 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"actions":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brewCoffee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"title":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"Brew Coffee"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"description":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"Starts brewing a cup of coffee"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"input":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"type":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"object"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"properties":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"size":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"type":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"string"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enum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["small", "medium", "large"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},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"forms":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 ... 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"events":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lowOnWater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 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"title":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"Low Water Level"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"forms":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 ... 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5523228-6081-FC54-2655-84527FD4C143}"/>
              </a:ext>
            </a:extLst>
          </p:cNvPr>
          <p:cNvGrpSpPr/>
          <p:nvPr/>
        </p:nvGrpSpPr>
        <p:grpSpPr>
          <a:xfrm>
            <a:off x="8837182" y="1735762"/>
            <a:ext cx="2425178" cy="3386475"/>
            <a:chOff x="974627" y="2611041"/>
            <a:chExt cx="520902" cy="727378"/>
          </a:xfrm>
          <a:solidFill>
            <a:schemeClr val="tx2"/>
          </a:solidFill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AB29E8D8-9396-9ECA-29FD-8D48F42B7E30}"/>
                </a:ext>
              </a:extLst>
            </p:cNvPr>
            <p:cNvSpPr/>
            <p:nvPr/>
          </p:nvSpPr>
          <p:spPr>
            <a:xfrm>
              <a:off x="974627" y="2611041"/>
              <a:ext cx="520902" cy="727378"/>
            </a:xfrm>
            <a:custGeom>
              <a:avLst/>
              <a:gdLst>
                <a:gd name="connsiteX0" fmla="*/ 58472 w 798363"/>
                <a:gd name="connsiteY0" fmla="*/ 0 h 1032987"/>
                <a:gd name="connsiteX1" fmla="*/ 292354 w 798363"/>
                <a:gd name="connsiteY1" fmla="*/ 0 h 1032987"/>
                <a:gd name="connsiteX2" fmla="*/ 292359 w 798363"/>
                <a:gd name="connsiteY2" fmla="*/ 1 h 1032987"/>
                <a:gd name="connsiteX3" fmla="*/ 622950 w 798363"/>
                <a:gd name="connsiteY3" fmla="*/ 1 h 1032987"/>
                <a:gd name="connsiteX4" fmla="*/ 798363 w 798363"/>
                <a:gd name="connsiteY4" fmla="*/ 175414 h 1032987"/>
                <a:gd name="connsiteX5" fmla="*/ 622950 w 798363"/>
                <a:gd name="connsiteY5" fmla="*/ 350827 h 1032987"/>
                <a:gd name="connsiteX6" fmla="*/ 562765 w 798363"/>
                <a:gd name="connsiteY6" fmla="*/ 350827 h 1032987"/>
                <a:gd name="connsiteX7" fmla="*/ 562765 w 798363"/>
                <a:gd name="connsiteY7" fmla="*/ 503174 h 1032987"/>
                <a:gd name="connsiteX8" fmla="*/ 549447 w 798363"/>
                <a:gd name="connsiteY8" fmla="*/ 516492 h 1032987"/>
                <a:gd name="connsiteX9" fmla="*/ 496174 w 798363"/>
                <a:gd name="connsiteY9" fmla="*/ 516492 h 1032987"/>
                <a:gd name="connsiteX10" fmla="*/ 482856 w 798363"/>
                <a:gd name="connsiteY10" fmla="*/ 503174 h 1032987"/>
                <a:gd name="connsiteX11" fmla="*/ 482856 w 798363"/>
                <a:gd name="connsiteY11" fmla="*/ 350827 h 1032987"/>
                <a:gd name="connsiteX12" fmla="*/ 350826 w 798363"/>
                <a:gd name="connsiteY12" fmla="*/ 350827 h 1032987"/>
                <a:gd name="connsiteX13" fmla="*/ 350826 w 798363"/>
                <a:gd name="connsiteY13" fmla="*/ 858878 h 1032987"/>
                <a:gd name="connsiteX14" fmla="*/ 765662 w 798363"/>
                <a:gd name="connsiteY14" fmla="*/ 858878 h 1032987"/>
                <a:gd name="connsiteX15" fmla="*/ 794681 w 798363"/>
                <a:gd name="connsiteY15" fmla="*/ 887897 h 1032987"/>
                <a:gd name="connsiteX16" fmla="*/ 794681 w 798363"/>
                <a:gd name="connsiteY16" fmla="*/ 1003968 h 1032987"/>
                <a:gd name="connsiteX17" fmla="*/ 765662 w 798363"/>
                <a:gd name="connsiteY17" fmla="*/ 1032987 h 1032987"/>
                <a:gd name="connsiteX18" fmla="*/ 292357 w 798363"/>
                <a:gd name="connsiteY18" fmla="*/ 1032987 h 1032987"/>
                <a:gd name="connsiteX19" fmla="*/ 292354 w 798363"/>
                <a:gd name="connsiteY19" fmla="*/ 1032987 h 1032987"/>
                <a:gd name="connsiteX20" fmla="*/ 58472 w 798363"/>
                <a:gd name="connsiteY20" fmla="*/ 1032987 h 1032987"/>
                <a:gd name="connsiteX21" fmla="*/ 58470 w 798363"/>
                <a:gd name="connsiteY21" fmla="*/ 1032987 h 1032987"/>
                <a:gd name="connsiteX22" fmla="*/ 30592 w 798363"/>
                <a:gd name="connsiteY22" fmla="*/ 1032987 h 1032987"/>
                <a:gd name="connsiteX23" fmla="*/ 1573 w 798363"/>
                <a:gd name="connsiteY23" fmla="*/ 1003968 h 1032987"/>
                <a:gd name="connsiteX24" fmla="*/ 1573 w 798363"/>
                <a:gd name="connsiteY24" fmla="*/ 982304 h 1032987"/>
                <a:gd name="connsiteX25" fmla="*/ 0 w 798363"/>
                <a:gd name="connsiteY25" fmla="*/ 974515 h 1032987"/>
                <a:gd name="connsiteX26" fmla="*/ 0 w 798363"/>
                <a:gd name="connsiteY26" fmla="*/ 58472 h 1032987"/>
                <a:gd name="connsiteX27" fmla="*/ 58472 w 798363"/>
                <a:gd name="connsiteY27" fmla="*/ 0 h 1032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798363" h="1032987">
                  <a:moveTo>
                    <a:pt x="58472" y="0"/>
                  </a:moveTo>
                  <a:lnTo>
                    <a:pt x="292354" y="0"/>
                  </a:lnTo>
                  <a:lnTo>
                    <a:pt x="292359" y="1"/>
                  </a:lnTo>
                  <a:lnTo>
                    <a:pt x="622950" y="1"/>
                  </a:lnTo>
                  <a:cubicBezTo>
                    <a:pt x="719828" y="1"/>
                    <a:pt x="798363" y="78536"/>
                    <a:pt x="798363" y="175414"/>
                  </a:cubicBezTo>
                  <a:cubicBezTo>
                    <a:pt x="798363" y="272292"/>
                    <a:pt x="719828" y="350827"/>
                    <a:pt x="622950" y="350827"/>
                  </a:cubicBezTo>
                  <a:lnTo>
                    <a:pt x="562765" y="350827"/>
                  </a:lnTo>
                  <a:lnTo>
                    <a:pt x="562765" y="503174"/>
                  </a:lnTo>
                  <a:cubicBezTo>
                    <a:pt x="562765" y="510529"/>
                    <a:pt x="556802" y="516492"/>
                    <a:pt x="549447" y="516492"/>
                  </a:cubicBezTo>
                  <a:lnTo>
                    <a:pt x="496174" y="516492"/>
                  </a:lnTo>
                  <a:cubicBezTo>
                    <a:pt x="488819" y="516492"/>
                    <a:pt x="482856" y="510529"/>
                    <a:pt x="482856" y="503174"/>
                  </a:cubicBezTo>
                  <a:lnTo>
                    <a:pt x="482856" y="350827"/>
                  </a:lnTo>
                  <a:lnTo>
                    <a:pt x="350826" y="350827"/>
                  </a:lnTo>
                  <a:lnTo>
                    <a:pt x="350826" y="858878"/>
                  </a:lnTo>
                  <a:lnTo>
                    <a:pt x="765662" y="858878"/>
                  </a:lnTo>
                  <a:cubicBezTo>
                    <a:pt x="781689" y="858878"/>
                    <a:pt x="794681" y="871870"/>
                    <a:pt x="794681" y="887897"/>
                  </a:cubicBezTo>
                  <a:lnTo>
                    <a:pt x="794681" y="1003968"/>
                  </a:lnTo>
                  <a:cubicBezTo>
                    <a:pt x="794681" y="1019995"/>
                    <a:pt x="781689" y="1032987"/>
                    <a:pt x="765662" y="1032987"/>
                  </a:cubicBezTo>
                  <a:lnTo>
                    <a:pt x="292357" y="1032987"/>
                  </a:lnTo>
                  <a:lnTo>
                    <a:pt x="292354" y="1032987"/>
                  </a:lnTo>
                  <a:lnTo>
                    <a:pt x="58472" y="1032987"/>
                  </a:lnTo>
                  <a:lnTo>
                    <a:pt x="58470" y="1032987"/>
                  </a:lnTo>
                  <a:lnTo>
                    <a:pt x="30592" y="1032987"/>
                  </a:lnTo>
                  <a:cubicBezTo>
                    <a:pt x="14565" y="1032987"/>
                    <a:pt x="1573" y="1019995"/>
                    <a:pt x="1573" y="1003968"/>
                  </a:cubicBezTo>
                  <a:lnTo>
                    <a:pt x="1573" y="982304"/>
                  </a:lnTo>
                  <a:lnTo>
                    <a:pt x="0" y="974515"/>
                  </a:lnTo>
                  <a:lnTo>
                    <a:pt x="0" y="58472"/>
                  </a:lnTo>
                  <a:cubicBezTo>
                    <a:pt x="0" y="26179"/>
                    <a:pt x="26179" y="0"/>
                    <a:pt x="58472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A1AAC50-59F2-C88F-AA72-D00BAD9CFF43}"/>
                </a:ext>
              </a:extLst>
            </p:cNvPr>
            <p:cNvSpPr/>
            <p:nvPr/>
          </p:nvSpPr>
          <p:spPr>
            <a:xfrm>
              <a:off x="1254841" y="3042122"/>
              <a:ext cx="206628" cy="165303"/>
            </a:xfrm>
            <a:custGeom>
              <a:avLst/>
              <a:gdLst>
                <a:gd name="connsiteX0" fmla="*/ 206629 w 206628"/>
                <a:gd name="connsiteY0" fmla="*/ 70089 h 165303"/>
                <a:gd name="connsiteX1" fmla="*/ 158691 w 206628"/>
                <a:gd name="connsiteY1" fmla="*/ 19836 h 165303"/>
                <a:gd name="connsiteX2" fmla="*/ 158691 w 206628"/>
                <a:gd name="connsiteY2" fmla="*/ 0 h 165303"/>
                <a:gd name="connsiteX3" fmla="*/ 0 w 206628"/>
                <a:gd name="connsiteY3" fmla="*/ 0 h 165303"/>
                <a:gd name="connsiteX4" fmla="*/ 0 w 206628"/>
                <a:gd name="connsiteY4" fmla="*/ 152079 h 165303"/>
                <a:gd name="connsiteX5" fmla="*/ 13224 w 206628"/>
                <a:gd name="connsiteY5" fmla="*/ 165303 h 165303"/>
                <a:gd name="connsiteX6" fmla="*/ 145467 w 206628"/>
                <a:gd name="connsiteY6" fmla="*/ 165303 h 165303"/>
                <a:gd name="connsiteX7" fmla="*/ 158691 w 206628"/>
                <a:gd name="connsiteY7" fmla="*/ 152079 h 165303"/>
                <a:gd name="connsiteX8" fmla="*/ 158691 w 206628"/>
                <a:gd name="connsiteY8" fmla="*/ 120671 h 165303"/>
                <a:gd name="connsiteX9" fmla="*/ 206629 w 206628"/>
                <a:gd name="connsiteY9" fmla="*/ 70089 h 165303"/>
                <a:gd name="connsiteX10" fmla="*/ 159022 w 206628"/>
                <a:gd name="connsiteY10" fmla="*/ 100835 h 165303"/>
                <a:gd name="connsiteX11" fmla="*/ 159022 w 206628"/>
                <a:gd name="connsiteY11" fmla="*/ 39673 h 165303"/>
                <a:gd name="connsiteX12" fmla="*/ 187123 w 206628"/>
                <a:gd name="connsiteY12" fmla="*/ 70089 h 165303"/>
                <a:gd name="connsiteX13" fmla="*/ 159022 w 206628"/>
                <a:gd name="connsiteY13" fmla="*/ 100835 h 165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6628" h="165303">
                  <a:moveTo>
                    <a:pt x="206629" y="70089"/>
                  </a:moveTo>
                  <a:cubicBezTo>
                    <a:pt x="206629" y="42979"/>
                    <a:pt x="185470" y="21159"/>
                    <a:pt x="158691" y="19836"/>
                  </a:cubicBezTo>
                  <a:lnTo>
                    <a:pt x="158691" y="0"/>
                  </a:lnTo>
                  <a:lnTo>
                    <a:pt x="0" y="0"/>
                  </a:lnTo>
                  <a:lnTo>
                    <a:pt x="0" y="152079"/>
                  </a:lnTo>
                  <a:cubicBezTo>
                    <a:pt x="0" y="159352"/>
                    <a:pt x="5951" y="165303"/>
                    <a:pt x="13224" y="165303"/>
                  </a:cubicBezTo>
                  <a:lnTo>
                    <a:pt x="145467" y="165303"/>
                  </a:lnTo>
                  <a:cubicBezTo>
                    <a:pt x="152740" y="165303"/>
                    <a:pt x="158691" y="159352"/>
                    <a:pt x="158691" y="152079"/>
                  </a:cubicBezTo>
                  <a:lnTo>
                    <a:pt x="158691" y="120671"/>
                  </a:lnTo>
                  <a:cubicBezTo>
                    <a:pt x="185470" y="119349"/>
                    <a:pt x="206629" y="97198"/>
                    <a:pt x="206629" y="70089"/>
                  </a:cubicBezTo>
                  <a:close/>
                  <a:moveTo>
                    <a:pt x="159022" y="100835"/>
                  </a:moveTo>
                  <a:lnTo>
                    <a:pt x="159022" y="39673"/>
                  </a:lnTo>
                  <a:cubicBezTo>
                    <a:pt x="174891" y="40995"/>
                    <a:pt x="187123" y="54219"/>
                    <a:pt x="187123" y="70089"/>
                  </a:cubicBezTo>
                  <a:cubicBezTo>
                    <a:pt x="187123" y="85958"/>
                    <a:pt x="174560" y="99512"/>
                    <a:pt x="159022" y="100835"/>
                  </a:cubicBezTo>
                  <a:close/>
                </a:path>
              </a:pathLst>
            </a:custGeom>
            <a:solidFill>
              <a:schemeClr val="accent5">
                <a:lumMod val="60000"/>
                <a:lumOff val="40000"/>
              </a:schemeClr>
            </a:solidFill>
            <a:ln w="32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42249773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4000" advTm="2700">
        <p159:morph option="byObject"/>
      </p:transition>
    </mc:Choice>
    <mc:Fallback xmlns="">
      <p:transition spd="slow" advTm="2700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8B3AA-C4E4-B141-2720-F4E8FDFCF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7755492A-AB10-3199-3C17-0C653EB2CF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8446" y="1615849"/>
            <a:ext cx="7512938" cy="6210097"/>
          </a:xfrm>
        </p:spPr>
        <p:txBody>
          <a:bodyPr>
            <a:noAutofit/>
          </a:bodyPr>
          <a:lstStyle/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"properties":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coffeeBeansLeft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"title":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"Remaining Coffee Beans"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"description":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"Amount of remaining coffee beans in grams"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"type":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"number"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"minimum":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"maximum":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500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</a:t>
            </a:r>
            <a:r>
              <a:rPr lang="en-US" sz="1600" dirty="0" err="1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true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"observable":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false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"forms":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 ... 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"actions":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brewCoffee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"title":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"Brew Coffee"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"description":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"Starts brewing a cup of coffee"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"input":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"type":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"object"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"properties":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"size":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"type":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"string"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enum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["small", "medium", "large"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},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"forms":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 ... 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"events":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lowOnWater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 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"title":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"Low Water Level"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"forms":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 ... 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67E6DD0-91FB-FE6A-643B-6C6268796995}"/>
              </a:ext>
            </a:extLst>
          </p:cNvPr>
          <p:cNvGrpSpPr/>
          <p:nvPr/>
        </p:nvGrpSpPr>
        <p:grpSpPr>
          <a:xfrm>
            <a:off x="8837182" y="1735762"/>
            <a:ext cx="2425178" cy="3386475"/>
            <a:chOff x="974627" y="2611041"/>
            <a:chExt cx="520902" cy="727378"/>
          </a:xfrm>
          <a:solidFill>
            <a:schemeClr val="tx2"/>
          </a:solidFill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1E54EB84-3B3B-2A5F-7723-D0FD586C3EDD}"/>
                </a:ext>
              </a:extLst>
            </p:cNvPr>
            <p:cNvSpPr/>
            <p:nvPr/>
          </p:nvSpPr>
          <p:spPr>
            <a:xfrm>
              <a:off x="974627" y="2611041"/>
              <a:ext cx="520902" cy="727378"/>
            </a:xfrm>
            <a:custGeom>
              <a:avLst/>
              <a:gdLst>
                <a:gd name="connsiteX0" fmla="*/ 58472 w 798363"/>
                <a:gd name="connsiteY0" fmla="*/ 0 h 1032987"/>
                <a:gd name="connsiteX1" fmla="*/ 292354 w 798363"/>
                <a:gd name="connsiteY1" fmla="*/ 0 h 1032987"/>
                <a:gd name="connsiteX2" fmla="*/ 292359 w 798363"/>
                <a:gd name="connsiteY2" fmla="*/ 1 h 1032987"/>
                <a:gd name="connsiteX3" fmla="*/ 622950 w 798363"/>
                <a:gd name="connsiteY3" fmla="*/ 1 h 1032987"/>
                <a:gd name="connsiteX4" fmla="*/ 798363 w 798363"/>
                <a:gd name="connsiteY4" fmla="*/ 175414 h 1032987"/>
                <a:gd name="connsiteX5" fmla="*/ 622950 w 798363"/>
                <a:gd name="connsiteY5" fmla="*/ 350827 h 1032987"/>
                <a:gd name="connsiteX6" fmla="*/ 562765 w 798363"/>
                <a:gd name="connsiteY6" fmla="*/ 350827 h 1032987"/>
                <a:gd name="connsiteX7" fmla="*/ 562765 w 798363"/>
                <a:gd name="connsiteY7" fmla="*/ 503174 h 1032987"/>
                <a:gd name="connsiteX8" fmla="*/ 549447 w 798363"/>
                <a:gd name="connsiteY8" fmla="*/ 516492 h 1032987"/>
                <a:gd name="connsiteX9" fmla="*/ 496174 w 798363"/>
                <a:gd name="connsiteY9" fmla="*/ 516492 h 1032987"/>
                <a:gd name="connsiteX10" fmla="*/ 482856 w 798363"/>
                <a:gd name="connsiteY10" fmla="*/ 503174 h 1032987"/>
                <a:gd name="connsiteX11" fmla="*/ 482856 w 798363"/>
                <a:gd name="connsiteY11" fmla="*/ 350827 h 1032987"/>
                <a:gd name="connsiteX12" fmla="*/ 350826 w 798363"/>
                <a:gd name="connsiteY12" fmla="*/ 350827 h 1032987"/>
                <a:gd name="connsiteX13" fmla="*/ 350826 w 798363"/>
                <a:gd name="connsiteY13" fmla="*/ 858878 h 1032987"/>
                <a:gd name="connsiteX14" fmla="*/ 765662 w 798363"/>
                <a:gd name="connsiteY14" fmla="*/ 858878 h 1032987"/>
                <a:gd name="connsiteX15" fmla="*/ 794681 w 798363"/>
                <a:gd name="connsiteY15" fmla="*/ 887897 h 1032987"/>
                <a:gd name="connsiteX16" fmla="*/ 794681 w 798363"/>
                <a:gd name="connsiteY16" fmla="*/ 1003968 h 1032987"/>
                <a:gd name="connsiteX17" fmla="*/ 765662 w 798363"/>
                <a:gd name="connsiteY17" fmla="*/ 1032987 h 1032987"/>
                <a:gd name="connsiteX18" fmla="*/ 292357 w 798363"/>
                <a:gd name="connsiteY18" fmla="*/ 1032987 h 1032987"/>
                <a:gd name="connsiteX19" fmla="*/ 292354 w 798363"/>
                <a:gd name="connsiteY19" fmla="*/ 1032987 h 1032987"/>
                <a:gd name="connsiteX20" fmla="*/ 58472 w 798363"/>
                <a:gd name="connsiteY20" fmla="*/ 1032987 h 1032987"/>
                <a:gd name="connsiteX21" fmla="*/ 58470 w 798363"/>
                <a:gd name="connsiteY21" fmla="*/ 1032987 h 1032987"/>
                <a:gd name="connsiteX22" fmla="*/ 30592 w 798363"/>
                <a:gd name="connsiteY22" fmla="*/ 1032987 h 1032987"/>
                <a:gd name="connsiteX23" fmla="*/ 1573 w 798363"/>
                <a:gd name="connsiteY23" fmla="*/ 1003968 h 1032987"/>
                <a:gd name="connsiteX24" fmla="*/ 1573 w 798363"/>
                <a:gd name="connsiteY24" fmla="*/ 982304 h 1032987"/>
                <a:gd name="connsiteX25" fmla="*/ 0 w 798363"/>
                <a:gd name="connsiteY25" fmla="*/ 974515 h 1032987"/>
                <a:gd name="connsiteX26" fmla="*/ 0 w 798363"/>
                <a:gd name="connsiteY26" fmla="*/ 58472 h 1032987"/>
                <a:gd name="connsiteX27" fmla="*/ 58472 w 798363"/>
                <a:gd name="connsiteY27" fmla="*/ 0 h 1032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798363" h="1032987">
                  <a:moveTo>
                    <a:pt x="58472" y="0"/>
                  </a:moveTo>
                  <a:lnTo>
                    <a:pt x="292354" y="0"/>
                  </a:lnTo>
                  <a:lnTo>
                    <a:pt x="292359" y="1"/>
                  </a:lnTo>
                  <a:lnTo>
                    <a:pt x="622950" y="1"/>
                  </a:lnTo>
                  <a:cubicBezTo>
                    <a:pt x="719828" y="1"/>
                    <a:pt x="798363" y="78536"/>
                    <a:pt x="798363" y="175414"/>
                  </a:cubicBezTo>
                  <a:cubicBezTo>
                    <a:pt x="798363" y="272292"/>
                    <a:pt x="719828" y="350827"/>
                    <a:pt x="622950" y="350827"/>
                  </a:cubicBezTo>
                  <a:lnTo>
                    <a:pt x="562765" y="350827"/>
                  </a:lnTo>
                  <a:lnTo>
                    <a:pt x="562765" y="503174"/>
                  </a:lnTo>
                  <a:cubicBezTo>
                    <a:pt x="562765" y="510529"/>
                    <a:pt x="556802" y="516492"/>
                    <a:pt x="549447" y="516492"/>
                  </a:cubicBezTo>
                  <a:lnTo>
                    <a:pt x="496174" y="516492"/>
                  </a:lnTo>
                  <a:cubicBezTo>
                    <a:pt x="488819" y="516492"/>
                    <a:pt x="482856" y="510529"/>
                    <a:pt x="482856" y="503174"/>
                  </a:cubicBezTo>
                  <a:lnTo>
                    <a:pt x="482856" y="350827"/>
                  </a:lnTo>
                  <a:lnTo>
                    <a:pt x="350826" y="350827"/>
                  </a:lnTo>
                  <a:lnTo>
                    <a:pt x="350826" y="858878"/>
                  </a:lnTo>
                  <a:lnTo>
                    <a:pt x="765662" y="858878"/>
                  </a:lnTo>
                  <a:cubicBezTo>
                    <a:pt x="781689" y="858878"/>
                    <a:pt x="794681" y="871870"/>
                    <a:pt x="794681" y="887897"/>
                  </a:cubicBezTo>
                  <a:lnTo>
                    <a:pt x="794681" y="1003968"/>
                  </a:lnTo>
                  <a:cubicBezTo>
                    <a:pt x="794681" y="1019995"/>
                    <a:pt x="781689" y="1032987"/>
                    <a:pt x="765662" y="1032987"/>
                  </a:cubicBezTo>
                  <a:lnTo>
                    <a:pt x="292357" y="1032987"/>
                  </a:lnTo>
                  <a:lnTo>
                    <a:pt x="292354" y="1032987"/>
                  </a:lnTo>
                  <a:lnTo>
                    <a:pt x="58472" y="1032987"/>
                  </a:lnTo>
                  <a:lnTo>
                    <a:pt x="58470" y="1032987"/>
                  </a:lnTo>
                  <a:lnTo>
                    <a:pt x="30592" y="1032987"/>
                  </a:lnTo>
                  <a:cubicBezTo>
                    <a:pt x="14565" y="1032987"/>
                    <a:pt x="1573" y="1019995"/>
                    <a:pt x="1573" y="1003968"/>
                  </a:cubicBezTo>
                  <a:lnTo>
                    <a:pt x="1573" y="982304"/>
                  </a:lnTo>
                  <a:lnTo>
                    <a:pt x="0" y="974515"/>
                  </a:lnTo>
                  <a:lnTo>
                    <a:pt x="0" y="58472"/>
                  </a:lnTo>
                  <a:cubicBezTo>
                    <a:pt x="0" y="26179"/>
                    <a:pt x="26179" y="0"/>
                    <a:pt x="58472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8293BB86-8E73-D5B1-5B7E-2657A09D0F19}"/>
                </a:ext>
              </a:extLst>
            </p:cNvPr>
            <p:cNvSpPr/>
            <p:nvPr/>
          </p:nvSpPr>
          <p:spPr>
            <a:xfrm>
              <a:off x="1254841" y="3042122"/>
              <a:ext cx="206628" cy="165303"/>
            </a:xfrm>
            <a:custGeom>
              <a:avLst/>
              <a:gdLst>
                <a:gd name="connsiteX0" fmla="*/ 206629 w 206628"/>
                <a:gd name="connsiteY0" fmla="*/ 70089 h 165303"/>
                <a:gd name="connsiteX1" fmla="*/ 158691 w 206628"/>
                <a:gd name="connsiteY1" fmla="*/ 19836 h 165303"/>
                <a:gd name="connsiteX2" fmla="*/ 158691 w 206628"/>
                <a:gd name="connsiteY2" fmla="*/ 0 h 165303"/>
                <a:gd name="connsiteX3" fmla="*/ 0 w 206628"/>
                <a:gd name="connsiteY3" fmla="*/ 0 h 165303"/>
                <a:gd name="connsiteX4" fmla="*/ 0 w 206628"/>
                <a:gd name="connsiteY4" fmla="*/ 152079 h 165303"/>
                <a:gd name="connsiteX5" fmla="*/ 13224 w 206628"/>
                <a:gd name="connsiteY5" fmla="*/ 165303 h 165303"/>
                <a:gd name="connsiteX6" fmla="*/ 145467 w 206628"/>
                <a:gd name="connsiteY6" fmla="*/ 165303 h 165303"/>
                <a:gd name="connsiteX7" fmla="*/ 158691 w 206628"/>
                <a:gd name="connsiteY7" fmla="*/ 152079 h 165303"/>
                <a:gd name="connsiteX8" fmla="*/ 158691 w 206628"/>
                <a:gd name="connsiteY8" fmla="*/ 120671 h 165303"/>
                <a:gd name="connsiteX9" fmla="*/ 206629 w 206628"/>
                <a:gd name="connsiteY9" fmla="*/ 70089 h 165303"/>
                <a:gd name="connsiteX10" fmla="*/ 159022 w 206628"/>
                <a:gd name="connsiteY10" fmla="*/ 100835 h 165303"/>
                <a:gd name="connsiteX11" fmla="*/ 159022 w 206628"/>
                <a:gd name="connsiteY11" fmla="*/ 39673 h 165303"/>
                <a:gd name="connsiteX12" fmla="*/ 187123 w 206628"/>
                <a:gd name="connsiteY12" fmla="*/ 70089 h 165303"/>
                <a:gd name="connsiteX13" fmla="*/ 159022 w 206628"/>
                <a:gd name="connsiteY13" fmla="*/ 100835 h 165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6628" h="165303">
                  <a:moveTo>
                    <a:pt x="206629" y="70089"/>
                  </a:moveTo>
                  <a:cubicBezTo>
                    <a:pt x="206629" y="42979"/>
                    <a:pt x="185470" y="21159"/>
                    <a:pt x="158691" y="19836"/>
                  </a:cubicBezTo>
                  <a:lnTo>
                    <a:pt x="158691" y="0"/>
                  </a:lnTo>
                  <a:lnTo>
                    <a:pt x="0" y="0"/>
                  </a:lnTo>
                  <a:lnTo>
                    <a:pt x="0" y="152079"/>
                  </a:lnTo>
                  <a:cubicBezTo>
                    <a:pt x="0" y="159352"/>
                    <a:pt x="5951" y="165303"/>
                    <a:pt x="13224" y="165303"/>
                  </a:cubicBezTo>
                  <a:lnTo>
                    <a:pt x="145467" y="165303"/>
                  </a:lnTo>
                  <a:cubicBezTo>
                    <a:pt x="152740" y="165303"/>
                    <a:pt x="158691" y="159352"/>
                    <a:pt x="158691" y="152079"/>
                  </a:cubicBezTo>
                  <a:lnTo>
                    <a:pt x="158691" y="120671"/>
                  </a:lnTo>
                  <a:cubicBezTo>
                    <a:pt x="185470" y="119349"/>
                    <a:pt x="206629" y="97198"/>
                    <a:pt x="206629" y="70089"/>
                  </a:cubicBezTo>
                  <a:close/>
                  <a:moveTo>
                    <a:pt x="159022" y="100835"/>
                  </a:moveTo>
                  <a:lnTo>
                    <a:pt x="159022" y="39673"/>
                  </a:lnTo>
                  <a:cubicBezTo>
                    <a:pt x="174891" y="40995"/>
                    <a:pt x="187123" y="54219"/>
                    <a:pt x="187123" y="70089"/>
                  </a:cubicBezTo>
                  <a:cubicBezTo>
                    <a:pt x="187123" y="85958"/>
                    <a:pt x="174560" y="99512"/>
                    <a:pt x="159022" y="100835"/>
                  </a:cubicBezTo>
                  <a:close/>
                </a:path>
              </a:pathLst>
            </a:custGeom>
            <a:solidFill>
              <a:schemeClr val="accent5">
                <a:lumMod val="60000"/>
                <a:lumOff val="40000"/>
              </a:schemeClr>
            </a:solidFill>
            <a:ln w="32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1605815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5000">
        <p159:morph option="byObject"/>
      </p:transition>
    </mc:Choice>
    <mc:Fallback xmlns="">
      <p:transition spd="slow" advTm="5000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B4CE3F-028E-C8A3-BDAC-C207AF166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F443DD1-FD4F-3DB7-EB1B-838633AF7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8446" y="1615849"/>
            <a:ext cx="7512938" cy="6210097"/>
          </a:xfrm>
        </p:spPr>
        <p:txBody>
          <a:bodyPr>
            <a:noAutofit/>
          </a:bodyPr>
          <a:lstStyle/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"properties":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coffeeBeansLeft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"title":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"Remaining Coffee Beans"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"description":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"Amount of remaining coffee beans in grams"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"type":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"number"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"minimum":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"maximum":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500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</a:t>
            </a:r>
            <a:r>
              <a:rPr lang="en-US" sz="1600" dirty="0" err="1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true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"observable":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false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"forms":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 ... 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"actions":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"</a:t>
            </a:r>
            <a:r>
              <a:rPr lang="en-US" sz="1600" dirty="0" err="1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brewCoffee</a:t>
            </a: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"title": "Brew Coffee",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"description": "Starts brewing a cup of coffee",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"input":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"type": "object",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"properties":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"size":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"type": "string",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"</a:t>
            </a:r>
            <a:r>
              <a:rPr lang="en-US" sz="1600" dirty="0" err="1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enum</a:t>
            </a: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["small", "medium", "large"]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},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"forms": [ ... 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"events":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"</a:t>
            </a:r>
            <a:r>
              <a:rPr lang="en-US" sz="1600" dirty="0" err="1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lowOnWater</a:t>
            </a: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{ 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"title": "Low Water Level",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"forms": [ ... 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03E28B9-5075-456A-EF76-4F85BC1B24FC}"/>
              </a:ext>
            </a:extLst>
          </p:cNvPr>
          <p:cNvGrpSpPr/>
          <p:nvPr/>
        </p:nvGrpSpPr>
        <p:grpSpPr>
          <a:xfrm>
            <a:off x="8837182" y="1735762"/>
            <a:ext cx="2425178" cy="3386475"/>
            <a:chOff x="974627" y="2611041"/>
            <a:chExt cx="520902" cy="727378"/>
          </a:xfrm>
          <a:solidFill>
            <a:schemeClr val="tx2"/>
          </a:solidFill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66483F4E-FAA6-C633-A235-FF12DD0721F0}"/>
                </a:ext>
              </a:extLst>
            </p:cNvPr>
            <p:cNvSpPr/>
            <p:nvPr/>
          </p:nvSpPr>
          <p:spPr>
            <a:xfrm>
              <a:off x="974627" y="2611041"/>
              <a:ext cx="520902" cy="727378"/>
            </a:xfrm>
            <a:custGeom>
              <a:avLst/>
              <a:gdLst>
                <a:gd name="connsiteX0" fmla="*/ 58472 w 798363"/>
                <a:gd name="connsiteY0" fmla="*/ 0 h 1032987"/>
                <a:gd name="connsiteX1" fmla="*/ 292354 w 798363"/>
                <a:gd name="connsiteY1" fmla="*/ 0 h 1032987"/>
                <a:gd name="connsiteX2" fmla="*/ 292359 w 798363"/>
                <a:gd name="connsiteY2" fmla="*/ 1 h 1032987"/>
                <a:gd name="connsiteX3" fmla="*/ 622950 w 798363"/>
                <a:gd name="connsiteY3" fmla="*/ 1 h 1032987"/>
                <a:gd name="connsiteX4" fmla="*/ 798363 w 798363"/>
                <a:gd name="connsiteY4" fmla="*/ 175414 h 1032987"/>
                <a:gd name="connsiteX5" fmla="*/ 622950 w 798363"/>
                <a:gd name="connsiteY5" fmla="*/ 350827 h 1032987"/>
                <a:gd name="connsiteX6" fmla="*/ 562765 w 798363"/>
                <a:gd name="connsiteY6" fmla="*/ 350827 h 1032987"/>
                <a:gd name="connsiteX7" fmla="*/ 562765 w 798363"/>
                <a:gd name="connsiteY7" fmla="*/ 503174 h 1032987"/>
                <a:gd name="connsiteX8" fmla="*/ 549447 w 798363"/>
                <a:gd name="connsiteY8" fmla="*/ 516492 h 1032987"/>
                <a:gd name="connsiteX9" fmla="*/ 496174 w 798363"/>
                <a:gd name="connsiteY9" fmla="*/ 516492 h 1032987"/>
                <a:gd name="connsiteX10" fmla="*/ 482856 w 798363"/>
                <a:gd name="connsiteY10" fmla="*/ 503174 h 1032987"/>
                <a:gd name="connsiteX11" fmla="*/ 482856 w 798363"/>
                <a:gd name="connsiteY11" fmla="*/ 350827 h 1032987"/>
                <a:gd name="connsiteX12" fmla="*/ 350826 w 798363"/>
                <a:gd name="connsiteY12" fmla="*/ 350827 h 1032987"/>
                <a:gd name="connsiteX13" fmla="*/ 350826 w 798363"/>
                <a:gd name="connsiteY13" fmla="*/ 858878 h 1032987"/>
                <a:gd name="connsiteX14" fmla="*/ 765662 w 798363"/>
                <a:gd name="connsiteY14" fmla="*/ 858878 h 1032987"/>
                <a:gd name="connsiteX15" fmla="*/ 794681 w 798363"/>
                <a:gd name="connsiteY15" fmla="*/ 887897 h 1032987"/>
                <a:gd name="connsiteX16" fmla="*/ 794681 w 798363"/>
                <a:gd name="connsiteY16" fmla="*/ 1003968 h 1032987"/>
                <a:gd name="connsiteX17" fmla="*/ 765662 w 798363"/>
                <a:gd name="connsiteY17" fmla="*/ 1032987 h 1032987"/>
                <a:gd name="connsiteX18" fmla="*/ 292357 w 798363"/>
                <a:gd name="connsiteY18" fmla="*/ 1032987 h 1032987"/>
                <a:gd name="connsiteX19" fmla="*/ 292354 w 798363"/>
                <a:gd name="connsiteY19" fmla="*/ 1032987 h 1032987"/>
                <a:gd name="connsiteX20" fmla="*/ 58472 w 798363"/>
                <a:gd name="connsiteY20" fmla="*/ 1032987 h 1032987"/>
                <a:gd name="connsiteX21" fmla="*/ 58470 w 798363"/>
                <a:gd name="connsiteY21" fmla="*/ 1032987 h 1032987"/>
                <a:gd name="connsiteX22" fmla="*/ 30592 w 798363"/>
                <a:gd name="connsiteY22" fmla="*/ 1032987 h 1032987"/>
                <a:gd name="connsiteX23" fmla="*/ 1573 w 798363"/>
                <a:gd name="connsiteY23" fmla="*/ 1003968 h 1032987"/>
                <a:gd name="connsiteX24" fmla="*/ 1573 w 798363"/>
                <a:gd name="connsiteY24" fmla="*/ 982304 h 1032987"/>
                <a:gd name="connsiteX25" fmla="*/ 0 w 798363"/>
                <a:gd name="connsiteY25" fmla="*/ 974515 h 1032987"/>
                <a:gd name="connsiteX26" fmla="*/ 0 w 798363"/>
                <a:gd name="connsiteY26" fmla="*/ 58472 h 1032987"/>
                <a:gd name="connsiteX27" fmla="*/ 58472 w 798363"/>
                <a:gd name="connsiteY27" fmla="*/ 0 h 1032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798363" h="1032987">
                  <a:moveTo>
                    <a:pt x="58472" y="0"/>
                  </a:moveTo>
                  <a:lnTo>
                    <a:pt x="292354" y="0"/>
                  </a:lnTo>
                  <a:lnTo>
                    <a:pt x="292359" y="1"/>
                  </a:lnTo>
                  <a:lnTo>
                    <a:pt x="622950" y="1"/>
                  </a:lnTo>
                  <a:cubicBezTo>
                    <a:pt x="719828" y="1"/>
                    <a:pt x="798363" y="78536"/>
                    <a:pt x="798363" y="175414"/>
                  </a:cubicBezTo>
                  <a:cubicBezTo>
                    <a:pt x="798363" y="272292"/>
                    <a:pt x="719828" y="350827"/>
                    <a:pt x="622950" y="350827"/>
                  </a:cubicBezTo>
                  <a:lnTo>
                    <a:pt x="562765" y="350827"/>
                  </a:lnTo>
                  <a:lnTo>
                    <a:pt x="562765" y="503174"/>
                  </a:lnTo>
                  <a:cubicBezTo>
                    <a:pt x="562765" y="510529"/>
                    <a:pt x="556802" y="516492"/>
                    <a:pt x="549447" y="516492"/>
                  </a:cubicBezTo>
                  <a:lnTo>
                    <a:pt x="496174" y="516492"/>
                  </a:lnTo>
                  <a:cubicBezTo>
                    <a:pt x="488819" y="516492"/>
                    <a:pt x="482856" y="510529"/>
                    <a:pt x="482856" y="503174"/>
                  </a:cubicBezTo>
                  <a:lnTo>
                    <a:pt x="482856" y="350827"/>
                  </a:lnTo>
                  <a:lnTo>
                    <a:pt x="350826" y="350827"/>
                  </a:lnTo>
                  <a:lnTo>
                    <a:pt x="350826" y="858878"/>
                  </a:lnTo>
                  <a:lnTo>
                    <a:pt x="765662" y="858878"/>
                  </a:lnTo>
                  <a:cubicBezTo>
                    <a:pt x="781689" y="858878"/>
                    <a:pt x="794681" y="871870"/>
                    <a:pt x="794681" y="887897"/>
                  </a:cubicBezTo>
                  <a:lnTo>
                    <a:pt x="794681" y="1003968"/>
                  </a:lnTo>
                  <a:cubicBezTo>
                    <a:pt x="794681" y="1019995"/>
                    <a:pt x="781689" y="1032987"/>
                    <a:pt x="765662" y="1032987"/>
                  </a:cubicBezTo>
                  <a:lnTo>
                    <a:pt x="292357" y="1032987"/>
                  </a:lnTo>
                  <a:lnTo>
                    <a:pt x="292354" y="1032987"/>
                  </a:lnTo>
                  <a:lnTo>
                    <a:pt x="58472" y="1032987"/>
                  </a:lnTo>
                  <a:lnTo>
                    <a:pt x="58470" y="1032987"/>
                  </a:lnTo>
                  <a:lnTo>
                    <a:pt x="30592" y="1032987"/>
                  </a:lnTo>
                  <a:cubicBezTo>
                    <a:pt x="14565" y="1032987"/>
                    <a:pt x="1573" y="1019995"/>
                    <a:pt x="1573" y="1003968"/>
                  </a:cubicBezTo>
                  <a:lnTo>
                    <a:pt x="1573" y="982304"/>
                  </a:lnTo>
                  <a:lnTo>
                    <a:pt x="0" y="974515"/>
                  </a:lnTo>
                  <a:lnTo>
                    <a:pt x="0" y="58472"/>
                  </a:lnTo>
                  <a:cubicBezTo>
                    <a:pt x="0" y="26179"/>
                    <a:pt x="26179" y="0"/>
                    <a:pt x="58472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7371710-DF32-E661-FC86-B3F3BD642D12}"/>
                </a:ext>
              </a:extLst>
            </p:cNvPr>
            <p:cNvSpPr/>
            <p:nvPr/>
          </p:nvSpPr>
          <p:spPr>
            <a:xfrm>
              <a:off x="1254841" y="3042122"/>
              <a:ext cx="206628" cy="165303"/>
            </a:xfrm>
            <a:custGeom>
              <a:avLst/>
              <a:gdLst>
                <a:gd name="connsiteX0" fmla="*/ 206629 w 206628"/>
                <a:gd name="connsiteY0" fmla="*/ 70089 h 165303"/>
                <a:gd name="connsiteX1" fmla="*/ 158691 w 206628"/>
                <a:gd name="connsiteY1" fmla="*/ 19836 h 165303"/>
                <a:gd name="connsiteX2" fmla="*/ 158691 w 206628"/>
                <a:gd name="connsiteY2" fmla="*/ 0 h 165303"/>
                <a:gd name="connsiteX3" fmla="*/ 0 w 206628"/>
                <a:gd name="connsiteY3" fmla="*/ 0 h 165303"/>
                <a:gd name="connsiteX4" fmla="*/ 0 w 206628"/>
                <a:gd name="connsiteY4" fmla="*/ 152079 h 165303"/>
                <a:gd name="connsiteX5" fmla="*/ 13224 w 206628"/>
                <a:gd name="connsiteY5" fmla="*/ 165303 h 165303"/>
                <a:gd name="connsiteX6" fmla="*/ 145467 w 206628"/>
                <a:gd name="connsiteY6" fmla="*/ 165303 h 165303"/>
                <a:gd name="connsiteX7" fmla="*/ 158691 w 206628"/>
                <a:gd name="connsiteY7" fmla="*/ 152079 h 165303"/>
                <a:gd name="connsiteX8" fmla="*/ 158691 w 206628"/>
                <a:gd name="connsiteY8" fmla="*/ 120671 h 165303"/>
                <a:gd name="connsiteX9" fmla="*/ 206629 w 206628"/>
                <a:gd name="connsiteY9" fmla="*/ 70089 h 165303"/>
                <a:gd name="connsiteX10" fmla="*/ 159022 w 206628"/>
                <a:gd name="connsiteY10" fmla="*/ 100835 h 165303"/>
                <a:gd name="connsiteX11" fmla="*/ 159022 w 206628"/>
                <a:gd name="connsiteY11" fmla="*/ 39673 h 165303"/>
                <a:gd name="connsiteX12" fmla="*/ 187123 w 206628"/>
                <a:gd name="connsiteY12" fmla="*/ 70089 h 165303"/>
                <a:gd name="connsiteX13" fmla="*/ 159022 w 206628"/>
                <a:gd name="connsiteY13" fmla="*/ 100835 h 165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6628" h="165303">
                  <a:moveTo>
                    <a:pt x="206629" y="70089"/>
                  </a:moveTo>
                  <a:cubicBezTo>
                    <a:pt x="206629" y="42979"/>
                    <a:pt x="185470" y="21159"/>
                    <a:pt x="158691" y="19836"/>
                  </a:cubicBezTo>
                  <a:lnTo>
                    <a:pt x="158691" y="0"/>
                  </a:lnTo>
                  <a:lnTo>
                    <a:pt x="0" y="0"/>
                  </a:lnTo>
                  <a:lnTo>
                    <a:pt x="0" y="152079"/>
                  </a:lnTo>
                  <a:cubicBezTo>
                    <a:pt x="0" y="159352"/>
                    <a:pt x="5951" y="165303"/>
                    <a:pt x="13224" y="165303"/>
                  </a:cubicBezTo>
                  <a:lnTo>
                    <a:pt x="145467" y="165303"/>
                  </a:lnTo>
                  <a:cubicBezTo>
                    <a:pt x="152740" y="165303"/>
                    <a:pt x="158691" y="159352"/>
                    <a:pt x="158691" y="152079"/>
                  </a:cubicBezTo>
                  <a:lnTo>
                    <a:pt x="158691" y="120671"/>
                  </a:lnTo>
                  <a:cubicBezTo>
                    <a:pt x="185470" y="119349"/>
                    <a:pt x="206629" y="97198"/>
                    <a:pt x="206629" y="70089"/>
                  </a:cubicBezTo>
                  <a:close/>
                  <a:moveTo>
                    <a:pt x="159022" y="100835"/>
                  </a:moveTo>
                  <a:lnTo>
                    <a:pt x="159022" y="39673"/>
                  </a:lnTo>
                  <a:cubicBezTo>
                    <a:pt x="174891" y="40995"/>
                    <a:pt x="187123" y="54219"/>
                    <a:pt x="187123" y="70089"/>
                  </a:cubicBezTo>
                  <a:cubicBezTo>
                    <a:pt x="187123" y="85958"/>
                    <a:pt x="174560" y="99512"/>
                    <a:pt x="159022" y="100835"/>
                  </a:cubicBezTo>
                  <a:close/>
                </a:path>
              </a:pathLst>
            </a:custGeom>
            <a:solidFill>
              <a:schemeClr val="accent5">
                <a:lumMod val="60000"/>
                <a:lumOff val="40000"/>
              </a:schemeClr>
            </a:solidFill>
            <a:ln w="32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3477554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Tm="2600">
        <p159:morph option="byObject"/>
      </p:transition>
    </mc:Choice>
    <mc:Fallback xmlns="">
      <p:transition spd="slow" advTm="2600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855BC6-CEB0-94B4-D5E7-D9ED48F81E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60F533C-0AEA-E6F7-237E-484B1F12C4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8446" y="1615849"/>
            <a:ext cx="7512938" cy="6210097"/>
          </a:xfrm>
        </p:spPr>
        <p:txBody>
          <a:bodyPr>
            <a:noAutofit/>
          </a:bodyPr>
          <a:lstStyle/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"properties":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coffeeBeansLeft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"title":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"Remaining Coffee Beans"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"description":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"Amount of remaining coffee beans in grams"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"type":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"number"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"minimum":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"maximum":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500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</a:t>
            </a:r>
            <a:r>
              <a:rPr lang="en-US" sz="1600" dirty="0" err="1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true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"observable":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false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"forms":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 ... 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"actions":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"</a:t>
            </a:r>
            <a:r>
              <a:rPr lang="en-US" sz="1600" dirty="0" err="1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brewCoffee</a:t>
            </a: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"title": "Brew Coffee",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"description": "Starts brewing a cup of coffee",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"input":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"type": "object",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"properties":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"size":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"type": "string",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"</a:t>
            </a:r>
            <a:r>
              <a:rPr lang="en-US" sz="1600" dirty="0" err="1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enum</a:t>
            </a: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["small", "medium", "large"]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},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"forms": [ ... 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"events":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"</a:t>
            </a:r>
            <a:r>
              <a:rPr lang="en-US" sz="1600" dirty="0" err="1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lowOnWater</a:t>
            </a: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{ 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"title": "Low Water Level",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"forms": [ ... 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6FB59A7-038D-BC56-3FD9-3DCAA61347AB}"/>
              </a:ext>
            </a:extLst>
          </p:cNvPr>
          <p:cNvGrpSpPr/>
          <p:nvPr/>
        </p:nvGrpSpPr>
        <p:grpSpPr>
          <a:xfrm>
            <a:off x="8837182" y="1735762"/>
            <a:ext cx="2425178" cy="3386475"/>
            <a:chOff x="974627" y="2611041"/>
            <a:chExt cx="520902" cy="727378"/>
          </a:xfrm>
          <a:solidFill>
            <a:schemeClr val="tx2"/>
          </a:solidFill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4E5380A4-3250-8204-2BCB-7342ABBFA729}"/>
                </a:ext>
              </a:extLst>
            </p:cNvPr>
            <p:cNvSpPr/>
            <p:nvPr/>
          </p:nvSpPr>
          <p:spPr>
            <a:xfrm>
              <a:off x="974627" y="2611041"/>
              <a:ext cx="520902" cy="727378"/>
            </a:xfrm>
            <a:custGeom>
              <a:avLst/>
              <a:gdLst>
                <a:gd name="connsiteX0" fmla="*/ 58472 w 798363"/>
                <a:gd name="connsiteY0" fmla="*/ 0 h 1032987"/>
                <a:gd name="connsiteX1" fmla="*/ 292354 w 798363"/>
                <a:gd name="connsiteY1" fmla="*/ 0 h 1032987"/>
                <a:gd name="connsiteX2" fmla="*/ 292359 w 798363"/>
                <a:gd name="connsiteY2" fmla="*/ 1 h 1032987"/>
                <a:gd name="connsiteX3" fmla="*/ 622950 w 798363"/>
                <a:gd name="connsiteY3" fmla="*/ 1 h 1032987"/>
                <a:gd name="connsiteX4" fmla="*/ 798363 w 798363"/>
                <a:gd name="connsiteY4" fmla="*/ 175414 h 1032987"/>
                <a:gd name="connsiteX5" fmla="*/ 622950 w 798363"/>
                <a:gd name="connsiteY5" fmla="*/ 350827 h 1032987"/>
                <a:gd name="connsiteX6" fmla="*/ 562765 w 798363"/>
                <a:gd name="connsiteY6" fmla="*/ 350827 h 1032987"/>
                <a:gd name="connsiteX7" fmla="*/ 562765 w 798363"/>
                <a:gd name="connsiteY7" fmla="*/ 503174 h 1032987"/>
                <a:gd name="connsiteX8" fmla="*/ 549447 w 798363"/>
                <a:gd name="connsiteY8" fmla="*/ 516492 h 1032987"/>
                <a:gd name="connsiteX9" fmla="*/ 496174 w 798363"/>
                <a:gd name="connsiteY9" fmla="*/ 516492 h 1032987"/>
                <a:gd name="connsiteX10" fmla="*/ 482856 w 798363"/>
                <a:gd name="connsiteY10" fmla="*/ 503174 h 1032987"/>
                <a:gd name="connsiteX11" fmla="*/ 482856 w 798363"/>
                <a:gd name="connsiteY11" fmla="*/ 350827 h 1032987"/>
                <a:gd name="connsiteX12" fmla="*/ 350826 w 798363"/>
                <a:gd name="connsiteY12" fmla="*/ 350827 h 1032987"/>
                <a:gd name="connsiteX13" fmla="*/ 350826 w 798363"/>
                <a:gd name="connsiteY13" fmla="*/ 858878 h 1032987"/>
                <a:gd name="connsiteX14" fmla="*/ 765662 w 798363"/>
                <a:gd name="connsiteY14" fmla="*/ 858878 h 1032987"/>
                <a:gd name="connsiteX15" fmla="*/ 794681 w 798363"/>
                <a:gd name="connsiteY15" fmla="*/ 887897 h 1032987"/>
                <a:gd name="connsiteX16" fmla="*/ 794681 w 798363"/>
                <a:gd name="connsiteY16" fmla="*/ 1003968 h 1032987"/>
                <a:gd name="connsiteX17" fmla="*/ 765662 w 798363"/>
                <a:gd name="connsiteY17" fmla="*/ 1032987 h 1032987"/>
                <a:gd name="connsiteX18" fmla="*/ 292357 w 798363"/>
                <a:gd name="connsiteY18" fmla="*/ 1032987 h 1032987"/>
                <a:gd name="connsiteX19" fmla="*/ 292354 w 798363"/>
                <a:gd name="connsiteY19" fmla="*/ 1032987 h 1032987"/>
                <a:gd name="connsiteX20" fmla="*/ 58472 w 798363"/>
                <a:gd name="connsiteY20" fmla="*/ 1032987 h 1032987"/>
                <a:gd name="connsiteX21" fmla="*/ 58470 w 798363"/>
                <a:gd name="connsiteY21" fmla="*/ 1032987 h 1032987"/>
                <a:gd name="connsiteX22" fmla="*/ 30592 w 798363"/>
                <a:gd name="connsiteY22" fmla="*/ 1032987 h 1032987"/>
                <a:gd name="connsiteX23" fmla="*/ 1573 w 798363"/>
                <a:gd name="connsiteY23" fmla="*/ 1003968 h 1032987"/>
                <a:gd name="connsiteX24" fmla="*/ 1573 w 798363"/>
                <a:gd name="connsiteY24" fmla="*/ 982304 h 1032987"/>
                <a:gd name="connsiteX25" fmla="*/ 0 w 798363"/>
                <a:gd name="connsiteY25" fmla="*/ 974515 h 1032987"/>
                <a:gd name="connsiteX26" fmla="*/ 0 w 798363"/>
                <a:gd name="connsiteY26" fmla="*/ 58472 h 1032987"/>
                <a:gd name="connsiteX27" fmla="*/ 58472 w 798363"/>
                <a:gd name="connsiteY27" fmla="*/ 0 h 1032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798363" h="1032987">
                  <a:moveTo>
                    <a:pt x="58472" y="0"/>
                  </a:moveTo>
                  <a:lnTo>
                    <a:pt x="292354" y="0"/>
                  </a:lnTo>
                  <a:lnTo>
                    <a:pt x="292359" y="1"/>
                  </a:lnTo>
                  <a:lnTo>
                    <a:pt x="622950" y="1"/>
                  </a:lnTo>
                  <a:cubicBezTo>
                    <a:pt x="719828" y="1"/>
                    <a:pt x="798363" y="78536"/>
                    <a:pt x="798363" y="175414"/>
                  </a:cubicBezTo>
                  <a:cubicBezTo>
                    <a:pt x="798363" y="272292"/>
                    <a:pt x="719828" y="350827"/>
                    <a:pt x="622950" y="350827"/>
                  </a:cubicBezTo>
                  <a:lnTo>
                    <a:pt x="562765" y="350827"/>
                  </a:lnTo>
                  <a:lnTo>
                    <a:pt x="562765" y="503174"/>
                  </a:lnTo>
                  <a:cubicBezTo>
                    <a:pt x="562765" y="510529"/>
                    <a:pt x="556802" y="516492"/>
                    <a:pt x="549447" y="516492"/>
                  </a:cubicBezTo>
                  <a:lnTo>
                    <a:pt x="496174" y="516492"/>
                  </a:lnTo>
                  <a:cubicBezTo>
                    <a:pt x="488819" y="516492"/>
                    <a:pt x="482856" y="510529"/>
                    <a:pt x="482856" y="503174"/>
                  </a:cubicBezTo>
                  <a:lnTo>
                    <a:pt x="482856" y="350827"/>
                  </a:lnTo>
                  <a:lnTo>
                    <a:pt x="350826" y="350827"/>
                  </a:lnTo>
                  <a:lnTo>
                    <a:pt x="350826" y="858878"/>
                  </a:lnTo>
                  <a:lnTo>
                    <a:pt x="765662" y="858878"/>
                  </a:lnTo>
                  <a:cubicBezTo>
                    <a:pt x="781689" y="858878"/>
                    <a:pt x="794681" y="871870"/>
                    <a:pt x="794681" y="887897"/>
                  </a:cubicBezTo>
                  <a:lnTo>
                    <a:pt x="794681" y="1003968"/>
                  </a:lnTo>
                  <a:cubicBezTo>
                    <a:pt x="794681" y="1019995"/>
                    <a:pt x="781689" y="1032987"/>
                    <a:pt x="765662" y="1032987"/>
                  </a:cubicBezTo>
                  <a:lnTo>
                    <a:pt x="292357" y="1032987"/>
                  </a:lnTo>
                  <a:lnTo>
                    <a:pt x="292354" y="1032987"/>
                  </a:lnTo>
                  <a:lnTo>
                    <a:pt x="58472" y="1032987"/>
                  </a:lnTo>
                  <a:lnTo>
                    <a:pt x="58470" y="1032987"/>
                  </a:lnTo>
                  <a:lnTo>
                    <a:pt x="30592" y="1032987"/>
                  </a:lnTo>
                  <a:cubicBezTo>
                    <a:pt x="14565" y="1032987"/>
                    <a:pt x="1573" y="1019995"/>
                    <a:pt x="1573" y="1003968"/>
                  </a:cubicBezTo>
                  <a:lnTo>
                    <a:pt x="1573" y="982304"/>
                  </a:lnTo>
                  <a:lnTo>
                    <a:pt x="0" y="974515"/>
                  </a:lnTo>
                  <a:lnTo>
                    <a:pt x="0" y="58472"/>
                  </a:lnTo>
                  <a:cubicBezTo>
                    <a:pt x="0" y="26179"/>
                    <a:pt x="26179" y="0"/>
                    <a:pt x="58472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08C63AC-B8FB-F46E-5473-9FC85E3E1C35}"/>
                </a:ext>
              </a:extLst>
            </p:cNvPr>
            <p:cNvSpPr/>
            <p:nvPr/>
          </p:nvSpPr>
          <p:spPr>
            <a:xfrm>
              <a:off x="1254841" y="3042122"/>
              <a:ext cx="206628" cy="165303"/>
            </a:xfrm>
            <a:custGeom>
              <a:avLst/>
              <a:gdLst>
                <a:gd name="connsiteX0" fmla="*/ 206629 w 206628"/>
                <a:gd name="connsiteY0" fmla="*/ 70089 h 165303"/>
                <a:gd name="connsiteX1" fmla="*/ 158691 w 206628"/>
                <a:gd name="connsiteY1" fmla="*/ 19836 h 165303"/>
                <a:gd name="connsiteX2" fmla="*/ 158691 w 206628"/>
                <a:gd name="connsiteY2" fmla="*/ 0 h 165303"/>
                <a:gd name="connsiteX3" fmla="*/ 0 w 206628"/>
                <a:gd name="connsiteY3" fmla="*/ 0 h 165303"/>
                <a:gd name="connsiteX4" fmla="*/ 0 w 206628"/>
                <a:gd name="connsiteY4" fmla="*/ 152079 h 165303"/>
                <a:gd name="connsiteX5" fmla="*/ 13224 w 206628"/>
                <a:gd name="connsiteY5" fmla="*/ 165303 h 165303"/>
                <a:gd name="connsiteX6" fmla="*/ 145467 w 206628"/>
                <a:gd name="connsiteY6" fmla="*/ 165303 h 165303"/>
                <a:gd name="connsiteX7" fmla="*/ 158691 w 206628"/>
                <a:gd name="connsiteY7" fmla="*/ 152079 h 165303"/>
                <a:gd name="connsiteX8" fmla="*/ 158691 w 206628"/>
                <a:gd name="connsiteY8" fmla="*/ 120671 h 165303"/>
                <a:gd name="connsiteX9" fmla="*/ 206629 w 206628"/>
                <a:gd name="connsiteY9" fmla="*/ 70089 h 165303"/>
                <a:gd name="connsiteX10" fmla="*/ 159022 w 206628"/>
                <a:gd name="connsiteY10" fmla="*/ 100835 h 165303"/>
                <a:gd name="connsiteX11" fmla="*/ 159022 w 206628"/>
                <a:gd name="connsiteY11" fmla="*/ 39673 h 165303"/>
                <a:gd name="connsiteX12" fmla="*/ 187123 w 206628"/>
                <a:gd name="connsiteY12" fmla="*/ 70089 h 165303"/>
                <a:gd name="connsiteX13" fmla="*/ 159022 w 206628"/>
                <a:gd name="connsiteY13" fmla="*/ 100835 h 165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6628" h="165303">
                  <a:moveTo>
                    <a:pt x="206629" y="70089"/>
                  </a:moveTo>
                  <a:cubicBezTo>
                    <a:pt x="206629" y="42979"/>
                    <a:pt x="185470" y="21159"/>
                    <a:pt x="158691" y="19836"/>
                  </a:cubicBezTo>
                  <a:lnTo>
                    <a:pt x="158691" y="0"/>
                  </a:lnTo>
                  <a:lnTo>
                    <a:pt x="0" y="0"/>
                  </a:lnTo>
                  <a:lnTo>
                    <a:pt x="0" y="152079"/>
                  </a:lnTo>
                  <a:cubicBezTo>
                    <a:pt x="0" y="159352"/>
                    <a:pt x="5951" y="165303"/>
                    <a:pt x="13224" y="165303"/>
                  </a:cubicBezTo>
                  <a:lnTo>
                    <a:pt x="145467" y="165303"/>
                  </a:lnTo>
                  <a:cubicBezTo>
                    <a:pt x="152740" y="165303"/>
                    <a:pt x="158691" y="159352"/>
                    <a:pt x="158691" y="152079"/>
                  </a:cubicBezTo>
                  <a:lnTo>
                    <a:pt x="158691" y="120671"/>
                  </a:lnTo>
                  <a:cubicBezTo>
                    <a:pt x="185470" y="119349"/>
                    <a:pt x="206629" y="97198"/>
                    <a:pt x="206629" y="70089"/>
                  </a:cubicBezTo>
                  <a:close/>
                  <a:moveTo>
                    <a:pt x="159022" y="100835"/>
                  </a:moveTo>
                  <a:lnTo>
                    <a:pt x="159022" y="39673"/>
                  </a:lnTo>
                  <a:cubicBezTo>
                    <a:pt x="174891" y="40995"/>
                    <a:pt x="187123" y="54219"/>
                    <a:pt x="187123" y="70089"/>
                  </a:cubicBezTo>
                  <a:cubicBezTo>
                    <a:pt x="187123" y="85958"/>
                    <a:pt x="174560" y="99512"/>
                    <a:pt x="159022" y="100835"/>
                  </a:cubicBezTo>
                  <a:close/>
                </a:path>
              </a:pathLst>
            </a:custGeom>
            <a:solidFill>
              <a:schemeClr val="accent5">
                <a:lumMod val="60000"/>
                <a:lumOff val="40000"/>
              </a:schemeClr>
            </a:solidFill>
            <a:ln w="32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EDF4E3F-FE7C-B642-7543-605040B90239}"/>
              </a:ext>
            </a:extLst>
          </p:cNvPr>
          <p:cNvGrpSpPr/>
          <p:nvPr/>
        </p:nvGrpSpPr>
        <p:grpSpPr>
          <a:xfrm>
            <a:off x="9843013" y="2095500"/>
            <a:ext cx="1101971" cy="437538"/>
            <a:chOff x="9843013" y="2095500"/>
            <a:chExt cx="1101971" cy="437538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062021AB-E399-31B5-7CDB-A9FF32058ADE}"/>
                </a:ext>
              </a:extLst>
            </p:cNvPr>
            <p:cNvSpPr/>
            <p:nvPr/>
          </p:nvSpPr>
          <p:spPr>
            <a:xfrm>
              <a:off x="9843013" y="2095500"/>
              <a:ext cx="1101971" cy="437538"/>
            </a:xfrm>
            <a:prstGeom prst="roundRect">
              <a:avLst>
                <a:gd name="adj" fmla="val 50000"/>
              </a:avLst>
            </a:prstGeom>
            <a:solidFill>
              <a:schemeClr val="accent3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4A8C5A7-170C-C0C1-0F5D-22620BC55BC2}"/>
                </a:ext>
              </a:extLst>
            </p:cNvPr>
            <p:cNvGrpSpPr/>
            <p:nvPr/>
          </p:nvGrpSpPr>
          <p:grpSpPr>
            <a:xfrm>
              <a:off x="9998060" y="2173688"/>
              <a:ext cx="791876" cy="281161"/>
              <a:chOff x="9931328" y="2153492"/>
              <a:chExt cx="941880" cy="334421"/>
            </a:xfrm>
          </p:grpSpPr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4475E6E3-2FA1-0219-1400-3C7DA03C7DCC}"/>
                  </a:ext>
                </a:extLst>
              </p:cNvPr>
              <p:cNvSpPr/>
              <p:nvPr/>
            </p:nvSpPr>
            <p:spPr>
              <a:xfrm rot="19951854">
                <a:off x="9931328" y="2160944"/>
                <a:ext cx="297563" cy="326969"/>
              </a:xfrm>
              <a:custGeom>
                <a:avLst/>
                <a:gdLst>
                  <a:gd name="connsiteX0" fmla="*/ 242170 w 297563"/>
                  <a:gd name="connsiteY0" fmla="*/ 17895 h 326969"/>
                  <a:gd name="connsiteX1" fmla="*/ 32972 w 297563"/>
                  <a:gd name="connsiteY1" fmla="*/ 89190 h 326969"/>
                  <a:gd name="connsiteX2" fmla="*/ 55384 w 297563"/>
                  <a:gd name="connsiteY2" fmla="*/ 309075 h 326969"/>
                  <a:gd name="connsiteX3" fmla="*/ 264591 w 297563"/>
                  <a:gd name="connsiteY3" fmla="*/ 237770 h 326969"/>
                  <a:gd name="connsiteX4" fmla="*/ 242170 w 297563"/>
                  <a:gd name="connsiteY4" fmla="*/ 17895 h 326969"/>
                  <a:gd name="connsiteX5" fmla="*/ 167770 w 297563"/>
                  <a:gd name="connsiteY5" fmla="*/ 162323 h 326969"/>
                  <a:gd name="connsiteX6" fmla="*/ 113277 w 297563"/>
                  <a:gd name="connsiteY6" fmla="*/ 288558 h 326969"/>
                  <a:gd name="connsiteX7" fmla="*/ 75958 w 297563"/>
                  <a:gd name="connsiteY7" fmla="*/ 277004 h 326969"/>
                  <a:gd name="connsiteX8" fmla="*/ 72968 w 297563"/>
                  <a:gd name="connsiteY8" fmla="*/ 274804 h 326969"/>
                  <a:gd name="connsiteX9" fmla="*/ 130756 w 297563"/>
                  <a:gd name="connsiteY9" fmla="*/ 153322 h 326969"/>
                  <a:gd name="connsiteX10" fmla="*/ 179047 w 297563"/>
                  <a:gd name="connsiteY10" fmla="*/ 38069 h 326969"/>
                  <a:gd name="connsiteX11" fmla="*/ 179457 w 297563"/>
                  <a:gd name="connsiteY11" fmla="*/ 38069 h 326969"/>
                  <a:gd name="connsiteX12" fmla="*/ 221596 w 297563"/>
                  <a:gd name="connsiteY12" fmla="*/ 49937 h 326969"/>
                  <a:gd name="connsiteX13" fmla="*/ 221958 w 297563"/>
                  <a:gd name="connsiteY13" fmla="*/ 50204 h 326969"/>
                  <a:gd name="connsiteX14" fmla="*/ 167770 w 297563"/>
                  <a:gd name="connsiteY14" fmla="*/ 162323 h 326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97563" h="326969">
                    <a:moveTo>
                      <a:pt x="242170" y="17895"/>
                    </a:moveTo>
                    <a:cubicBezTo>
                      <a:pt x="178209" y="-23138"/>
                      <a:pt x="84550" y="8789"/>
                      <a:pt x="32972" y="89190"/>
                    </a:cubicBezTo>
                    <a:cubicBezTo>
                      <a:pt x="-18606" y="169590"/>
                      <a:pt x="-8576" y="268041"/>
                      <a:pt x="55384" y="309075"/>
                    </a:cubicBezTo>
                    <a:cubicBezTo>
                      <a:pt x="119345" y="350108"/>
                      <a:pt x="213004" y="318180"/>
                      <a:pt x="264591" y="237770"/>
                    </a:cubicBezTo>
                    <a:cubicBezTo>
                      <a:pt x="316179" y="157360"/>
                      <a:pt x="306130" y="58919"/>
                      <a:pt x="242170" y="17895"/>
                    </a:cubicBezTo>
                    <a:close/>
                    <a:moveTo>
                      <a:pt x="167770" y="162323"/>
                    </a:moveTo>
                    <a:cubicBezTo>
                      <a:pt x="157378" y="205128"/>
                      <a:pt x="145862" y="251972"/>
                      <a:pt x="113277" y="288558"/>
                    </a:cubicBezTo>
                    <a:cubicBezTo>
                      <a:pt x="100040" y="288039"/>
                      <a:pt x="87172" y="284055"/>
                      <a:pt x="75958" y="277004"/>
                    </a:cubicBezTo>
                    <a:cubicBezTo>
                      <a:pt x="74911" y="276328"/>
                      <a:pt x="73977" y="275527"/>
                      <a:pt x="72968" y="274804"/>
                    </a:cubicBezTo>
                    <a:cubicBezTo>
                      <a:pt x="108515" y="244543"/>
                      <a:pt x="119411" y="200023"/>
                      <a:pt x="130756" y="153322"/>
                    </a:cubicBezTo>
                    <a:cubicBezTo>
                      <a:pt x="140786" y="112021"/>
                      <a:pt x="151139" y="69845"/>
                      <a:pt x="179047" y="38069"/>
                    </a:cubicBezTo>
                    <a:lnTo>
                      <a:pt x="179457" y="38069"/>
                    </a:lnTo>
                    <a:cubicBezTo>
                      <a:pt x="194358" y="37844"/>
                      <a:pt x="209002" y="41969"/>
                      <a:pt x="221596" y="49937"/>
                    </a:cubicBezTo>
                    <a:cubicBezTo>
                      <a:pt x="221719" y="50023"/>
                      <a:pt x="221834" y="50128"/>
                      <a:pt x="221958" y="50204"/>
                    </a:cubicBezTo>
                    <a:cubicBezTo>
                      <a:pt x="188973" y="75083"/>
                      <a:pt x="178990" y="116146"/>
                      <a:pt x="167770" y="162323"/>
                    </a:cubicBez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EBE10F78-3DB8-41C6-FC12-CC3EA0D77F84}"/>
                  </a:ext>
                </a:extLst>
              </p:cNvPr>
              <p:cNvSpPr/>
              <p:nvPr/>
            </p:nvSpPr>
            <p:spPr>
              <a:xfrm rot="19951854">
                <a:off x="10257161" y="2155864"/>
                <a:ext cx="297563" cy="326969"/>
              </a:xfrm>
              <a:custGeom>
                <a:avLst/>
                <a:gdLst>
                  <a:gd name="connsiteX0" fmla="*/ 242170 w 297563"/>
                  <a:gd name="connsiteY0" fmla="*/ 17895 h 326969"/>
                  <a:gd name="connsiteX1" fmla="*/ 32972 w 297563"/>
                  <a:gd name="connsiteY1" fmla="*/ 89190 h 326969"/>
                  <a:gd name="connsiteX2" fmla="*/ 55384 w 297563"/>
                  <a:gd name="connsiteY2" fmla="*/ 309075 h 326969"/>
                  <a:gd name="connsiteX3" fmla="*/ 264591 w 297563"/>
                  <a:gd name="connsiteY3" fmla="*/ 237770 h 326969"/>
                  <a:gd name="connsiteX4" fmla="*/ 242170 w 297563"/>
                  <a:gd name="connsiteY4" fmla="*/ 17895 h 326969"/>
                  <a:gd name="connsiteX5" fmla="*/ 167770 w 297563"/>
                  <a:gd name="connsiteY5" fmla="*/ 162323 h 326969"/>
                  <a:gd name="connsiteX6" fmla="*/ 113277 w 297563"/>
                  <a:gd name="connsiteY6" fmla="*/ 288558 h 326969"/>
                  <a:gd name="connsiteX7" fmla="*/ 75958 w 297563"/>
                  <a:gd name="connsiteY7" fmla="*/ 277004 h 326969"/>
                  <a:gd name="connsiteX8" fmla="*/ 72968 w 297563"/>
                  <a:gd name="connsiteY8" fmla="*/ 274804 h 326969"/>
                  <a:gd name="connsiteX9" fmla="*/ 130756 w 297563"/>
                  <a:gd name="connsiteY9" fmla="*/ 153322 h 326969"/>
                  <a:gd name="connsiteX10" fmla="*/ 179047 w 297563"/>
                  <a:gd name="connsiteY10" fmla="*/ 38069 h 326969"/>
                  <a:gd name="connsiteX11" fmla="*/ 179457 w 297563"/>
                  <a:gd name="connsiteY11" fmla="*/ 38069 h 326969"/>
                  <a:gd name="connsiteX12" fmla="*/ 221596 w 297563"/>
                  <a:gd name="connsiteY12" fmla="*/ 49937 h 326969"/>
                  <a:gd name="connsiteX13" fmla="*/ 221958 w 297563"/>
                  <a:gd name="connsiteY13" fmla="*/ 50204 h 326969"/>
                  <a:gd name="connsiteX14" fmla="*/ 167770 w 297563"/>
                  <a:gd name="connsiteY14" fmla="*/ 162323 h 326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97563" h="326969">
                    <a:moveTo>
                      <a:pt x="242170" y="17895"/>
                    </a:moveTo>
                    <a:cubicBezTo>
                      <a:pt x="178209" y="-23138"/>
                      <a:pt x="84550" y="8789"/>
                      <a:pt x="32972" y="89190"/>
                    </a:cubicBezTo>
                    <a:cubicBezTo>
                      <a:pt x="-18606" y="169590"/>
                      <a:pt x="-8576" y="268041"/>
                      <a:pt x="55384" y="309075"/>
                    </a:cubicBezTo>
                    <a:cubicBezTo>
                      <a:pt x="119345" y="350108"/>
                      <a:pt x="213004" y="318180"/>
                      <a:pt x="264591" y="237770"/>
                    </a:cubicBezTo>
                    <a:cubicBezTo>
                      <a:pt x="316179" y="157360"/>
                      <a:pt x="306130" y="58919"/>
                      <a:pt x="242170" y="17895"/>
                    </a:cubicBezTo>
                    <a:close/>
                    <a:moveTo>
                      <a:pt x="167770" y="162323"/>
                    </a:moveTo>
                    <a:cubicBezTo>
                      <a:pt x="157378" y="205128"/>
                      <a:pt x="145862" y="251972"/>
                      <a:pt x="113277" y="288558"/>
                    </a:cubicBezTo>
                    <a:cubicBezTo>
                      <a:pt x="100040" y="288039"/>
                      <a:pt x="87172" y="284055"/>
                      <a:pt x="75958" y="277004"/>
                    </a:cubicBezTo>
                    <a:cubicBezTo>
                      <a:pt x="74911" y="276328"/>
                      <a:pt x="73977" y="275527"/>
                      <a:pt x="72968" y="274804"/>
                    </a:cubicBezTo>
                    <a:cubicBezTo>
                      <a:pt x="108515" y="244543"/>
                      <a:pt x="119411" y="200023"/>
                      <a:pt x="130756" y="153322"/>
                    </a:cubicBezTo>
                    <a:cubicBezTo>
                      <a:pt x="140786" y="112021"/>
                      <a:pt x="151139" y="69845"/>
                      <a:pt x="179047" y="38069"/>
                    </a:cubicBezTo>
                    <a:lnTo>
                      <a:pt x="179457" y="38069"/>
                    </a:lnTo>
                    <a:cubicBezTo>
                      <a:pt x="194358" y="37844"/>
                      <a:pt x="209002" y="41969"/>
                      <a:pt x="221596" y="49937"/>
                    </a:cubicBezTo>
                    <a:cubicBezTo>
                      <a:pt x="221719" y="50023"/>
                      <a:pt x="221834" y="50128"/>
                      <a:pt x="221958" y="50204"/>
                    </a:cubicBezTo>
                    <a:cubicBezTo>
                      <a:pt x="188973" y="75083"/>
                      <a:pt x="178990" y="116146"/>
                      <a:pt x="167770" y="162323"/>
                    </a:cubicBez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248CFB3D-5B75-EA09-5476-CDF2EC0540ED}"/>
                  </a:ext>
                </a:extLst>
              </p:cNvPr>
              <p:cNvSpPr/>
              <p:nvPr/>
            </p:nvSpPr>
            <p:spPr>
              <a:xfrm rot="19951854">
                <a:off x="10575645" y="2153492"/>
                <a:ext cx="297563" cy="326969"/>
              </a:xfrm>
              <a:custGeom>
                <a:avLst/>
                <a:gdLst>
                  <a:gd name="connsiteX0" fmla="*/ 242170 w 297563"/>
                  <a:gd name="connsiteY0" fmla="*/ 17895 h 326969"/>
                  <a:gd name="connsiteX1" fmla="*/ 32972 w 297563"/>
                  <a:gd name="connsiteY1" fmla="*/ 89190 h 326969"/>
                  <a:gd name="connsiteX2" fmla="*/ 55384 w 297563"/>
                  <a:gd name="connsiteY2" fmla="*/ 309075 h 326969"/>
                  <a:gd name="connsiteX3" fmla="*/ 264591 w 297563"/>
                  <a:gd name="connsiteY3" fmla="*/ 237770 h 326969"/>
                  <a:gd name="connsiteX4" fmla="*/ 242170 w 297563"/>
                  <a:gd name="connsiteY4" fmla="*/ 17895 h 326969"/>
                  <a:gd name="connsiteX5" fmla="*/ 167770 w 297563"/>
                  <a:gd name="connsiteY5" fmla="*/ 162323 h 326969"/>
                  <a:gd name="connsiteX6" fmla="*/ 113277 w 297563"/>
                  <a:gd name="connsiteY6" fmla="*/ 288558 h 326969"/>
                  <a:gd name="connsiteX7" fmla="*/ 75958 w 297563"/>
                  <a:gd name="connsiteY7" fmla="*/ 277004 h 326969"/>
                  <a:gd name="connsiteX8" fmla="*/ 72968 w 297563"/>
                  <a:gd name="connsiteY8" fmla="*/ 274804 h 326969"/>
                  <a:gd name="connsiteX9" fmla="*/ 130756 w 297563"/>
                  <a:gd name="connsiteY9" fmla="*/ 153322 h 326969"/>
                  <a:gd name="connsiteX10" fmla="*/ 179047 w 297563"/>
                  <a:gd name="connsiteY10" fmla="*/ 38069 h 326969"/>
                  <a:gd name="connsiteX11" fmla="*/ 179457 w 297563"/>
                  <a:gd name="connsiteY11" fmla="*/ 38069 h 326969"/>
                  <a:gd name="connsiteX12" fmla="*/ 221596 w 297563"/>
                  <a:gd name="connsiteY12" fmla="*/ 49937 h 326969"/>
                  <a:gd name="connsiteX13" fmla="*/ 221958 w 297563"/>
                  <a:gd name="connsiteY13" fmla="*/ 50204 h 326969"/>
                  <a:gd name="connsiteX14" fmla="*/ 167770 w 297563"/>
                  <a:gd name="connsiteY14" fmla="*/ 162323 h 326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97563" h="326969">
                    <a:moveTo>
                      <a:pt x="242170" y="17895"/>
                    </a:moveTo>
                    <a:cubicBezTo>
                      <a:pt x="178209" y="-23138"/>
                      <a:pt x="84550" y="8789"/>
                      <a:pt x="32972" y="89190"/>
                    </a:cubicBezTo>
                    <a:cubicBezTo>
                      <a:pt x="-18606" y="169590"/>
                      <a:pt x="-8576" y="268041"/>
                      <a:pt x="55384" y="309075"/>
                    </a:cubicBezTo>
                    <a:cubicBezTo>
                      <a:pt x="119345" y="350108"/>
                      <a:pt x="213004" y="318180"/>
                      <a:pt x="264591" y="237770"/>
                    </a:cubicBezTo>
                    <a:cubicBezTo>
                      <a:pt x="316179" y="157360"/>
                      <a:pt x="306130" y="58919"/>
                      <a:pt x="242170" y="17895"/>
                    </a:cubicBezTo>
                    <a:close/>
                    <a:moveTo>
                      <a:pt x="167770" y="162323"/>
                    </a:moveTo>
                    <a:cubicBezTo>
                      <a:pt x="157378" y="205128"/>
                      <a:pt x="145862" y="251972"/>
                      <a:pt x="113277" y="288558"/>
                    </a:cubicBezTo>
                    <a:cubicBezTo>
                      <a:pt x="100040" y="288039"/>
                      <a:pt x="87172" y="284055"/>
                      <a:pt x="75958" y="277004"/>
                    </a:cubicBezTo>
                    <a:cubicBezTo>
                      <a:pt x="74911" y="276328"/>
                      <a:pt x="73977" y="275527"/>
                      <a:pt x="72968" y="274804"/>
                    </a:cubicBezTo>
                    <a:cubicBezTo>
                      <a:pt x="108515" y="244543"/>
                      <a:pt x="119411" y="200023"/>
                      <a:pt x="130756" y="153322"/>
                    </a:cubicBezTo>
                    <a:cubicBezTo>
                      <a:pt x="140786" y="112021"/>
                      <a:pt x="151139" y="69845"/>
                      <a:pt x="179047" y="38069"/>
                    </a:cubicBezTo>
                    <a:lnTo>
                      <a:pt x="179457" y="38069"/>
                    </a:lnTo>
                    <a:cubicBezTo>
                      <a:pt x="194358" y="37844"/>
                      <a:pt x="209002" y="41969"/>
                      <a:pt x="221596" y="49937"/>
                    </a:cubicBezTo>
                    <a:cubicBezTo>
                      <a:pt x="221719" y="50023"/>
                      <a:pt x="221834" y="50128"/>
                      <a:pt x="221958" y="50204"/>
                    </a:cubicBezTo>
                    <a:cubicBezTo>
                      <a:pt x="188973" y="75083"/>
                      <a:pt x="178990" y="116146"/>
                      <a:pt x="167770" y="162323"/>
                    </a:cubicBez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462754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Tm="9800">
        <p159:morph option="byObject"/>
      </p:transition>
    </mc:Choice>
    <mc:Fallback xmlns="">
      <p:transition spd="slow" advTm="98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6500"/>
                            </p:stCondLst>
                            <p:childTnLst>
                              <p:par>
                                <p:cTn id="9" presetID="22" presetClass="exit" presetSubtype="2" fill="hold" nodeType="after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7EF2BA-6796-E6EC-5A43-B5DD2B0F9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D86419CF-1EEA-C8F6-40ED-8658D40678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8446" y="1615849"/>
            <a:ext cx="7512938" cy="6210097"/>
          </a:xfrm>
        </p:spPr>
        <p:txBody>
          <a:bodyPr>
            <a:noAutofit/>
          </a:bodyPr>
          <a:lstStyle/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"properties":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"</a:t>
            </a:r>
            <a:r>
              <a:rPr lang="en-US" sz="1600" dirty="0" err="1">
                <a:solidFill>
                  <a:schemeClr val="accent3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coffeeBeansLeft</a:t>
            </a:r>
            <a:r>
              <a:rPr lang="en-US" sz="1600" dirty="0">
                <a:solidFill>
                  <a:schemeClr val="accent3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"title": "Remaining Coffee Beans",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"description": "Amount of remaining coffee beans in grams",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"type": "number",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"minimum": 0,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"maximum": 500,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</a:t>
            </a:r>
            <a:r>
              <a:rPr lang="en-US" sz="1600" dirty="0" err="1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true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"observable":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false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3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"forms": [ ... 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"actions":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"</a:t>
            </a:r>
            <a:r>
              <a:rPr lang="en-US" sz="1600" dirty="0" err="1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brewCoffee</a:t>
            </a: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"title": "Brew Coffee",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"description": "Starts brewing a cup of coffee",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"input":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"type": "object",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"properties":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"size":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"type": "string",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"</a:t>
            </a:r>
            <a:r>
              <a:rPr lang="en-US" sz="1600" dirty="0" err="1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enum</a:t>
            </a: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["small", "medium", "large"]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},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"forms": [ ... 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"events":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"</a:t>
            </a:r>
            <a:r>
              <a:rPr lang="en-US" sz="1600" dirty="0" err="1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lowOnWater</a:t>
            </a: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{ 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"title": "Low Water Level",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"forms": [ ... 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584FAC7-DA9E-B526-3075-D46CE62E68D1}"/>
              </a:ext>
            </a:extLst>
          </p:cNvPr>
          <p:cNvGrpSpPr/>
          <p:nvPr/>
        </p:nvGrpSpPr>
        <p:grpSpPr>
          <a:xfrm>
            <a:off x="8837182" y="1735762"/>
            <a:ext cx="2425178" cy="3386475"/>
            <a:chOff x="974627" y="2611041"/>
            <a:chExt cx="520902" cy="727378"/>
          </a:xfrm>
          <a:solidFill>
            <a:schemeClr val="tx2"/>
          </a:solidFill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9074403-CF2A-6715-81D2-40E8EECEF790}"/>
                </a:ext>
              </a:extLst>
            </p:cNvPr>
            <p:cNvSpPr/>
            <p:nvPr/>
          </p:nvSpPr>
          <p:spPr>
            <a:xfrm>
              <a:off x="974627" y="2611041"/>
              <a:ext cx="520902" cy="727378"/>
            </a:xfrm>
            <a:custGeom>
              <a:avLst/>
              <a:gdLst>
                <a:gd name="connsiteX0" fmla="*/ 58472 w 798363"/>
                <a:gd name="connsiteY0" fmla="*/ 0 h 1032987"/>
                <a:gd name="connsiteX1" fmla="*/ 292354 w 798363"/>
                <a:gd name="connsiteY1" fmla="*/ 0 h 1032987"/>
                <a:gd name="connsiteX2" fmla="*/ 292359 w 798363"/>
                <a:gd name="connsiteY2" fmla="*/ 1 h 1032987"/>
                <a:gd name="connsiteX3" fmla="*/ 622950 w 798363"/>
                <a:gd name="connsiteY3" fmla="*/ 1 h 1032987"/>
                <a:gd name="connsiteX4" fmla="*/ 798363 w 798363"/>
                <a:gd name="connsiteY4" fmla="*/ 175414 h 1032987"/>
                <a:gd name="connsiteX5" fmla="*/ 622950 w 798363"/>
                <a:gd name="connsiteY5" fmla="*/ 350827 h 1032987"/>
                <a:gd name="connsiteX6" fmla="*/ 562765 w 798363"/>
                <a:gd name="connsiteY6" fmla="*/ 350827 h 1032987"/>
                <a:gd name="connsiteX7" fmla="*/ 562765 w 798363"/>
                <a:gd name="connsiteY7" fmla="*/ 503174 h 1032987"/>
                <a:gd name="connsiteX8" fmla="*/ 549447 w 798363"/>
                <a:gd name="connsiteY8" fmla="*/ 516492 h 1032987"/>
                <a:gd name="connsiteX9" fmla="*/ 496174 w 798363"/>
                <a:gd name="connsiteY9" fmla="*/ 516492 h 1032987"/>
                <a:gd name="connsiteX10" fmla="*/ 482856 w 798363"/>
                <a:gd name="connsiteY10" fmla="*/ 503174 h 1032987"/>
                <a:gd name="connsiteX11" fmla="*/ 482856 w 798363"/>
                <a:gd name="connsiteY11" fmla="*/ 350827 h 1032987"/>
                <a:gd name="connsiteX12" fmla="*/ 350826 w 798363"/>
                <a:gd name="connsiteY12" fmla="*/ 350827 h 1032987"/>
                <a:gd name="connsiteX13" fmla="*/ 350826 w 798363"/>
                <a:gd name="connsiteY13" fmla="*/ 858878 h 1032987"/>
                <a:gd name="connsiteX14" fmla="*/ 765662 w 798363"/>
                <a:gd name="connsiteY14" fmla="*/ 858878 h 1032987"/>
                <a:gd name="connsiteX15" fmla="*/ 794681 w 798363"/>
                <a:gd name="connsiteY15" fmla="*/ 887897 h 1032987"/>
                <a:gd name="connsiteX16" fmla="*/ 794681 w 798363"/>
                <a:gd name="connsiteY16" fmla="*/ 1003968 h 1032987"/>
                <a:gd name="connsiteX17" fmla="*/ 765662 w 798363"/>
                <a:gd name="connsiteY17" fmla="*/ 1032987 h 1032987"/>
                <a:gd name="connsiteX18" fmla="*/ 292357 w 798363"/>
                <a:gd name="connsiteY18" fmla="*/ 1032987 h 1032987"/>
                <a:gd name="connsiteX19" fmla="*/ 292354 w 798363"/>
                <a:gd name="connsiteY19" fmla="*/ 1032987 h 1032987"/>
                <a:gd name="connsiteX20" fmla="*/ 58472 w 798363"/>
                <a:gd name="connsiteY20" fmla="*/ 1032987 h 1032987"/>
                <a:gd name="connsiteX21" fmla="*/ 58470 w 798363"/>
                <a:gd name="connsiteY21" fmla="*/ 1032987 h 1032987"/>
                <a:gd name="connsiteX22" fmla="*/ 30592 w 798363"/>
                <a:gd name="connsiteY22" fmla="*/ 1032987 h 1032987"/>
                <a:gd name="connsiteX23" fmla="*/ 1573 w 798363"/>
                <a:gd name="connsiteY23" fmla="*/ 1003968 h 1032987"/>
                <a:gd name="connsiteX24" fmla="*/ 1573 w 798363"/>
                <a:gd name="connsiteY24" fmla="*/ 982304 h 1032987"/>
                <a:gd name="connsiteX25" fmla="*/ 0 w 798363"/>
                <a:gd name="connsiteY25" fmla="*/ 974515 h 1032987"/>
                <a:gd name="connsiteX26" fmla="*/ 0 w 798363"/>
                <a:gd name="connsiteY26" fmla="*/ 58472 h 1032987"/>
                <a:gd name="connsiteX27" fmla="*/ 58472 w 798363"/>
                <a:gd name="connsiteY27" fmla="*/ 0 h 1032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798363" h="1032987">
                  <a:moveTo>
                    <a:pt x="58472" y="0"/>
                  </a:moveTo>
                  <a:lnTo>
                    <a:pt x="292354" y="0"/>
                  </a:lnTo>
                  <a:lnTo>
                    <a:pt x="292359" y="1"/>
                  </a:lnTo>
                  <a:lnTo>
                    <a:pt x="622950" y="1"/>
                  </a:lnTo>
                  <a:cubicBezTo>
                    <a:pt x="719828" y="1"/>
                    <a:pt x="798363" y="78536"/>
                    <a:pt x="798363" y="175414"/>
                  </a:cubicBezTo>
                  <a:cubicBezTo>
                    <a:pt x="798363" y="272292"/>
                    <a:pt x="719828" y="350827"/>
                    <a:pt x="622950" y="350827"/>
                  </a:cubicBezTo>
                  <a:lnTo>
                    <a:pt x="562765" y="350827"/>
                  </a:lnTo>
                  <a:lnTo>
                    <a:pt x="562765" y="503174"/>
                  </a:lnTo>
                  <a:cubicBezTo>
                    <a:pt x="562765" y="510529"/>
                    <a:pt x="556802" y="516492"/>
                    <a:pt x="549447" y="516492"/>
                  </a:cubicBezTo>
                  <a:lnTo>
                    <a:pt x="496174" y="516492"/>
                  </a:lnTo>
                  <a:cubicBezTo>
                    <a:pt x="488819" y="516492"/>
                    <a:pt x="482856" y="510529"/>
                    <a:pt x="482856" y="503174"/>
                  </a:cubicBezTo>
                  <a:lnTo>
                    <a:pt x="482856" y="350827"/>
                  </a:lnTo>
                  <a:lnTo>
                    <a:pt x="350826" y="350827"/>
                  </a:lnTo>
                  <a:lnTo>
                    <a:pt x="350826" y="858878"/>
                  </a:lnTo>
                  <a:lnTo>
                    <a:pt x="765662" y="858878"/>
                  </a:lnTo>
                  <a:cubicBezTo>
                    <a:pt x="781689" y="858878"/>
                    <a:pt x="794681" y="871870"/>
                    <a:pt x="794681" y="887897"/>
                  </a:cubicBezTo>
                  <a:lnTo>
                    <a:pt x="794681" y="1003968"/>
                  </a:lnTo>
                  <a:cubicBezTo>
                    <a:pt x="794681" y="1019995"/>
                    <a:pt x="781689" y="1032987"/>
                    <a:pt x="765662" y="1032987"/>
                  </a:cubicBezTo>
                  <a:lnTo>
                    <a:pt x="292357" y="1032987"/>
                  </a:lnTo>
                  <a:lnTo>
                    <a:pt x="292354" y="1032987"/>
                  </a:lnTo>
                  <a:lnTo>
                    <a:pt x="58472" y="1032987"/>
                  </a:lnTo>
                  <a:lnTo>
                    <a:pt x="58470" y="1032987"/>
                  </a:lnTo>
                  <a:lnTo>
                    <a:pt x="30592" y="1032987"/>
                  </a:lnTo>
                  <a:cubicBezTo>
                    <a:pt x="14565" y="1032987"/>
                    <a:pt x="1573" y="1019995"/>
                    <a:pt x="1573" y="1003968"/>
                  </a:cubicBezTo>
                  <a:lnTo>
                    <a:pt x="1573" y="982304"/>
                  </a:lnTo>
                  <a:lnTo>
                    <a:pt x="0" y="974515"/>
                  </a:lnTo>
                  <a:lnTo>
                    <a:pt x="0" y="58472"/>
                  </a:lnTo>
                  <a:cubicBezTo>
                    <a:pt x="0" y="26179"/>
                    <a:pt x="26179" y="0"/>
                    <a:pt x="58472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685254D9-13EB-ED60-FFAA-9D1EB7125A0F}"/>
                </a:ext>
              </a:extLst>
            </p:cNvPr>
            <p:cNvSpPr/>
            <p:nvPr/>
          </p:nvSpPr>
          <p:spPr>
            <a:xfrm>
              <a:off x="1254841" y="3042122"/>
              <a:ext cx="206628" cy="165303"/>
            </a:xfrm>
            <a:custGeom>
              <a:avLst/>
              <a:gdLst>
                <a:gd name="connsiteX0" fmla="*/ 206629 w 206628"/>
                <a:gd name="connsiteY0" fmla="*/ 70089 h 165303"/>
                <a:gd name="connsiteX1" fmla="*/ 158691 w 206628"/>
                <a:gd name="connsiteY1" fmla="*/ 19836 h 165303"/>
                <a:gd name="connsiteX2" fmla="*/ 158691 w 206628"/>
                <a:gd name="connsiteY2" fmla="*/ 0 h 165303"/>
                <a:gd name="connsiteX3" fmla="*/ 0 w 206628"/>
                <a:gd name="connsiteY3" fmla="*/ 0 h 165303"/>
                <a:gd name="connsiteX4" fmla="*/ 0 w 206628"/>
                <a:gd name="connsiteY4" fmla="*/ 152079 h 165303"/>
                <a:gd name="connsiteX5" fmla="*/ 13224 w 206628"/>
                <a:gd name="connsiteY5" fmla="*/ 165303 h 165303"/>
                <a:gd name="connsiteX6" fmla="*/ 145467 w 206628"/>
                <a:gd name="connsiteY6" fmla="*/ 165303 h 165303"/>
                <a:gd name="connsiteX7" fmla="*/ 158691 w 206628"/>
                <a:gd name="connsiteY7" fmla="*/ 152079 h 165303"/>
                <a:gd name="connsiteX8" fmla="*/ 158691 w 206628"/>
                <a:gd name="connsiteY8" fmla="*/ 120671 h 165303"/>
                <a:gd name="connsiteX9" fmla="*/ 206629 w 206628"/>
                <a:gd name="connsiteY9" fmla="*/ 70089 h 165303"/>
                <a:gd name="connsiteX10" fmla="*/ 159022 w 206628"/>
                <a:gd name="connsiteY10" fmla="*/ 100835 h 165303"/>
                <a:gd name="connsiteX11" fmla="*/ 159022 w 206628"/>
                <a:gd name="connsiteY11" fmla="*/ 39673 h 165303"/>
                <a:gd name="connsiteX12" fmla="*/ 187123 w 206628"/>
                <a:gd name="connsiteY12" fmla="*/ 70089 h 165303"/>
                <a:gd name="connsiteX13" fmla="*/ 159022 w 206628"/>
                <a:gd name="connsiteY13" fmla="*/ 100835 h 165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6628" h="165303">
                  <a:moveTo>
                    <a:pt x="206629" y="70089"/>
                  </a:moveTo>
                  <a:cubicBezTo>
                    <a:pt x="206629" y="42979"/>
                    <a:pt x="185470" y="21159"/>
                    <a:pt x="158691" y="19836"/>
                  </a:cubicBezTo>
                  <a:lnTo>
                    <a:pt x="158691" y="0"/>
                  </a:lnTo>
                  <a:lnTo>
                    <a:pt x="0" y="0"/>
                  </a:lnTo>
                  <a:lnTo>
                    <a:pt x="0" y="152079"/>
                  </a:lnTo>
                  <a:cubicBezTo>
                    <a:pt x="0" y="159352"/>
                    <a:pt x="5951" y="165303"/>
                    <a:pt x="13224" y="165303"/>
                  </a:cubicBezTo>
                  <a:lnTo>
                    <a:pt x="145467" y="165303"/>
                  </a:lnTo>
                  <a:cubicBezTo>
                    <a:pt x="152740" y="165303"/>
                    <a:pt x="158691" y="159352"/>
                    <a:pt x="158691" y="152079"/>
                  </a:cubicBezTo>
                  <a:lnTo>
                    <a:pt x="158691" y="120671"/>
                  </a:lnTo>
                  <a:cubicBezTo>
                    <a:pt x="185470" y="119349"/>
                    <a:pt x="206629" y="97198"/>
                    <a:pt x="206629" y="70089"/>
                  </a:cubicBezTo>
                  <a:close/>
                  <a:moveTo>
                    <a:pt x="159022" y="100835"/>
                  </a:moveTo>
                  <a:lnTo>
                    <a:pt x="159022" y="39673"/>
                  </a:lnTo>
                  <a:cubicBezTo>
                    <a:pt x="174891" y="40995"/>
                    <a:pt x="187123" y="54219"/>
                    <a:pt x="187123" y="70089"/>
                  </a:cubicBezTo>
                  <a:cubicBezTo>
                    <a:pt x="187123" y="85958"/>
                    <a:pt x="174560" y="99512"/>
                    <a:pt x="159022" y="100835"/>
                  </a:cubicBezTo>
                  <a:close/>
                </a:path>
              </a:pathLst>
            </a:custGeom>
            <a:solidFill>
              <a:schemeClr val="accent5">
                <a:lumMod val="60000"/>
                <a:lumOff val="40000"/>
              </a:schemeClr>
            </a:solidFill>
            <a:ln w="32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5404272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 advTm="4050">
        <p159:morph option="byObject"/>
      </p:transition>
    </mc:Choice>
    <mc:Fallback xmlns="">
      <p:transition spd="med" advTm="4050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91323-BF09-E5D9-117A-19D77DA6E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D860613-9DEE-BB19-C795-B38BF78632F5}"/>
              </a:ext>
            </a:extLst>
          </p:cNvPr>
          <p:cNvSpPr/>
          <p:nvPr/>
        </p:nvSpPr>
        <p:spPr>
          <a:xfrm>
            <a:off x="10307955" y="2110753"/>
            <a:ext cx="236219" cy="1177276"/>
          </a:xfrm>
          <a:prstGeom prst="roundRect">
            <a:avLst>
              <a:gd name="adj" fmla="val 50000"/>
            </a:avLst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9A50B27-3195-AD80-FC5F-EE4B5510A7D2}"/>
              </a:ext>
            </a:extLst>
          </p:cNvPr>
          <p:cNvSpPr/>
          <p:nvPr/>
        </p:nvSpPr>
        <p:spPr>
          <a:xfrm>
            <a:off x="10086277" y="4345303"/>
            <a:ext cx="865632" cy="537593"/>
          </a:xfrm>
          <a:prstGeom prst="rect">
            <a:avLst/>
          </a:prstGeom>
          <a:solidFill>
            <a:schemeClr val="accent3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03F326D-3496-3CDA-985D-894960D297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8446" y="-2704876"/>
            <a:ext cx="7512938" cy="13311895"/>
          </a:xfrm>
        </p:spPr>
        <p:txBody>
          <a:bodyPr>
            <a:noAutofit/>
          </a:bodyPr>
          <a:lstStyle/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"properties":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"</a:t>
            </a:r>
            <a:r>
              <a:rPr lang="en-US" sz="1600" dirty="0" err="1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coffeeBeansLeft</a:t>
            </a: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"title": "Remaining Coffee Beans",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"description": "Amount of remaining coffee beans in grams",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"type": "number",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"minimum": 0,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"maximum": 500,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</a:t>
            </a:r>
            <a:r>
              <a:rPr lang="en-US" sz="1600" dirty="0" err="1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true,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"observable": false,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"forms": [ ... 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"actions":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brewCoffee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"title":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"Brew Coffee"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"description":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"Starts brewing a cup of coffee"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"input":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"type":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"object"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"properties":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"size":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"type":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"string"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enum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"small", "medium", "large"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},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"forms":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 ... 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"events":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"</a:t>
            </a:r>
            <a:r>
              <a:rPr lang="en-US" sz="1600" dirty="0" err="1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lowOnWater</a:t>
            </a: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{ 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"title": "Low Water Level",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"forms": [ ... 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E1291C5-E283-74CB-F869-38AAD74A510B}"/>
              </a:ext>
            </a:extLst>
          </p:cNvPr>
          <p:cNvGrpSpPr/>
          <p:nvPr/>
        </p:nvGrpSpPr>
        <p:grpSpPr>
          <a:xfrm>
            <a:off x="8837182" y="1735762"/>
            <a:ext cx="2425178" cy="3386475"/>
            <a:chOff x="974627" y="2611041"/>
            <a:chExt cx="520902" cy="727378"/>
          </a:xfrm>
          <a:solidFill>
            <a:schemeClr val="tx2"/>
          </a:solidFill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6C70F4E8-6070-F47A-FF1F-0EDDE77E37F8}"/>
                </a:ext>
              </a:extLst>
            </p:cNvPr>
            <p:cNvSpPr/>
            <p:nvPr/>
          </p:nvSpPr>
          <p:spPr>
            <a:xfrm>
              <a:off x="974627" y="2611041"/>
              <a:ext cx="520902" cy="727378"/>
            </a:xfrm>
            <a:custGeom>
              <a:avLst/>
              <a:gdLst>
                <a:gd name="connsiteX0" fmla="*/ 58472 w 798363"/>
                <a:gd name="connsiteY0" fmla="*/ 0 h 1032987"/>
                <a:gd name="connsiteX1" fmla="*/ 292354 w 798363"/>
                <a:gd name="connsiteY1" fmla="*/ 0 h 1032987"/>
                <a:gd name="connsiteX2" fmla="*/ 292359 w 798363"/>
                <a:gd name="connsiteY2" fmla="*/ 1 h 1032987"/>
                <a:gd name="connsiteX3" fmla="*/ 622950 w 798363"/>
                <a:gd name="connsiteY3" fmla="*/ 1 h 1032987"/>
                <a:gd name="connsiteX4" fmla="*/ 798363 w 798363"/>
                <a:gd name="connsiteY4" fmla="*/ 175414 h 1032987"/>
                <a:gd name="connsiteX5" fmla="*/ 622950 w 798363"/>
                <a:gd name="connsiteY5" fmla="*/ 350827 h 1032987"/>
                <a:gd name="connsiteX6" fmla="*/ 562765 w 798363"/>
                <a:gd name="connsiteY6" fmla="*/ 350827 h 1032987"/>
                <a:gd name="connsiteX7" fmla="*/ 562765 w 798363"/>
                <a:gd name="connsiteY7" fmla="*/ 503174 h 1032987"/>
                <a:gd name="connsiteX8" fmla="*/ 549447 w 798363"/>
                <a:gd name="connsiteY8" fmla="*/ 516492 h 1032987"/>
                <a:gd name="connsiteX9" fmla="*/ 496174 w 798363"/>
                <a:gd name="connsiteY9" fmla="*/ 516492 h 1032987"/>
                <a:gd name="connsiteX10" fmla="*/ 482856 w 798363"/>
                <a:gd name="connsiteY10" fmla="*/ 503174 h 1032987"/>
                <a:gd name="connsiteX11" fmla="*/ 482856 w 798363"/>
                <a:gd name="connsiteY11" fmla="*/ 350827 h 1032987"/>
                <a:gd name="connsiteX12" fmla="*/ 350826 w 798363"/>
                <a:gd name="connsiteY12" fmla="*/ 350827 h 1032987"/>
                <a:gd name="connsiteX13" fmla="*/ 350826 w 798363"/>
                <a:gd name="connsiteY13" fmla="*/ 858878 h 1032987"/>
                <a:gd name="connsiteX14" fmla="*/ 765662 w 798363"/>
                <a:gd name="connsiteY14" fmla="*/ 858878 h 1032987"/>
                <a:gd name="connsiteX15" fmla="*/ 794681 w 798363"/>
                <a:gd name="connsiteY15" fmla="*/ 887897 h 1032987"/>
                <a:gd name="connsiteX16" fmla="*/ 794681 w 798363"/>
                <a:gd name="connsiteY16" fmla="*/ 1003968 h 1032987"/>
                <a:gd name="connsiteX17" fmla="*/ 765662 w 798363"/>
                <a:gd name="connsiteY17" fmla="*/ 1032987 h 1032987"/>
                <a:gd name="connsiteX18" fmla="*/ 292357 w 798363"/>
                <a:gd name="connsiteY18" fmla="*/ 1032987 h 1032987"/>
                <a:gd name="connsiteX19" fmla="*/ 292354 w 798363"/>
                <a:gd name="connsiteY19" fmla="*/ 1032987 h 1032987"/>
                <a:gd name="connsiteX20" fmla="*/ 58472 w 798363"/>
                <a:gd name="connsiteY20" fmla="*/ 1032987 h 1032987"/>
                <a:gd name="connsiteX21" fmla="*/ 58470 w 798363"/>
                <a:gd name="connsiteY21" fmla="*/ 1032987 h 1032987"/>
                <a:gd name="connsiteX22" fmla="*/ 30592 w 798363"/>
                <a:gd name="connsiteY22" fmla="*/ 1032987 h 1032987"/>
                <a:gd name="connsiteX23" fmla="*/ 1573 w 798363"/>
                <a:gd name="connsiteY23" fmla="*/ 1003968 h 1032987"/>
                <a:gd name="connsiteX24" fmla="*/ 1573 w 798363"/>
                <a:gd name="connsiteY24" fmla="*/ 982304 h 1032987"/>
                <a:gd name="connsiteX25" fmla="*/ 0 w 798363"/>
                <a:gd name="connsiteY25" fmla="*/ 974515 h 1032987"/>
                <a:gd name="connsiteX26" fmla="*/ 0 w 798363"/>
                <a:gd name="connsiteY26" fmla="*/ 58472 h 1032987"/>
                <a:gd name="connsiteX27" fmla="*/ 58472 w 798363"/>
                <a:gd name="connsiteY27" fmla="*/ 0 h 1032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798363" h="1032987">
                  <a:moveTo>
                    <a:pt x="58472" y="0"/>
                  </a:moveTo>
                  <a:lnTo>
                    <a:pt x="292354" y="0"/>
                  </a:lnTo>
                  <a:lnTo>
                    <a:pt x="292359" y="1"/>
                  </a:lnTo>
                  <a:lnTo>
                    <a:pt x="622950" y="1"/>
                  </a:lnTo>
                  <a:cubicBezTo>
                    <a:pt x="719828" y="1"/>
                    <a:pt x="798363" y="78536"/>
                    <a:pt x="798363" y="175414"/>
                  </a:cubicBezTo>
                  <a:cubicBezTo>
                    <a:pt x="798363" y="272292"/>
                    <a:pt x="719828" y="350827"/>
                    <a:pt x="622950" y="350827"/>
                  </a:cubicBezTo>
                  <a:lnTo>
                    <a:pt x="562765" y="350827"/>
                  </a:lnTo>
                  <a:lnTo>
                    <a:pt x="562765" y="503174"/>
                  </a:lnTo>
                  <a:cubicBezTo>
                    <a:pt x="562765" y="510529"/>
                    <a:pt x="556802" y="516492"/>
                    <a:pt x="549447" y="516492"/>
                  </a:cubicBezTo>
                  <a:lnTo>
                    <a:pt x="496174" y="516492"/>
                  </a:lnTo>
                  <a:cubicBezTo>
                    <a:pt x="488819" y="516492"/>
                    <a:pt x="482856" y="510529"/>
                    <a:pt x="482856" y="503174"/>
                  </a:cubicBezTo>
                  <a:lnTo>
                    <a:pt x="482856" y="350827"/>
                  </a:lnTo>
                  <a:lnTo>
                    <a:pt x="350826" y="350827"/>
                  </a:lnTo>
                  <a:lnTo>
                    <a:pt x="350826" y="858878"/>
                  </a:lnTo>
                  <a:lnTo>
                    <a:pt x="765662" y="858878"/>
                  </a:lnTo>
                  <a:cubicBezTo>
                    <a:pt x="781689" y="858878"/>
                    <a:pt x="794681" y="871870"/>
                    <a:pt x="794681" y="887897"/>
                  </a:cubicBezTo>
                  <a:lnTo>
                    <a:pt x="794681" y="1003968"/>
                  </a:lnTo>
                  <a:cubicBezTo>
                    <a:pt x="794681" y="1019995"/>
                    <a:pt x="781689" y="1032987"/>
                    <a:pt x="765662" y="1032987"/>
                  </a:cubicBezTo>
                  <a:lnTo>
                    <a:pt x="292357" y="1032987"/>
                  </a:lnTo>
                  <a:lnTo>
                    <a:pt x="292354" y="1032987"/>
                  </a:lnTo>
                  <a:lnTo>
                    <a:pt x="58472" y="1032987"/>
                  </a:lnTo>
                  <a:lnTo>
                    <a:pt x="58470" y="1032987"/>
                  </a:lnTo>
                  <a:lnTo>
                    <a:pt x="30592" y="1032987"/>
                  </a:lnTo>
                  <a:cubicBezTo>
                    <a:pt x="14565" y="1032987"/>
                    <a:pt x="1573" y="1019995"/>
                    <a:pt x="1573" y="1003968"/>
                  </a:cubicBezTo>
                  <a:lnTo>
                    <a:pt x="1573" y="982304"/>
                  </a:lnTo>
                  <a:lnTo>
                    <a:pt x="0" y="974515"/>
                  </a:lnTo>
                  <a:lnTo>
                    <a:pt x="0" y="58472"/>
                  </a:lnTo>
                  <a:cubicBezTo>
                    <a:pt x="0" y="26179"/>
                    <a:pt x="26179" y="0"/>
                    <a:pt x="58472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DC0C2052-9EBD-3AC2-A3E3-7C9AD2482AFD}"/>
                </a:ext>
              </a:extLst>
            </p:cNvPr>
            <p:cNvSpPr/>
            <p:nvPr/>
          </p:nvSpPr>
          <p:spPr>
            <a:xfrm>
              <a:off x="1254841" y="3042122"/>
              <a:ext cx="206628" cy="165303"/>
            </a:xfrm>
            <a:custGeom>
              <a:avLst/>
              <a:gdLst>
                <a:gd name="connsiteX0" fmla="*/ 206629 w 206628"/>
                <a:gd name="connsiteY0" fmla="*/ 70089 h 165303"/>
                <a:gd name="connsiteX1" fmla="*/ 158691 w 206628"/>
                <a:gd name="connsiteY1" fmla="*/ 19836 h 165303"/>
                <a:gd name="connsiteX2" fmla="*/ 158691 w 206628"/>
                <a:gd name="connsiteY2" fmla="*/ 0 h 165303"/>
                <a:gd name="connsiteX3" fmla="*/ 0 w 206628"/>
                <a:gd name="connsiteY3" fmla="*/ 0 h 165303"/>
                <a:gd name="connsiteX4" fmla="*/ 0 w 206628"/>
                <a:gd name="connsiteY4" fmla="*/ 152079 h 165303"/>
                <a:gd name="connsiteX5" fmla="*/ 13224 w 206628"/>
                <a:gd name="connsiteY5" fmla="*/ 165303 h 165303"/>
                <a:gd name="connsiteX6" fmla="*/ 145467 w 206628"/>
                <a:gd name="connsiteY6" fmla="*/ 165303 h 165303"/>
                <a:gd name="connsiteX7" fmla="*/ 158691 w 206628"/>
                <a:gd name="connsiteY7" fmla="*/ 152079 h 165303"/>
                <a:gd name="connsiteX8" fmla="*/ 158691 w 206628"/>
                <a:gd name="connsiteY8" fmla="*/ 120671 h 165303"/>
                <a:gd name="connsiteX9" fmla="*/ 206629 w 206628"/>
                <a:gd name="connsiteY9" fmla="*/ 70089 h 165303"/>
                <a:gd name="connsiteX10" fmla="*/ 159022 w 206628"/>
                <a:gd name="connsiteY10" fmla="*/ 100835 h 165303"/>
                <a:gd name="connsiteX11" fmla="*/ 159022 w 206628"/>
                <a:gd name="connsiteY11" fmla="*/ 39673 h 165303"/>
                <a:gd name="connsiteX12" fmla="*/ 187123 w 206628"/>
                <a:gd name="connsiteY12" fmla="*/ 70089 h 165303"/>
                <a:gd name="connsiteX13" fmla="*/ 159022 w 206628"/>
                <a:gd name="connsiteY13" fmla="*/ 100835 h 165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6628" h="165303">
                  <a:moveTo>
                    <a:pt x="206629" y="70089"/>
                  </a:moveTo>
                  <a:cubicBezTo>
                    <a:pt x="206629" y="42979"/>
                    <a:pt x="185470" y="21159"/>
                    <a:pt x="158691" y="19836"/>
                  </a:cubicBezTo>
                  <a:lnTo>
                    <a:pt x="158691" y="0"/>
                  </a:lnTo>
                  <a:lnTo>
                    <a:pt x="0" y="0"/>
                  </a:lnTo>
                  <a:lnTo>
                    <a:pt x="0" y="152079"/>
                  </a:lnTo>
                  <a:cubicBezTo>
                    <a:pt x="0" y="159352"/>
                    <a:pt x="5951" y="165303"/>
                    <a:pt x="13224" y="165303"/>
                  </a:cubicBezTo>
                  <a:lnTo>
                    <a:pt x="145467" y="165303"/>
                  </a:lnTo>
                  <a:cubicBezTo>
                    <a:pt x="152740" y="165303"/>
                    <a:pt x="158691" y="159352"/>
                    <a:pt x="158691" y="152079"/>
                  </a:cubicBezTo>
                  <a:lnTo>
                    <a:pt x="158691" y="120671"/>
                  </a:lnTo>
                  <a:cubicBezTo>
                    <a:pt x="185470" y="119349"/>
                    <a:pt x="206629" y="97198"/>
                    <a:pt x="206629" y="70089"/>
                  </a:cubicBezTo>
                  <a:close/>
                  <a:moveTo>
                    <a:pt x="159022" y="100835"/>
                  </a:moveTo>
                  <a:lnTo>
                    <a:pt x="159022" y="39673"/>
                  </a:lnTo>
                  <a:cubicBezTo>
                    <a:pt x="174891" y="40995"/>
                    <a:pt x="187123" y="54219"/>
                    <a:pt x="187123" y="70089"/>
                  </a:cubicBezTo>
                  <a:cubicBezTo>
                    <a:pt x="187123" y="85958"/>
                    <a:pt x="174560" y="99512"/>
                    <a:pt x="159022" y="100835"/>
                  </a:cubicBezTo>
                  <a:close/>
                </a:path>
              </a:pathLst>
            </a:custGeom>
            <a:solidFill>
              <a:schemeClr val="accent5">
                <a:lumMod val="60000"/>
                <a:lumOff val="40000"/>
              </a:schemeClr>
            </a:solidFill>
            <a:ln w="32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7252339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13300">
        <p159:morph option="byObject"/>
      </p:transition>
    </mc:Choice>
    <mc:Fallback xmlns="">
      <p:transition spd="slow" advTm="133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afterEffect">
                                  <p:stCondLst>
                                    <p:cond delay="1000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6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2000"/>
                            </p:stCondLst>
                            <p:childTnLst>
                              <p:par>
                                <p:cTn id="8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0" grpId="1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E1A212-73C4-9ABD-4E45-8513A05B7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4748207-D934-4471-E493-A7D67B146CDD}"/>
              </a:ext>
            </a:extLst>
          </p:cNvPr>
          <p:cNvSpPr/>
          <p:nvPr/>
        </p:nvSpPr>
        <p:spPr>
          <a:xfrm>
            <a:off x="10086277" y="4345303"/>
            <a:ext cx="865632" cy="537593"/>
          </a:xfrm>
          <a:prstGeom prst="rect">
            <a:avLst/>
          </a:prstGeom>
          <a:solidFill>
            <a:schemeClr val="accent3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47C565F-5E89-755D-84C1-DDD3E67BB1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8446" y="-2704876"/>
            <a:ext cx="7512938" cy="13311895"/>
          </a:xfrm>
        </p:spPr>
        <p:txBody>
          <a:bodyPr>
            <a:noAutofit/>
          </a:bodyPr>
          <a:lstStyle/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"properties":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"</a:t>
            </a:r>
            <a:r>
              <a:rPr lang="en-US" sz="1600" dirty="0" err="1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coffeeBeansLeft</a:t>
            </a: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"title": "Remaining Coffee Beans",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"description": "Amount of remaining coffee beans in grams",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"type": "number",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"minimum": 0,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"maximum": 500,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</a:t>
            </a:r>
            <a:r>
              <a:rPr lang="en-US" sz="1600" dirty="0" err="1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true,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"observable": false,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"forms": [ ... 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chemeClr val="accent3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"actions":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"</a:t>
            </a:r>
            <a:r>
              <a:rPr lang="en-US" sz="1600" dirty="0" err="1">
                <a:solidFill>
                  <a:schemeClr val="accent3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brewCoffee</a:t>
            </a:r>
            <a:r>
              <a:rPr lang="en-US" sz="1600" dirty="0">
                <a:solidFill>
                  <a:schemeClr val="accent3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"title": "Brew Coffee",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"description": "Starts brewing a cup of coffee",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"input":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"type":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"object"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"properties":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"size":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"type":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"string"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enum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"small", "medium", "large"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}</a:t>
            </a:r>
            <a:r>
              <a:rPr lang="en-US" sz="1600" dirty="0">
                <a:solidFill>
                  <a:schemeClr val="accent3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"forms": [ ... 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6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"events":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"</a:t>
            </a:r>
            <a:r>
              <a:rPr lang="en-US" sz="1600" dirty="0" err="1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lowOnWater</a:t>
            </a: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{ 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"title": "Low Water Level",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"forms": [ ... 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12B0F0E-78B1-A5AA-D71C-C517F810BF36}"/>
              </a:ext>
            </a:extLst>
          </p:cNvPr>
          <p:cNvGrpSpPr/>
          <p:nvPr/>
        </p:nvGrpSpPr>
        <p:grpSpPr>
          <a:xfrm>
            <a:off x="8837182" y="1735762"/>
            <a:ext cx="2425178" cy="3386475"/>
            <a:chOff x="974627" y="2611041"/>
            <a:chExt cx="520902" cy="727378"/>
          </a:xfrm>
          <a:solidFill>
            <a:schemeClr val="tx2"/>
          </a:solidFill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F46CECB8-F665-573C-3122-1F03BFE0D471}"/>
                </a:ext>
              </a:extLst>
            </p:cNvPr>
            <p:cNvSpPr/>
            <p:nvPr/>
          </p:nvSpPr>
          <p:spPr>
            <a:xfrm>
              <a:off x="974627" y="2611041"/>
              <a:ext cx="520902" cy="727378"/>
            </a:xfrm>
            <a:custGeom>
              <a:avLst/>
              <a:gdLst>
                <a:gd name="connsiteX0" fmla="*/ 58472 w 798363"/>
                <a:gd name="connsiteY0" fmla="*/ 0 h 1032987"/>
                <a:gd name="connsiteX1" fmla="*/ 292354 w 798363"/>
                <a:gd name="connsiteY1" fmla="*/ 0 h 1032987"/>
                <a:gd name="connsiteX2" fmla="*/ 292359 w 798363"/>
                <a:gd name="connsiteY2" fmla="*/ 1 h 1032987"/>
                <a:gd name="connsiteX3" fmla="*/ 622950 w 798363"/>
                <a:gd name="connsiteY3" fmla="*/ 1 h 1032987"/>
                <a:gd name="connsiteX4" fmla="*/ 798363 w 798363"/>
                <a:gd name="connsiteY4" fmla="*/ 175414 h 1032987"/>
                <a:gd name="connsiteX5" fmla="*/ 622950 w 798363"/>
                <a:gd name="connsiteY5" fmla="*/ 350827 h 1032987"/>
                <a:gd name="connsiteX6" fmla="*/ 562765 w 798363"/>
                <a:gd name="connsiteY6" fmla="*/ 350827 h 1032987"/>
                <a:gd name="connsiteX7" fmla="*/ 562765 w 798363"/>
                <a:gd name="connsiteY7" fmla="*/ 503174 h 1032987"/>
                <a:gd name="connsiteX8" fmla="*/ 549447 w 798363"/>
                <a:gd name="connsiteY8" fmla="*/ 516492 h 1032987"/>
                <a:gd name="connsiteX9" fmla="*/ 496174 w 798363"/>
                <a:gd name="connsiteY9" fmla="*/ 516492 h 1032987"/>
                <a:gd name="connsiteX10" fmla="*/ 482856 w 798363"/>
                <a:gd name="connsiteY10" fmla="*/ 503174 h 1032987"/>
                <a:gd name="connsiteX11" fmla="*/ 482856 w 798363"/>
                <a:gd name="connsiteY11" fmla="*/ 350827 h 1032987"/>
                <a:gd name="connsiteX12" fmla="*/ 350826 w 798363"/>
                <a:gd name="connsiteY12" fmla="*/ 350827 h 1032987"/>
                <a:gd name="connsiteX13" fmla="*/ 350826 w 798363"/>
                <a:gd name="connsiteY13" fmla="*/ 858878 h 1032987"/>
                <a:gd name="connsiteX14" fmla="*/ 765662 w 798363"/>
                <a:gd name="connsiteY14" fmla="*/ 858878 h 1032987"/>
                <a:gd name="connsiteX15" fmla="*/ 794681 w 798363"/>
                <a:gd name="connsiteY15" fmla="*/ 887897 h 1032987"/>
                <a:gd name="connsiteX16" fmla="*/ 794681 w 798363"/>
                <a:gd name="connsiteY16" fmla="*/ 1003968 h 1032987"/>
                <a:gd name="connsiteX17" fmla="*/ 765662 w 798363"/>
                <a:gd name="connsiteY17" fmla="*/ 1032987 h 1032987"/>
                <a:gd name="connsiteX18" fmla="*/ 292357 w 798363"/>
                <a:gd name="connsiteY18" fmla="*/ 1032987 h 1032987"/>
                <a:gd name="connsiteX19" fmla="*/ 292354 w 798363"/>
                <a:gd name="connsiteY19" fmla="*/ 1032987 h 1032987"/>
                <a:gd name="connsiteX20" fmla="*/ 58472 w 798363"/>
                <a:gd name="connsiteY20" fmla="*/ 1032987 h 1032987"/>
                <a:gd name="connsiteX21" fmla="*/ 58470 w 798363"/>
                <a:gd name="connsiteY21" fmla="*/ 1032987 h 1032987"/>
                <a:gd name="connsiteX22" fmla="*/ 30592 w 798363"/>
                <a:gd name="connsiteY22" fmla="*/ 1032987 h 1032987"/>
                <a:gd name="connsiteX23" fmla="*/ 1573 w 798363"/>
                <a:gd name="connsiteY23" fmla="*/ 1003968 h 1032987"/>
                <a:gd name="connsiteX24" fmla="*/ 1573 w 798363"/>
                <a:gd name="connsiteY24" fmla="*/ 982304 h 1032987"/>
                <a:gd name="connsiteX25" fmla="*/ 0 w 798363"/>
                <a:gd name="connsiteY25" fmla="*/ 974515 h 1032987"/>
                <a:gd name="connsiteX26" fmla="*/ 0 w 798363"/>
                <a:gd name="connsiteY26" fmla="*/ 58472 h 1032987"/>
                <a:gd name="connsiteX27" fmla="*/ 58472 w 798363"/>
                <a:gd name="connsiteY27" fmla="*/ 0 h 1032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798363" h="1032987">
                  <a:moveTo>
                    <a:pt x="58472" y="0"/>
                  </a:moveTo>
                  <a:lnTo>
                    <a:pt x="292354" y="0"/>
                  </a:lnTo>
                  <a:lnTo>
                    <a:pt x="292359" y="1"/>
                  </a:lnTo>
                  <a:lnTo>
                    <a:pt x="622950" y="1"/>
                  </a:lnTo>
                  <a:cubicBezTo>
                    <a:pt x="719828" y="1"/>
                    <a:pt x="798363" y="78536"/>
                    <a:pt x="798363" y="175414"/>
                  </a:cubicBezTo>
                  <a:cubicBezTo>
                    <a:pt x="798363" y="272292"/>
                    <a:pt x="719828" y="350827"/>
                    <a:pt x="622950" y="350827"/>
                  </a:cubicBezTo>
                  <a:lnTo>
                    <a:pt x="562765" y="350827"/>
                  </a:lnTo>
                  <a:lnTo>
                    <a:pt x="562765" y="503174"/>
                  </a:lnTo>
                  <a:cubicBezTo>
                    <a:pt x="562765" y="510529"/>
                    <a:pt x="556802" y="516492"/>
                    <a:pt x="549447" y="516492"/>
                  </a:cubicBezTo>
                  <a:lnTo>
                    <a:pt x="496174" y="516492"/>
                  </a:lnTo>
                  <a:cubicBezTo>
                    <a:pt x="488819" y="516492"/>
                    <a:pt x="482856" y="510529"/>
                    <a:pt x="482856" y="503174"/>
                  </a:cubicBezTo>
                  <a:lnTo>
                    <a:pt x="482856" y="350827"/>
                  </a:lnTo>
                  <a:lnTo>
                    <a:pt x="350826" y="350827"/>
                  </a:lnTo>
                  <a:lnTo>
                    <a:pt x="350826" y="858878"/>
                  </a:lnTo>
                  <a:lnTo>
                    <a:pt x="765662" y="858878"/>
                  </a:lnTo>
                  <a:cubicBezTo>
                    <a:pt x="781689" y="858878"/>
                    <a:pt x="794681" y="871870"/>
                    <a:pt x="794681" y="887897"/>
                  </a:cubicBezTo>
                  <a:lnTo>
                    <a:pt x="794681" y="1003968"/>
                  </a:lnTo>
                  <a:cubicBezTo>
                    <a:pt x="794681" y="1019995"/>
                    <a:pt x="781689" y="1032987"/>
                    <a:pt x="765662" y="1032987"/>
                  </a:cubicBezTo>
                  <a:lnTo>
                    <a:pt x="292357" y="1032987"/>
                  </a:lnTo>
                  <a:lnTo>
                    <a:pt x="292354" y="1032987"/>
                  </a:lnTo>
                  <a:lnTo>
                    <a:pt x="58472" y="1032987"/>
                  </a:lnTo>
                  <a:lnTo>
                    <a:pt x="58470" y="1032987"/>
                  </a:lnTo>
                  <a:lnTo>
                    <a:pt x="30592" y="1032987"/>
                  </a:lnTo>
                  <a:cubicBezTo>
                    <a:pt x="14565" y="1032987"/>
                    <a:pt x="1573" y="1019995"/>
                    <a:pt x="1573" y="1003968"/>
                  </a:cubicBezTo>
                  <a:lnTo>
                    <a:pt x="1573" y="982304"/>
                  </a:lnTo>
                  <a:lnTo>
                    <a:pt x="0" y="974515"/>
                  </a:lnTo>
                  <a:lnTo>
                    <a:pt x="0" y="58472"/>
                  </a:lnTo>
                  <a:cubicBezTo>
                    <a:pt x="0" y="26179"/>
                    <a:pt x="26179" y="0"/>
                    <a:pt x="58472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2C2F801B-2EBD-C55E-C3FE-88FC5ED57E26}"/>
                </a:ext>
              </a:extLst>
            </p:cNvPr>
            <p:cNvSpPr/>
            <p:nvPr/>
          </p:nvSpPr>
          <p:spPr>
            <a:xfrm>
              <a:off x="1254841" y="3042122"/>
              <a:ext cx="206628" cy="165303"/>
            </a:xfrm>
            <a:custGeom>
              <a:avLst/>
              <a:gdLst>
                <a:gd name="connsiteX0" fmla="*/ 206629 w 206628"/>
                <a:gd name="connsiteY0" fmla="*/ 70089 h 165303"/>
                <a:gd name="connsiteX1" fmla="*/ 158691 w 206628"/>
                <a:gd name="connsiteY1" fmla="*/ 19836 h 165303"/>
                <a:gd name="connsiteX2" fmla="*/ 158691 w 206628"/>
                <a:gd name="connsiteY2" fmla="*/ 0 h 165303"/>
                <a:gd name="connsiteX3" fmla="*/ 0 w 206628"/>
                <a:gd name="connsiteY3" fmla="*/ 0 h 165303"/>
                <a:gd name="connsiteX4" fmla="*/ 0 w 206628"/>
                <a:gd name="connsiteY4" fmla="*/ 152079 h 165303"/>
                <a:gd name="connsiteX5" fmla="*/ 13224 w 206628"/>
                <a:gd name="connsiteY5" fmla="*/ 165303 h 165303"/>
                <a:gd name="connsiteX6" fmla="*/ 145467 w 206628"/>
                <a:gd name="connsiteY6" fmla="*/ 165303 h 165303"/>
                <a:gd name="connsiteX7" fmla="*/ 158691 w 206628"/>
                <a:gd name="connsiteY7" fmla="*/ 152079 h 165303"/>
                <a:gd name="connsiteX8" fmla="*/ 158691 w 206628"/>
                <a:gd name="connsiteY8" fmla="*/ 120671 h 165303"/>
                <a:gd name="connsiteX9" fmla="*/ 206629 w 206628"/>
                <a:gd name="connsiteY9" fmla="*/ 70089 h 165303"/>
                <a:gd name="connsiteX10" fmla="*/ 159022 w 206628"/>
                <a:gd name="connsiteY10" fmla="*/ 100835 h 165303"/>
                <a:gd name="connsiteX11" fmla="*/ 159022 w 206628"/>
                <a:gd name="connsiteY11" fmla="*/ 39673 h 165303"/>
                <a:gd name="connsiteX12" fmla="*/ 187123 w 206628"/>
                <a:gd name="connsiteY12" fmla="*/ 70089 h 165303"/>
                <a:gd name="connsiteX13" fmla="*/ 159022 w 206628"/>
                <a:gd name="connsiteY13" fmla="*/ 100835 h 165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6628" h="165303">
                  <a:moveTo>
                    <a:pt x="206629" y="70089"/>
                  </a:moveTo>
                  <a:cubicBezTo>
                    <a:pt x="206629" y="42979"/>
                    <a:pt x="185470" y="21159"/>
                    <a:pt x="158691" y="19836"/>
                  </a:cubicBezTo>
                  <a:lnTo>
                    <a:pt x="158691" y="0"/>
                  </a:lnTo>
                  <a:lnTo>
                    <a:pt x="0" y="0"/>
                  </a:lnTo>
                  <a:lnTo>
                    <a:pt x="0" y="152079"/>
                  </a:lnTo>
                  <a:cubicBezTo>
                    <a:pt x="0" y="159352"/>
                    <a:pt x="5951" y="165303"/>
                    <a:pt x="13224" y="165303"/>
                  </a:cubicBezTo>
                  <a:lnTo>
                    <a:pt x="145467" y="165303"/>
                  </a:lnTo>
                  <a:cubicBezTo>
                    <a:pt x="152740" y="165303"/>
                    <a:pt x="158691" y="159352"/>
                    <a:pt x="158691" y="152079"/>
                  </a:cubicBezTo>
                  <a:lnTo>
                    <a:pt x="158691" y="120671"/>
                  </a:lnTo>
                  <a:cubicBezTo>
                    <a:pt x="185470" y="119349"/>
                    <a:pt x="206629" y="97198"/>
                    <a:pt x="206629" y="70089"/>
                  </a:cubicBezTo>
                  <a:close/>
                  <a:moveTo>
                    <a:pt x="159022" y="100835"/>
                  </a:moveTo>
                  <a:lnTo>
                    <a:pt x="159022" y="39673"/>
                  </a:lnTo>
                  <a:cubicBezTo>
                    <a:pt x="174891" y="40995"/>
                    <a:pt x="187123" y="54219"/>
                    <a:pt x="187123" y="70089"/>
                  </a:cubicBezTo>
                  <a:cubicBezTo>
                    <a:pt x="187123" y="85958"/>
                    <a:pt x="174560" y="99512"/>
                    <a:pt x="159022" y="100835"/>
                  </a:cubicBezTo>
                  <a:close/>
                </a:path>
              </a:pathLst>
            </a:custGeom>
            <a:solidFill>
              <a:schemeClr val="accent5">
                <a:lumMod val="60000"/>
                <a:lumOff val="40000"/>
              </a:schemeClr>
            </a:solidFill>
            <a:ln w="32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9864619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4200">
        <p159:morph option="byObject"/>
      </p:transition>
    </mc:Choice>
    <mc:Fallback xmlns="">
      <p:transition spd="slow" advTm="4200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4D09FD-2273-B868-2A7C-4889C8C69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F7090DC-899D-185D-DB0E-84D8E7D5DC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8446" y="-5912711"/>
            <a:ext cx="7512938" cy="6210097"/>
          </a:xfrm>
        </p:spPr>
        <p:txBody>
          <a:bodyPr>
            <a:noAutofit/>
          </a:bodyPr>
          <a:lstStyle/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"properties":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"</a:t>
            </a:r>
            <a:r>
              <a:rPr lang="en-US" sz="1600" dirty="0" err="1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coffeeBeansLeft</a:t>
            </a: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"title": "Remaining Coffee Beans",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"description": "Amount of remaining coffee beans in grams",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"type": "number",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"minimum": 0,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"maximum": 500,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</a:t>
            </a:r>
            <a:r>
              <a:rPr lang="en-US" sz="1600" dirty="0" err="1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true,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"observable": false,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"forms": [ ... 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"actions":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"</a:t>
            </a:r>
            <a:r>
              <a:rPr lang="en-US" sz="1600" dirty="0" err="1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brewCoffee</a:t>
            </a: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"title": "Brew Coffee",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"description": "Starts brewing a cup of coffee",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"input":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"type": "object",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"properties":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"size":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"type": "string",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"</a:t>
            </a:r>
            <a:r>
              <a:rPr lang="en-US" sz="1600" dirty="0" err="1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enum</a:t>
            </a: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["small", "medium", "large"]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},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"forms": [ ... 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"events":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lowOnWater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 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"title":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"Low Water Level"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"forms":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 ... 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2E092C5-6BF3-FD1B-131A-AA1375A5C3AC}"/>
              </a:ext>
            </a:extLst>
          </p:cNvPr>
          <p:cNvGrpSpPr/>
          <p:nvPr/>
        </p:nvGrpSpPr>
        <p:grpSpPr>
          <a:xfrm>
            <a:off x="8837182" y="1735762"/>
            <a:ext cx="2425178" cy="3386475"/>
            <a:chOff x="974627" y="2611041"/>
            <a:chExt cx="520902" cy="727378"/>
          </a:xfrm>
          <a:solidFill>
            <a:schemeClr val="tx2"/>
          </a:solidFill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C3EB8BDD-F318-6747-87C1-66F01DE659FD}"/>
                </a:ext>
              </a:extLst>
            </p:cNvPr>
            <p:cNvSpPr/>
            <p:nvPr/>
          </p:nvSpPr>
          <p:spPr>
            <a:xfrm>
              <a:off x="974627" y="2611041"/>
              <a:ext cx="520902" cy="727378"/>
            </a:xfrm>
            <a:custGeom>
              <a:avLst/>
              <a:gdLst>
                <a:gd name="connsiteX0" fmla="*/ 58472 w 798363"/>
                <a:gd name="connsiteY0" fmla="*/ 0 h 1032987"/>
                <a:gd name="connsiteX1" fmla="*/ 292354 w 798363"/>
                <a:gd name="connsiteY1" fmla="*/ 0 h 1032987"/>
                <a:gd name="connsiteX2" fmla="*/ 292359 w 798363"/>
                <a:gd name="connsiteY2" fmla="*/ 1 h 1032987"/>
                <a:gd name="connsiteX3" fmla="*/ 622950 w 798363"/>
                <a:gd name="connsiteY3" fmla="*/ 1 h 1032987"/>
                <a:gd name="connsiteX4" fmla="*/ 798363 w 798363"/>
                <a:gd name="connsiteY4" fmla="*/ 175414 h 1032987"/>
                <a:gd name="connsiteX5" fmla="*/ 622950 w 798363"/>
                <a:gd name="connsiteY5" fmla="*/ 350827 h 1032987"/>
                <a:gd name="connsiteX6" fmla="*/ 562765 w 798363"/>
                <a:gd name="connsiteY6" fmla="*/ 350827 h 1032987"/>
                <a:gd name="connsiteX7" fmla="*/ 562765 w 798363"/>
                <a:gd name="connsiteY7" fmla="*/ 503174 h 1032987"/>
                <a:gd name="connsiteX8" fmla="*/ 549447 w 798363"/>
                <a:gd name="connsiteY8" fmla="*/ 516492 h 1032987"/>
                <a:gd name="connsiteX9" fmla="*/ 496174 w 798363"/>
                <a:gd name="connsiteY9" fmla="*/ 516492 h 1032987"/>
                <a:gd name="connsiteX10" fmla="*/ 482856 w 798363"/>
                <a:gd name="connsiteY10" fmla="*/ 503174 h 1032987"/>
                <a:gd name="connsiteX11" fmla="*/ 482856 w 798363"/>
                <a:gd name="connsiteY11" fmla="*/ 350827 h 1032987"/>
                <a:gd name="connsiteX12" fmla="*/ 350826 w 798363"/>
                <a:gd name="connsiteY12" fmla="*/ 350827 h 1032987"/>
                <a:gd name="connsiteX13" fmla="*/ 350826 w 798363"/>
                <a:gd name="connsiteY13" fmla="*/ 858878 h 1032987"/>
                <a:gd name="connsiteX14" fmla="*/ 765662 w 798363"/>
                <a:gd name="connsiteY14" fmla="*/ 858878 h 1032987"/>
                <a:gd name="connsiteX15" fmla="*/ 794681 w 798363"/>
                <a:gd name="connsiteY15" fmla="*/ 887897 h 1032987"/>
                <a:gd name="connsiteX16" fmla="*/ 794681 w 798363"/>
                <a:gd name="connsiteY16" fmla="*/ 1003968 h 1032987"/>
                <a:gd name="connsiteX17" fmla="*/ 765662 w 798363"/>
                <a:gd name="connsiteY17" fmla="*/ 1032987 h 1032987"/>
                <a:gd name="connsiteX18" fmla="*/ 292357 w 798363"/>
                <a:gd name="connsiteY18" fmla="*/ 1032987 h 1032987"/>
                <a:gd name="connsiteX19" fmla="*/ 292354 w 798363"/>
                <a:gd name="connsiteY19" fmla="*/ 1032987 h 1032987"/>
                <a:gd name="connsiteX20" fmla="*/ 58472 w 798363"/>
                <a:gd name="connsiteY20" fmla="*/ 1032987 h 1032987"/>
                <a:gd name="connsiteX21" fmla="*/ 58470 w 798363"/>
                <a:gd name="connsiteY21" fmla="*/ 1032987 h 1032987"/>
                <a:gd name="connsiteX22" fmla="*/ 30592 w 798363"/>
                <a:gd name="connsiteY22" fmla="*/ 1032987 h 1032987"/>
                <a:gd name="connsiteX23" fmla="*/ 1573 w 798363"/>
                <a:gd name="connsiteY23" fmla="*/ 1003968 h 1032987"/>
                <a:gd name="connsiteX24" fmla="*/ 1573 w 798363"/>
                <a:gd name="connsiteY24" fmla="*/ 982304 h 1032987"/>
                <a:gd name="connsiteX25" fmla="*/ 0 w 798363"/>
                <a:gd name="connsiteY25" fmla="*/ 974515 h 1032987"/>
                <a:gd name="connsiteX26" fmla="*/ 0 w 798363"/>
                <a:gd name="connsiteY26" fmla="*/ 58472 h 1032987"/>
                <a:gd name="connsiteX27" fmla="*/ 58472 w 798363"/>
                <a:gd name="connsiteY27" fmla="*/ 0 h 1032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798363" h="1032987">
                  <a:moveTo>
                    <a:pt x="58472" y="0"/>
                  </a:moveTo>
                  <a:lnTo>
                    <a:pt x="292354" y="0"/>
                  </a:lnTo>
                  <a:lnTo>
                    <a:pt x="292359" y="1"/>
                  </a:lnTo>
                  <a:lnTo>
                    <a:pt x="622950" y="1"/>
                  </a:lnTo>
                  <a:cubicBezTo>
                    <a:pt x="719828" y="1"/>
                    <a:pt x="798363" y="78536"/>
                    <a:pt x="798363" y="175414"/>
                  </a:cubicBezTo>
                  <a:cubicBezTo>
                    <a:pt x="798363" y="272292"/>
                    <a:pt x="719828" y="350827"/>
                    <a:pt x="622950" y="350827"/>
                  </a:cubicBezTo>
                  <a:lnTo>
                    <a:pt x="562765" y="350827"/>
                  </a:lnTo>
                  <a:lnTo>
                    <a:pt x="562765" y="503174"/>
                  </a:lnTo>
                  <a:cubicBezTo>
                    <a:pt x="562765" y="510529"/>
                    <a:pt x="556802" y="516492"/>
                    <a:pt x="549447" y="516492"/>
                  </a:cubicBezTo>
                  <a:lnTo>
                    <a:pt x="496174" y="516492"/>
                  </a:lnTo>
                  <a:cubicBezTo>
                    <a:pt x="488819" y="516492"/>
                    <a:pt x="482856" y="510529"/>
                    <a:pt x="482856" y="503174"/>
                  </a:cubicBezTo>
                  <a:lnTo>
                    <a:pt x="482856" y="350827"/>
                  </a:lnTo>
                  <a:lnTo>
                    <a:pt x="350826" y="350827"/>
                  </a:lnTo>
                  <a:lnTo>
                    <a:pt x="350826" y="858878"/>
                  </a:lnTo>
                  <a:lnTo>
                    <a:pt x="765662" y="858878"/>
                  </a:lnTo>
                  <a:cubicBezTo>
                    <a:pt x="781689" y="858878"/>
                    <a:pt x="794681" y="871870"/>
                    <a:pt x="794681" y="887897"/>
                  </a:cubicBezTo>
                  <a:lnTo>
                    <a:pt x="794681" y="1003968"/>
                  </a:lnTo>
                  <a:cubicBezTo>
                    <a:pt x="794681" y="1019995"/>
                    <a:pt x="781689" y="1032987"/>
                    <a:pt x="765662" y="1032987"/>
                  </a:cubicBezTo>
                  <a:lnTo>
                    <a:pt x="292357" y="1032987"/>
                  </a:lnTo>
                  <a:lnTo>
                    <a:pt x="292354" y="1032987"/>
                  </a:lnTo>
                  <a:lnTo>
                    <a:pt x="58472" y="1032987"/>
                  </a:lnTo>
                  <a:lnTo>
                    <a:pt x="58470" y="1032987"/>
                  </a:lnTo>
                  <a:lnTo>
                    <a:pt x="30592" y="1032987"/>
                  </a:lnTo>
                  <a:cubicBezTo>
                    <a:pt x="14565" y="1032987"/>
                    <a:pt x="1573" y="1019995"/>
                    <a:pt x="1573" y="1003968"/>
                  </a:cubicBezTo>
                  <a:lnTo>
                    <a:pt x="1573" y="982304"/>
                  </a:lnTo>
                  <a:lnTo>
                    <a:pt x="0" y="974515"/>
                  </a:lnTo>
                  <a:lnTo>
                    <a:pt x="0" y="58472"/>
                  </a:lnTo>
                  <a:cubicBezTo>
                    <a:pt x="0" y="26179"/>
                    <a:pt x="26179" y="0"/>
                    <a:pt x="58472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5FCE4CC-7AC4-6E0F-748E-34B0E904269C}"/>
                </a:ext>
              </a:extLst>
            </p:cNvPr>
            <p:cNvSpPr/>
            <p:nvPr/>
          </p:nvSpPr>
          <p:spPr>
            <a:xfrm>
              <a:off x="1254841" y="3042122"/>
              <a:ext cx="206628" cy="165303"/>
            </a:xfrm>
            <a:custGeom>
              <a:avLst/>
              <a:gdLst>
                <a:gd name="connsiteX0" fmla="*/ 206629 w 206628"/>
                <a:gd name="connsiteY0" fmla="*/ 70089 h 165303"/>
                <a:gd name="connsiteX1" fmla="*/ 158691 w 206628"/>
                <a:gd name="connsiteY1" fmla="*/ 19836 h 165303"/>
                <a:gd name="connsiteX2" fmla="*/ 158691 w 206628"/>
                <a:gd name="connsiteY2" fmla="*/ 0 h 165303"/>
                <a:gd name="connsiteX3" fmla="*/ 0 w 206628"/>
                <a:gd name="connsiteY3" fmla="*/ 0 h 165303"/>
                <a:gd name="connsiteX4" fmla="*/ 0 w 206628"/>
                <a:gd name="connsiteY4" fmla="*/ 152079 h 165303"/>
                <a:gd name="connsiteX5" fmla="*/ 13224 w 206628"/>
                <a:gd name="connsiteY5" fmla="*/ 165303 h 165303"/>
                <a:gd name="connsiteX6" fmla="*/ 145467 w 206628"/>
                <a:gd name="connsiteY6" fmla="*/ 165303 h 165303"/>
                <a:gd name="connsiteX7" fmla="*/ 158691 w 206628"/>
                <a:gd name="connsiteY7" fmla="*/ 152079 h 165303"/>
                <a:gd name="connsiteX8" fmla="*/ 158691 w 206628"/>
                <a:gd name="connsiteY8" fmla="*/ 120671 h 165303"/>
                <a:gd name="connsiteX9" fmla="*/ 206629 w 206628"/>
                <a:gd name="connsiteY9" fmla="*/ 70089 h 165303"/>
                <a:gd name="connsiteX10" fmla="*/ 159022 w 206628"/>
                <a:gd name="connsiteY10" fmla="*/ 100835 h 165303"/>
                <a:gd name="connsiteX11" fmla="*/ 159022 w 206628"/>
                <a:gd name="connsiteY11" fmla="*/ 39673 h 165303"/>
                <a:gd name="connsiteX12" fmla="*/ 187123 w 206628"/>
                <a:gd name="connsiteY12" fmla="*/ 70089 h 165303"/>
                <a:gd name="connsiteX13" fmla="*/ 159022 w 206628"/>
                <a:gd name="connsiteY13" fmla="*/ 100835 h 165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6628" h="165303">
                  <a:moveTo>
                    <a:pt x="206629" y="70089"/>
                  </a:moveTo>
                  <a:cubicBezTo>
                    <a:pt x="206629" y="42979"/>
                    <a:pt x="185470" y="21159"/>
                    <a:pt x="158691" y="19836"/>
                  </a:cubicBezTo>
                  <a:lnTo>
                    <a:pt x="158691" y="0"/>
                  </a:lnTo>
                  <a:lnTo>
                    <a:pt x="0" y="0"/>
                  </a:lnTo>
                  <a:lnTo>
                    <a:pt x="0" y="152079"/>
                  </a:lnTo>
                  <a:cubicBezTo>
                    <a:pt x="0" y="159352"/>
                    <a:pt x="5951" y="165303"/>
                    <a:pt x="13224" y="165303"/>
                  </a:cubicBezTo>
                  <a:lnTo>
                    <a:pt x="145467" y="165303"/>
                  </a:lnTo>
                  <a:cubicBezTo>
                    <a:pt x="152740" y="165303"/>
                    <a:pt x="158691" y="159352"/>
                    <a:pt x="158691" y="152079"/>
                  </a:cubicBezTo>
                  <a:lnTo>
                    <a:pt x="158691" y="120671"/>
                  </a:lnTo>
                  <a:cubicBezTo>
                    <a:pt x="185470" y="119349"/>
                    <a:pt x="206629" y="97198"/>
                    <a:pt x="206629" y="70089"/>
                  </a:cubicBezTo>
                  <a:close/>
                  <a:moveTo>
                    <a:pt x="159022" y="100835"/>
                  </a:moveTo>
                  <a:lnTo>
                    <a:pt x="159022" y="39673"/>
                  </a:lnTo>
                  <a:cubicBezTo>
                    <a:pt x="174891" y="40995"/>
                    <a:pt x="187123" y="54219"/>
                    <a:pt x="187123" y="70089"/>
                  </a:cubicBezTo>
                  <a:cubicBezTo>
                    <a:pt x="187123" y="85958"/>
                    <a:pt x="174560" y="99512"/>
                    <a:pt x="159022" y="100835"/>
                  </a:cubicBezTo>
                  <a:close/>
                </a:path>
              </a:pathLst>
            </a:custGeom>
            <a:solidFill>
              <a:schemeClr val="accent5">
                <a:lumMod val="60000"/>
                <a:lumOff val="40000"/>
              </a:schemeClr>
            </a:solidFill>
            <a:ln w="32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Oval 1">
            <a:extLst>
              <a:ext uri="{FF2B5EF4-FFF2-40B4-BE49-F238E27FC236}">
                <a16:creationId xmlns:a16="http://schemas.microsoft.com/office/drawing/2014/main" id="{481CE213-9D84-C610-0516-C52916FF492C}"/>
              </a:ext>
            </a:extLst>
          </p:cNvPr>
          <p:cNvSpPr/>
          <p:nvPr/>
        </p:nvSpPr>
        <p:spPr>
          <a:xfrm>
            <a:off x="10808970" y="1944548"/>
            <a:ext cx="163830" cy="163830"/>
          </a:xfrm>
          <a:prstGeom prst="ellipse">
            <a:avLst/>
          </a:prstGeom>
          <a:solidFill>
            <a:srgbClr val="F7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22489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21600">
        <p159:morph option="byObject"/>
      </p:transition>
    </mc:Choice>
    <mc:Fallback xmlns="">
      <p:transition spd="slow" advTm="216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12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2500"/>
                            </p:stCondLst>
                            <p:childTnLst>
                              <p:par>
                                <p:cTn id="9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3000"/>
                            </p:stCondLst>
                            <p:childTnLst>
                              <p:par>
                                <p:cTn id="13" presetID="10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0"/>
                            </p:stCondLst>
                            <p:childTnLst>
                              <p:par>
                                <p:cTn id="17" presetID="10" presetClass="exit" presetSubtype="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4000"/>
                            </p:stCondLst>
                            <p:childTnLst>
                              <p:par>
                                <p:cTn id="21" presetID="10" presetClass="entr" presetSubtype="0" fill="hold" grpId="4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4500"/>
                            </p:stCondLst>
                            <p:childTnLst>
                              <p:par>
                                <p:cTn id="25" presetID="10" presetClass="exit" presetSubtype="0" fill="hold" grpId="5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2" grpId="2" animBg="1"/>
      <p:bldP spid="2" grpId="3" animBg="1"/>
      <p:bldP spid="2" grpId="4" animBg="1"/>
      <p:bldP spid="2" grpId="5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CFD645-8F42-6658-9857-DA01F053A7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C01110B-28FF-AD1F-20E8-BF8900A48D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8446" y="-5912711"/>
            <a:ext cx="7512938" cy="6210097"/>
          </a:xfrm>
        </p:spPr>
        <p:txBody>
          <a:bodyPr>
            <a:noAutofit/>
          </a:bodyPr>
          <a:lstStyle/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"properties":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"</a:t>
            </a:r>
            <a:r>
              <a:rPr lang="en-US" sz="1600" dirty="0" err="1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coffeeBeansLeft</a:t>
            </a: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"title": "Remaining Coffee Beans",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"description": "Amount of remaining coffee beans in grams",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"type": "number",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"minimum": 0,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"maximum": 500,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</a:t>
            </a:r>
            <a:r>
              <a:rPr lang="en-US" sz="1600" dirty="0" err="1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true,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"observable": false,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"forms": [ ... 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"actions":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"</a:t>
            </a:r>
            <a:r>
              <a:rPr lang="en-US" sz="1600" dirty="0" err="1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brewCoffee</a:t>
            </a: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"title": "Brew Coffee",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"description": "Starts brewing a cup of coffee",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"input":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"type": "object",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"properties":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"size":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"type": "string",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"</a:t>
            </a:r>
            <a:r>
              <a:rPr lang="en-US" sz="1600" dirty="0" err="1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enum</a:t>
            </a: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["small", "medium", "large"]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},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"forms": [ ... 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"events":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lowOnWater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 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"title":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"Low Water Level"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0651435-BF5F-C19D-FD9C-C454E44E9E7B}"/>
              </a:ext>
            </a:extLst>
          </p:cNvPr>
          <p:cNvGrpSpPr/>
          <p:nvPr/>
        </p:nvGrpSpPr>
        <p:grpSpPr>
          <a:xfrm>
            <a:off x="8837182" y="1735762"/>
            <a:ext cx="2425178" cy="3386475"/>
            <a:chOff x="974627" y="2611041"/>
            <a:chExt cx="520902" cy="727378"/>
          </a:xfrm>
          <a:solidFill>
            <a:schemeClr val="tx2"/>
          </a:solidFill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FD13805A-BAEE-0F85-C9B1-9548C95CE19F}"/>
                </a:ext>
              </a:extLst>
            </p:cNvPr>
            <p:cNvSpPr/>
            <p:nvPr/>
          </p:nvSpPr>
          <p:spPr>
            <a:xfrm>
              <a:off x="974627" y="2611041"/>
              <a:ext cx="520902" cy="727378"/>
            </a:xfrm>
            <a:custGeom>
              <a:avLst/>
              <a:gdLst>
                <a:gd name="connsiteX0" fmla="*/ 58472 w 798363"/>
                <a:gd name="connsiteY0" fmla="*/ 0 h 1032987"/>
                <a:gd name="connsiteX1" fmla="*/ 292354 w 798363"/>
                <a:gd name="connsiteY1" fmla="*/ 0 h 1032987"/>
                <a:gd name="connsiteX2" fmla="*/ 292359 w 798363"/>
                <a:gd name="connsiteY2" fmla="*/ 1 h 1032987"/>
                <a:gd name="connsiteX3" fmla="*/ 622950 w 798363"/>
                <a:gd name="connsiteY3" fmla="*/ 1 h 1032987"/>
                <a:gd name="connsiteX4" fmla="*/ 798363 w 798363"/>
                <a:gd name="connsiteY4" fmla="*/ 175414 h 1032987"/>
                <a:gd name="connsiteX5" fmla="*/ 622950 w 798363"/>
                <a:gd name="connsiteY5" fmla="*/ 350827 h 1032987"/>
                <a:gd name="connsiteX6" fmla="*/ 562765 w 798363"/>
                <a:gd name="connsiteY6" fmla="*/ 350827 h 1032987"/>
                <a:gd name="connsiteX7" fmla="*/ 562765 w 798363"/>
                <a:gd name="connsiteY7" fmla="*/ 503174 h 1032987"/>
                <a:gd name="connsiteX8" fmla="*/ 549447 w 798363"/>
                <a:gd name="connsiteY8" fmla="*/ 516492 h 1032987"/>
                <a:gd name="connsiteX9" fmla="*/ 496174 w 798363"/>
                <a:gd name="connsiteY9" fmla="*/ 516492 h 1032987"/>
                <a:gd name="connsiteX10" fmla="*/ 482856 w 798363"/>
                <a:gd name="connsiteY10" fmla="*/ 503174 h 1032987"/>
                <a:gd name="connsiteX11" fmla="*/ 482856 w 798363"/>
                <a:gd name="connsiteY11" fmla="*/ 350827 h 1032987"/>
                <a:gd name="connsiteX12" fmla="*/ 350826 w 798363"/>
                <a:gd name="connsiteY12" fmla="*/ 350827 h 1032987"/>
                <a:gd name="connsiteX13" fmla="*/ 350826 w 798363"/>
                <a:gd name="connsiteY13" fmla="*/ 858878 h 1032987"/>
                <a:gd name="connsiteX14" fmla="*/ 765662 w 798363"/>
                <a:gd name="connsiteY14" fmla="*/ 858878 h 1032987"/>
                <a:gd name="connsiteX15" fmla="*/ 794681 w 798363"/>
                <a:gd name="connsiteY15" fmla="*/ 887897 h 1032987"/>
                <a:gd name="connsiteX16" fmla="*/ 794681 w 798363"/>
                <a:gd name="connsiteY16" fmla="*/ 1003968 h 1032987"/>
                <a:gd name="connsiteX17" fmla="*/ 765662 w 798363"/>
                <a:gd name="connsiteY17" fmla="*/ 1032987 h 1032987"/>
                <a:gd name="connsiteX18" fmla="*/ 292357 w 798363"/>
                <a:gd name="connsiteY18" fmla="*/ 1032987 h 1032987"/>
                <a:gd name="connsiteX19" fmla="*/ 292354 w 798363"/>
                <a:gd name="connsiteY19" fmla="*/ 1032987 h 1032987"/>
                <a:gd name="connsiteX20" fmla="*/ 58472 w 798363"/>
                <a:gd name="connsiteY20" fmla="*/ 1032987 h 1032987"/>
                <a:gd name="connsiteX21" fmla="*/ 58470 w 798363"/>
                <a:gd name="connsiteY21" fmla="*/ 1032987 h 1032987"/>
                <a:gd name="connsiteX22" fmla="*/ 30592 w 798363"/>
                <a:gd name="connsiteY22" fmla="*/ 1032987 h 1032987"/>
                <a:gd name="connsiteX23" fmla="*/ 1573 w 798363"/>
                <a:gd name="connsiteY23" fmla="*/ 1003968 h 1032987"/>
                <a:gd name="connsiteX24" fmla="*/ 1573 w 798363"/>
                <a:gd name="connsiteY24" fmla="*/ 982304 h 1032987"/>
                <a:gd name="connsiteX25" fmla="*/ 0 w 798363"/>
                <a:gd name="connsiteY25" fmla="*/ 974515 h 1032987"/>
                <a:gd name="connsiteX26" fmla="*/ 0 w 798363"/>
                <a:gd name="connsiteY26" fmla="*/ 58472 h 1032987"/>
                <a:gd name="connsiteX27" fmla="*/ 58472 w 798363"/>
                <a:gd name="connsiteY27" fmla="*/ 0 h 1032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798363" h="1032987">
                  <a:moveTo>
                    <a:pt x="58472" y="0"/>
                  </a:moveTo>
                  <a:lnTo>
                    <a:pt x="292354" y="0"/>
                  </a:lnTo>
                  <a:lnTo>
                    <a:pt x="292359" y="1"/>
                  </a:lnTo>
                  <a:lnTo>
                    <a:pt x="622950" y="1"/>
                  </a:lnTo>
                  <a:cubicBezTo>
                    <a:pt x="719828" y="1"/>
                    <a:pt x="798363" y="78536"/>
                    <a:pt x="798363" y="175414"/>
                  </a:cubicBezTo>
                  <a:cubicBezTo>
                    <a:pt x="798363" y="272292"/>
                    <a:pt x="719828" y="350827"/>
                    <a:pt x="622950" y="350827"/>
                  </a:cubicBezTo>
                  <a:lnTo>
                    <a:pt x="562765" y="350827"/>
                  </a:lnTo>
                  <a:lnTo>
                    <a:pt x="562765" y="503174"/>
                  </a:lnTo>
                  <a:cubicBezTo>
                    <a:pt x="562765" y="510529"/>
                    <a:pt x="556802" y="516492"/>
                    <a:pt x="549447" y="516492"/>
                  </a:cubicBezTo>
                  <a:lnTo>
                    <a:pt x="496174" y="516492"/>
                  </a:lnTo>
                  <a:cubicBezTo>
                    <a:pt x="488819" y="516492"/>
                    <a:pt x="482856" y="510529"/>
                    <a:pt x="482856" y="503174"/>
                  </a:cubicBezTo>
                  <a:lnTo>
                    <a:pt x="482856" y="350827"/>
                  </a:lnTo>
                  <a:lnTo>
                    <a:pt x="350826" y="350827"/>
                  </a:lnTo>
                  <a:lnTo>
                    <a:pt x="350826" y="858878"/>
                  </a:lnTo>
                  <a:lnTo>
                    <a:pt x="765662" y="858878"/>
                  </a:lnTo>
                  <a:cubicBezTo>
                    <a:pt x="781689" y="858878"/>
                    <a:pt x="794681" y="871870"/>
                    <a:pt x="794681" y="887897"/>
                  </a:cubicBezTo>
                  <a:lnTo>
                    <a:pt x="794681" y="1003968"/>
                  </a:lnTo>
                  <a:cubicBezTo>
                    <a:pt x="794681" y="1019995"/>
                    <a:pt x="781689" y="1032987"/>
                    <a:pt x="765662" y="1032987"/>
                  </a:cubicBezTo>
                  <a:lnTo>
                    <a:pt x="292357" y="1032987"/>
                  </a:lnTo>
                  <a:lnTo>
                    <a:pt x="292354" y="1032987"/>
                  </a:lnTo>
                  <a:lnTo>
                    <a:pt x="58472" y="1032987"/>
                  </a:lnTo>
                  <a:lnTo>
                    <a:pt x="58470" y="1032987"/>
                  </a:lnTo>
                  <a:lnTo>
                    <a:pt x="30592" y="1032987"/>
                  </a:lnTo>
                  <a:cubicBezTo>
                    <a:pt x="14565" y="1032987"/>
                    <a:pt x="1573" y="1019995"/>
                    <a:pt x="1573" y="1003968"/>
                  </a:cubicBezTo>
                  <a:lnTo>
                    <a:pt x="1573" y="982304"/>
                  </a:lnTo>
                  <a:lnTo>
                    <a:pt x="0" y="974515"/>
                  </a:lnTo>
                  <a:lnTo>
                    <a:pt x="0" y="58472"/>
                  </a:lnTo>
                  <a:cubicBezTo>
                    <a:pt x="0" y="26179"/>
                    <a:pt x="26179" y="0"/>
                    <a:pt x="58472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05D08EE-1C9A-F58A-9CD3-4C3A26FBA993}"/>
                </a:ext>
              </a:extLst>
            </p:cNvPr>
            <p:cNvSpPr/>
            <p:nvPr/>
          </p:nvSpPr>
          <p:spPr>
            <a:xfrm>
              <a:off x="1254841" y="3042122"/>
              <a:ext cx="206628" cy="165303"/>
            </a:xfrm>
            <a:custGeom>
              <a:avLst/>
              <a:gdLst>
                <a:gd name="connsiteX0" fmla="*/ 206629 w 206628"/>
                <a:gd name="connsiteY0" fmla="*/ 70089 h 165303"/>
                <a:gd name="connsiteX1" fmla="*/ 158691 w 206628"/>
                <a:gd name="connsiteY1" fmla="*/ 19836 h 165303"/>
                <a:gd name="connsiteX2" fmla="*/ 158691 w 206628"/>
                <a:gd name="connsiteY2" fmla="*/ 0 h 165303"/>
                <a:gd name="connsiteX3" fmla="*/ 0 w 206628"/>
                <a:gd name="connsiteY3" fmla="*/ 0 h 165303"/>
                <a:gd name="connsiteX4" fmla="*/ 0 w 206628"/>
                <a:gd name="connsiteY4" fmla="*/ 152079 h 165303"/>
                <a:gd name="connsiteX5" fmla="*/ 13224 w 206628"/>
                <a:gd name="connsiteY5" fmla="*/ 165303 h 165303"/>
                <a:gd name="connsiteX6" fmla="*/ 145467 w 206628"/>
                <a:gd name="connsiteY6" fmla="*/ 165303 h 165303"/>
                <a:gd name="connsiteX7" fmla="*/ 158691 w 206628"/>
                <a:gd name="connsiteY7" fmla="*/ 152079 h 165303"/>
                <a:gd name="connsiteX8" fmla="*/ 158691 w 206628"/>
                <a:gd name="connsiteY8" fmla="*/ 120671 h 165303"/>
                <a:gd name="connsiteX9" fmla="*/ 206629 w 206628"/>
                <a:gd name="connsiteY9" fmla="*/ 70089 h 165303"/>
                <a:gd name="connsiteX10" fmla="*/ 159022 w 206628"/>
                <a:gd name="connsiteY10" fmla="*/ 100835 h 165303"/>
                <a:gd name="connsiteX11" fmla="*/ 159022 w 206628"/>
                <a:gd name="connsiteY11" fmla="*/ 39673 h 165303"/>
                <a:gd name="connsiteX12" fmla="*/ 187123 w 206628"/>
                <a:gd name="connsiteY12" fmla="*/ 70089 h 165303"/>
                <a:gd name="connsiteX13" fmla="*/ 159022 w 206628"/>
                <a:gd name="connsiteY13" fmla="*/ 100835 h 165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6628" h="165303">
                  <a:moveTo>
                    <a:pt x="206629" y="70089"/>
                  </a:moveTo>
                  <a:cubicBezTo>
                    <a:pt x="206629" y="42979"/>
                    <a:pt x="185470" y="21159"/>
                    <a:pt x="158691" y="19836"/>
                  </a:cubicBezTo>
                  <a:lnTo>
                    <a:pt x="158691" y="0"/>
                  </a:lnTo>
                  <a:lnTo>
                    <a:pt x="0" y="0"/>
                  </a:lnTo>
                  <a:lnTo>
                    <a:pt x="0" y="152079"/>
                  </a:lnTo>
                  <a:cubicBezTo>
                    <a:pt x="0" y="159352"/>
                    <a:pt x="5951" y="165303"/>
                    <a:pt x="13224" y="165303"/>
                  </a:cubicBezTo>
                  <a:lnTo>
                    <a:pt x="145467" y="165303"/>
                  </a:lnTo>
                  <a:cubicBezTo>
                    <a:pt x="152740" y="165303"/>
                    <a:pt x="158691" y="159352"/>
                    <a:pt x="158691" y="152079"/>
                  </a:cubicBezTo>
                  <a:lnTo>
                    <a:pt x="158691" y="120671"/>
                  </a:lnTo>
                  <a:cubicBezTo>
                    <a:pt x="185470" y="119349"/>
                    <a:pt x="206629" y="97198"/>
                    <a:pt x="206629" y="70089"/>
                  </a:cubicBezTo>
                  <a:close/>
                  <a:moveTo>
                    <a:pt x="159022" y="100835"/>
                  </a:moveTo>
                  <a:lnTo>
                    <a:pt x="159022" y="39673"/>
                  </a:lnTo>
                  <a:cubicBezTo>
                    <a:pt x="174891" y="40995"/>
                    <a:pt x="187123" y="54219"/>
                    <a:pt x="187123" y="70089"/>
                  </a:cubicBezTo>
                  <a:cubicBezTo>
                    <a:pt x="187123" y="85958"/>
                    <a:pt x="174560" y="99512"/>
                    <a:pt x="159022" y="100835"/>
                  </a:cubicBezTo>
                  <a:close/>
                </a:path>
              </a:pathLst>
            </a:custGeom>
            <a:solidFill>
              <a:schemeClr val="accent5">
                <a:lumMod val="60000"/>
                <a:lumOff val="40000"/>
              </a:schemeClr>
            </a:solidFill>
            <a:ln w="32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9720273-94EC-0EC2-2A70-16B05ED7402A}"/>
              </a:ext>
            </a:extLst>
          </p:cNvPr>
          <p:cNvSpPr txBox="1">
            <a:spLocks/>
          </p:cNvSpPr>
          <p:nvPr/>
        </p:nvSpPr>
        <p:spPr>
          <a:xfrm>
            <a:off x="778446" y="3612249"/>
            <a:ext cx="7512938" cy="621009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"forms":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 ... 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9097628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"/>
    </mc:Choice>
    <mc:Fallback xmlns="">
      <p:transition spd="slow" advTm="200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38ADBC-27F3-0C26-EC35-8753A4D9C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68A85DF-B787-5A60-2FA6-129521B9DA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8446" y="-5912711"/>
            <a:ext cx="7512938" cy="6210097"/>
          </a:xfrm>
        </p:spPr>
        <p:txBody>
          <a:bodyPr>
            <a:noAutofit/>
          </a:bodyPr>
          <a:lstStyle/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"properties":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"</a:t>
            </a:r>
            <a:r>
              <a:rPr lang="en-US" sz="1600" dirty="0" err="1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coffeeBeansLeft</a:t>
            </a: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"title": "Remaining Coffee Beans",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"description": "Amount of remaining coffee beans in grams",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"type": "number",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"minimum": 0,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"maximum": 500,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</a:t>
            </a:r>
            <a:r>
              <a:rPr lang="en-US" sz="1600" dirty="0" err="1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true,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"observable": false,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"forms": [ ... 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"actions":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"</a:t>
            </a:r>
            <a:r>
              <a:rPr lang="en-US" sz="1600" dirty="0" err="1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brewCoffee</a:t>
            </a: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"title": "Brew Coffee",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"description": "Starts brewing a cup of coffee",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"input":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"type": "object",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"properties":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"size":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"type": "string",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"</a:t>
            </a:r>
            <a:r>
              <a:rPr lang="en-US" sz="1600" dirty="0" err="1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enum</a:t>
            </a: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["small", "medium", "large"]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},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"forms": [ ... 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"events":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lowOnWater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 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"title":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"Low Water Level"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6512561-7882-C588-A888-95DE7B8849D8}"/>
              </a:ext>
            </a:extLst>
          </p:cNvPr>
          <p:cNvGrpSpPr/>
          <p:nvPr/>
        </p:nvGrpSpPr>
        <p:grpSpPr>
          <a:xfrm>
            <a:off x="8837182" y="1735762"/>
            <a:ext cx="2425178" cy="3386475"/>
            <a:chOff x="974627" y="2611041"/>
            <a:chExt cx="520902" cy="727378"/>
          </a:xfrm>
          <a:solidFill>
            <a:schemeClr val="tx2"/>
          </a:solidFill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399253BC-9A13-E6D5-D28A-CCCB7A1B8C96}"/>
                </a:ext>
              </a:extLst>
            </p:cNvPr>
            <p:cNvSpPr/>
            <p:nvPr/>
          </p:nvSpPr>
          <p:spPr>
            <a:xfrm>
              <a:off x="974627" y="2611041"/>
              <a:ext cx="520902" cy="727378"/>
            </a:xfrm>
            <a:custGeom>
              <a:avLst/>
              <a:gdLst>
                <a:gd name="connsiteX0" fmla="*/ 58472 w 798363"/>
                <a:gd name="connsiteY0" fmla="*/ 0 h 1032987"/>
                <a:gd name="connsiteX1" fmla="*/ 292354 w 798363"/>
                <a:gd name="connsiteY1" fmla="*/ 0 h 1032987"/>
                <a:gd name="connsiteX2" fmla="*/ 292359 w 798363"/>
                <a:gd name="connsiteY2" fmla="*/ 1 h 1032987"/>
                <a:gd name="connsiteX3" fmla="*/ 622950 w 798363"/>
                <a:gd name="connsiteY3" fmla="*/ 1 h 1032987"/>
                <a:gd name="connsiteX4" fmla="*/ 798363 w 798363"/>
                <a:gd name="connsiteY4" fmla="*/ 175414 h 1032987"/>
                <a:gd name="connsiteX5" fmla="*/ 622950 w 798363"/>
                <a:gd name="connsiteY5" fmla="*/ 350827 h 1032987"/>
                <a:gd name="connsiteX6" fmla="*/ 562765 w 798363"/>
                <a:gd name="connsiteY6" fmla="*/ 350827 h 1032987"/>
                <a:gd name="connsiteX7" fmla="*/ 562765 w 798363"/>
                <a:gd name="connsiteY7" fmla="*/ 503174 h 1032987"/>
                <a:gd name="connsiteX8" fmla="*/ 549447 w 798363"/>
                <a:gd name="connsiteY8" fmla="*/ 516492 h 1032987"/>
                <a:gd name="connsiteX9" fmla="*/ 496174 w 798363"/>
                <a:gd name="connsiteY9" fmla="*/ 516492 h 1032987"/>
                <a:gd name="connsiteX10" fmla="*/ 482856 w 798363"/>
                <a:gd name="connsiteY10" fmla="*/ 503174 h 1032987"/>
                <a:gd name="connsiteX11" fmla="*/ 482856 w 798363"/>
                <a:gd name="connsiteY11" fmla="*/ 350827 h 1032987"/>
                <a:gd name="connsiteX12" fmla="*/ 350826 w 798363"/>
                <a:gd name="connsiteY12" fmla="*/ 350827 h 1032987"/>
                <a:gd name="connsiteX13" fmla="*/ 350826 w 798363"/>
                <a:gd name="connsiteY13" fmla="*/ 858878 h 1032987"/>
                <a:gd name="connsiteX14" fmla="*/ 765662 w 798363"/>
                <a:gd name="connsiteY14" fmla="*/ 858878 h 1032987"/>
                <a:gd name="connsiteX15" fmla="*/ 794681 w 798363"/>
                <a:gd name="connsiteY15" fmla="*/ 887897 h 1032987"/>
                <a:gd name="connsiteX16" fmla="*/ 794681 w 798363"/>
                <a:gd name="connsiteY16" fmla="*/ 1003968 h 1032987"/>
                <a:gd name="connsiteX17" fmla="*/ 765662 w 798363"/>
                <a:gd name="connsiteY17" fmla="*/ 1032987 h 1032987"/>
                <a:gd name="connsiteX18" fmla="*/ 292357 w 798363"/>
                <a:gd name="connsiteY18" fmla="*/ 1032987 h 1032987"/>
                <a:gd name="connsiteX19" fmla="*/ 292354 w 798363"/>
                <a:gd name="connsiteY19" fmla="*/ 1032987 h 1032987"/>
                <a:gd name="connsiteX20" fmla="*/ 58472 w 798363"/>
                <a:gd name="connsiteY20" fmla="*/ 1032987 h 1032987"/>
                <a:gd name="connsiteX21" fmla="*/ 58470 w 798363"/>
                <a:gd name="connsiteY21" fmla="*/ 1032987 h 1032987"/>
                <a:gd name="connsiteX22" fmla="*/ 30592 w 798363"/>
                <a:gd name="connsiteY22" fmla="*/ 1032987 h 1032987"/>
                <a:gd name="connsiteX23" fmla="*/ 1573 w 798363"/>
                <a:gd name="connsiteY23" fmla="*/ 1003968 h 1032987"/>
                <a:gd name="connsiteX24" fmla="*/ 1573 w 798363"/>
                <a:gd name="connsiteY24" fmla="*/ 982304 h 1032987"/>
                <a:gd name="connsiteX25" fmla="*/ 0 w 798363"/>
                <a:gd name="connsiteY25" fmla="*/ 974515 h 1032987"/>
                <a:gd name="connsiteX26" fmla="*/ 0 w 798363"/>
                <a:gd name="connsiteY26" fmla="*/ 58472 h 1032987"/>
                <a:gd name="connsiteX27" fmla="*/ 58472 w 798363"/>
                <a:gd name="connsiteY27" fmla="*/ 0 h 1032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798363" h="1032987">
                  <a:moveTo>
                    <a:pt x="58472" y="0"/>
                  </a:moveTo>
                  <a:lnTo>
                    <a:pt x="292354" y="0"/>
                  </a:lnTo>
                  <a:lnTo>
                    <a:pt x="292359" y="1"/>
                  </a:lnTo>
                  <a:lnTo>
                    <a:pt x="622950" y="1"/>
                  </a:lnTo>
                  <a:cubicBezTo>
                    <a:pt x="719828" y="1"/>
                    <a:pt x="798363" y="78536"/>
                    <a:pt x="798363" y="175414"/>
                  </a:cubicBezTo>
                  <a:cubicBezTo>
                    <a:pt x="798363" y="272292"/>
                    <a:pt x="719828" y="350827"/>
                    <a:pt x="622950" y="350827"/>
                  </a:cubicBezTo>
                  <a:lnTo>
                    <a:pt x="562765" y="350827"/>
                  </a:lnTo>
                  <a:lnTo>
                    <a:pt x="562765" y="503174"/>
                  </a:lnTo>
                  <a:cubicBezTo>
                    <a:pt x="562765" y="510529"/>
                    <a:pt x="556802" y="516492"/>
                    <a:pt x="549447" y="516492"/>
                  </a:cubicBezTo>
                  <a:lnTo>
                    <a:pt x="496174" y="516492"/>
                  </a:lnTo>
                  <a:cubicBezTo>
                    <a:pt x="488819" y="516492"/>
                    <a:pt x="482856" y="510529"/>
                    <a:pt x="482856" y="503174"/>
                  </a:cubicBezTo>
                  <a:lnTo>
                    <a:pt x="482856" y="350827"/>
                  </a:lnTo>
                  <a:lnTo>
                    <a:pt x="350826" y="350827"/>
                  </a:lnTo>
                  <a:lnTo>
                    <a:pt x="350826" y="858878"/>
                  </a:lnTo>
                  <a:lnTo>
                    <a:pt x="765662" y="858878"/>
                  </a:lnTo>
                  <a:cubicBezTo>
                    <a:pt x="781689" y="858878"/>
                    <a:pt x="794681" y="871870"/>
                    <a:pt x="794681" y="887897"/>
                  </a:cubicBezTo>
                  <a:lnTo>
                    <a:pt x="794681" y="1003968"/>
                  </a:lnTo>
                  <a:cubicBezTo>
                    <a:pt x="794681" y="1019995"/>
                    <a:pt x="781689" y="1032987"/>
                    <a:pt x="765662" y="1032987"/>
                  </a:cubicBezTo>
                  <a:lnTo>
                    <a:pt x="292357" y="1032987"/>
                  </a:lnTo>
                  <a:lnTo>
                    <a:pt x="292354" y="1032987"/>
                  </a:lnTo>
                  <a:lnTo>
                    <a:pt x="58472" y="1032987"/>
                  </a:lnTo>
                  <a:lnTo>
                    <a:pt x="58470" y="1032987"/>
                  </a:lnTo>
                  <a:lnTo>
                    <a:pt x="30592" y="1032987"/>
                  </a:lnTo>
                  <a:cubicBezTo>
                    <a:pt x="14565" y="1032987"/>
                    <a:pt x="1573" y="1019995"/>
                    <a:pt x="1573" y="1003968"/>
                  </a:cubicBezTo>
                  <a:lnTo>
                    <a:pt x="1573" y="982304"/>
                  </a:lnTo>
                  <a:lnTo>
                    <a:pt x="0" y="974515"/>
                  </a:lnTo>
                  <a:lnTo>
                    <a:pt x="0" y="58472"/>
                  </a:lnTo>
                  <a:cubicBezTo>
                    <a:pt x="0" y="26179"/>
                    <a:pt x="26179" y="0"/>
                    <a:pt x="58472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E9B6C01-EC20-0411-4D76-2C4FB28DAD4B}"/>
                </a:ext>
              </a:extLst>
            </p:cNvPr>
            <p:cNvSpPr/>
            <p:nvPr/>
          </p:nvSpPr>
          <p:spPr>
            <a:xfrm>
              <a:off x="1254841" y="3042122"/>
              <a:ext cx="206628" cy="165303"/>
            </a:xfrm>
            <a:custGeom>
              <a:avLst/>
              <a:gdLst>
                <a:gd name="connsiteX0" fmla="*/ 206629 w 206628"/>
                <a:gd name="connsiteY0" fmla="*/ 70089 h 165303"/>
                <a:gd name="connsiteX1" fmla="*/ 158691 w 206628"/>
                <a:gd name="connsiteY1" fmla="*/ 19836 h 165303"/>
                <a:gd name="connsiteX2" fmla="*/ 158691 w 206628"/>
                <a:gd name="connsiteY2" fmla="*/ 0 h 165303"/>
                <a:gd name="connsiteX3" fmla="*/ 0 w 206628"/>
                <a:gd name="connsiteY3" fmla="*/ 0 h 165303"/>
                <a:gd name="connsiteX4" fmla="*/ 0 w 206628"/>
                <a:gd name="connsiteY4" fmla="*/ 152079 h 165303"/>
                <a:gd name="connsiteX5" fmla="*/ 13224 w 206628"/>
                <a:gd name="connsiteY5" fmla="*/ 165303 h 165303"/>
                <a:gd name="connsiteX6" fmla="*/ 145467 w 206628"/>
                <a:gd name="connsiteY6" fmla="*/ 165303 h 165303"/>
                <a:gd name="connsiteX7" fmla="*/ 158691 w 206628"/>
                <a:gd name="connsiteY7" fmla="*/ 152079 h 165303"/>
                <a:gd name="connsiteX8" fmla="*/ 158691 w 206628"/>
                <a:gd name="connsiteY8" fmla="*/ 120671 h 165303"/>
                <a:gd name="connsiteX9" fmla="*/ 206629 w 206628"/>
                <a:gd name="connsiteY9" fmla="*/ 70089 h 165303"/>
                <a:gd name="connsiteX10" fmla="*/ 159022 w 206628"/>
                <a:gd name="connsiteY10" fmla="*/ 100835 h 165303"/>
                <a:gd name="connsiteX11" fmla="*/ 159022 w 206628"/>
                <a:gd name="connsiteY11" fmla="*/ 39673 h 165303"/>
                <a:gd name="connsiteX12" fmla="*/ 187123 w 206628"/>
                <a:gd name="connsiteY12" fmla="*/ 70089 h 165303"/>
                <a:gd name="connsiteX13" fmla="*/ 159022 w 206628"/>
                <a:gd name="connsiteY13" fmla="*/ 100835 h 165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6628" h="165303">
                  <a:moveTo>
                    <a:pt x="206629" y="70089"/>
                  </a:moveTo>
                  <a:cubicBezTo>
                    <a:pt x="206629" y="42979"/>
                    <a:pt x="185470" y="21159"/>
                    <a:pt x="158691" y="19836"/>
                  </a:cubicBezTo>
                  <a:lnTo>
                    <a:pt x="158691" y="0"/>
                  </a:lnTo>
                  <a:lnTo>
                    <a:pt x="0" y="0"/>
                  </a:lnTo>
                  <a:lnTo>
                    <a:pt x="0" y="152079"/>
                  </a:lnTo>
                  <a:cubicBezTo>
                    <a:pt x="0" y="159352"/>
                    <a:pt x="5951" y="165303"/>
                    <a:pt x="13224" y="165303"/>
                  </a:cubicBezTo>
                  <a:lnTo>
                    <a:pt x="145467" y="165303"/>
                  </a:lnTo>
                  <a:cubicBezTo>
                    <a:pt x="152740" y="165303"/>
                    <a:pt x="158691" y="159352"/>
                    <a:pt x="158691" y="152079"/>
                  </a:cubicBezTo>
                  <a:lnTo>
                    <a:pt x="158691" y="120671"/>
                  </a:lnTo>
                  <a:cubicBezTo>
                    <a:pt x="185470" y="119349"/>
                    <a:pt x="206629" y="97198"/>
                    <a:pt x="206629" y="70089"/>
                  </a:cubicBezTo>
                  <a:close/>
                  <a:moveTo>
                    <a:pt x="159022" y="100835"/>
                  </a:moveTo>
                  <a:lnTo>
                    <a:pt x="159022" y="39673"/>
                  </a:lnTo>
                  <a:cubicBezTo>
                    <a:pt x="174891" y="40995"/>
                    <a:pt x="187123" y="54219"/>
                    <a:pt x="187123" y="70089"/>
                  </a:cubicBezTo>
                  <a:cubicBezTo>
                    <a:pt x="187123" y="85958"/>
                    <a:pt x="174560" y="99512"/>
                    <a:pt x="159022" y="100835"/>
                  </a:cubicBezTo>
                  <a:close/>
                </a:path>
              </a:pathLst>
            </a:custGeom>
            <a:solidFill>
              <a:schemeClr val="accent5">
                <a:lumMod val="60000"/>
                <a:lumOff val="40000"/>
              </a:schemeClr>
            </a:solidFill>
            <a:ln w="32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7636F121-04AD-99DF-CC17-854E6D3814B1}"/>
              </a:ext>
            </a:extLst>
          </p:cNvPr>
          <p:cNvSpPr txBox="1">
            <a:spLocks/>
          </p:cNvSpPr>
          <p:nvPr/>
        </p:nvSpPr>
        <p:spPr>
          <a:xfrm>
            <a:off x="778446" y="4817522"/>
            <a:ext cx="7512938" cy="621009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"forms":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 ... 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6552317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0">
        <p159:morph option="byObject"/>
      </p:transition>
    </mc:Choice>
    <mc:Fallback xmlns="">
      <p:transition spd="slow" advTm="0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151E77-71BF-3CBA-90DD-5958B3F0E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B5C6240-8BF1-6CD5-296C-E733046093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8446" y="-5912711"/>
            <a:ext cx="7512938" cy="6210097"/>
          </a:xfrm>
        </p:spPr>
        <p:txBody>
          <a:bodyPr>
            <a:noAutofit/>
          </a:bodyPr>
          <a:lstStyle/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"properties":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"</a:t>
            </a:r>
            <a:r>
              <a:rPr lang="en-US" sz="1600" dirty="0" err="1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coffeeBeansLeft</a:t>
            </a: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"title": "Remaining Coffee Beans",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"description": "Amount of remaining coffee beans in grams",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"type": "number",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"minimum": 0,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"maximum": 500,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</a:t>
            </a:r>
            <a:r>
              <a:rPr lang="en-US" sz="1600" dirty="0" err="1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true,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"observable": false,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"forms": [ ... 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"actions":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"</a:t>
            </a:r>
            <a:r>
              <a:rPr lang="en-US" sz="1600" dirty="0" err="1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brewCoffee</a:t>
            </a: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"title": "Brew Coffee",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"description": "Starts brewing a cup of coffee",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"input":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"type": "object",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"properties":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"size":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"type": "string",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"</a:t>
            </a:r>
            <a:r>
              <a:rPr lang="en-US" sz="1600" dirty="0" err="1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enum</a:t>
            </a: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["small", "medium", "large"]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},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"forms": [ ... 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"events":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lowOnWater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 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"title":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"Low Water Level"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6B4AEAE-0BA0-5AC5-41C5-D61CFC456FB5}"/>
              </a:ext>
            </a:extLst>
          </p:cNvPr>
          <p:cNvSpPr txBox="1">
            <a:spLocks/>
          </p:cNvSpPr>
          <p:nvPr/>
        </p:nvSpPr>
        <p:spPr>
          <a:xfrm>
            <a:off x="778446" y="4817522"/>
            <a:ext cx="7512938" cy="621009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"forms":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 ... 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F9DE32B5-C617-429B-3400-9541DE697E34}"/>
              </a:ext>
            </a:extLst>
          </p:cNvPr>
          <p:cNvSpPr txBox="1">
            <a:spLocks/>
          </p:cNvSpPr>
          <p:nvPr/>
        </p:nvSpPr>
        <p:spPr>
          <a:xfrm>
            <a:off x="778445" y="3590606"/>
            <a:ext cx="7798395" cy="621009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"data":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"type":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"number",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"description":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"Amount of water remaining in milliliters"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},</a:t>
            </a:r>
            <a:endParaRPr lang="en-US" sz="1600" dirty="0">
              <a:solidFill>
                <a:schemeClr val="accent3">
                  <a:lumMod val="8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C3B9AD4-F98F-8850-F1C7-C14F9C8A9290}"/>
              </a:ext>
            </a:extLst>
          </p:cNvPr>
          <p:cNvGrpSpPr/>
          <p:nvPr/>
        </p:nvGrpSpPr>
        <p:grpSpPr>
          <a:xfrm>
            <a:off x="8837182" y="1735762"/>
            <a:ext cx="2425178" cy="3386475"/>
            <a:chOff x="974627" y="2611041"/>
            <a:chExt cx="520902" cy="727378"/>
          </a:xfrm>
          <a:solidFill>
            <a:schemeClr val="tx2"/>
          </a:solidFill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7FC2E297-927D-5543-8E65-F4958A1B5FEF}"/>
                </a:ext>
              </a:extLst>
            </p:cNvPr>
            <p:cNvSpPr/>
            <p:nvPr/>
          </p:nvSpPr>
          <p:spPr>
            <a:xfrm>
              <a:off x="974627" y="2611041"/>
              <a:ext cx="520902" cy="727378"/>
            </a:xfrm>
            <a:custGeom>
              <a:avLst/>
              <a:gdLst>
                <a:gd name="connsiteX0" fmla="*/ 58472 w 798363"/>
                <a:gd name="connsiteY0" fmla="*/ 0 h 1032987"/>
                <a:gd name="connsiteX1" fmla="*/ 292354 w 798363"/>
                <a:gd name="connsiteY1" fmla="*/ 0 h 1032987"/>
                <a:gd name="connsiteX2" fmla="*/ 292359 w 798363"/>
                <a:gd name="connsiteY2" fmla="*/ 1 h 1032987"/>
                <a:gd name="connsiteX3" fmla="*/ 622950 w 798363"/>
                <a:gd name="connsiteY3" fmla="*/ 1 h 1032987"/>
                <a:gd name="connsiteX4" fmla="*/ 798363 w 798363"/>
                <a:gd name="connsiteY4" fmla="*/ 175414 h 1032987"/>
                <a:gd name="connsiteX5" fmla="*/ 622950 w 798363"/>
                <a:gd name="connsiteY5" fmla="*/ 350827 h 1032987"/>
                <a:gd name="connsiteX6" fmla="*/ 562765 w 798363"/>
                <a:gd name="connsiteY6" fmla="*/ 350827 h 1032987"/>
                <a:gd name="connsiteX7" fmla="*/ 562765 w 798363"/>
                <a:gd name="connsiteY7" fmla="*/ 503174 h 1032987"/>
                <a:gd name="connsiteX8" fmla="*/ 549447 w 798363"/>
                <a:gd name="connsiteY8" fmla="*/ 516492 h 1032987"/>
                <a:gd name="connsiteX9" fmla="*/ 496174 w 798363"/>
                <a:gd name="connsiteY9" fmla="*/ 516492 h 1032987"/>
                <a:gd name="connsiteX10" fmla="*/ 482856 w 798363"/>
                <a:gd name="connsiteY10" fmla="*/ 503174 h 1032987"/>
                <a:gd name="connsiteX11" fmla="*/ 482856 w 798363"/>
                <a:gd name="connsiteY11" fmla="*/ 350827 h 1032987"/>
                <a:gd name="connsiteX12" fmla="*/ 350826 w 798363"/>
                <a:gd name="connsiteY12" fmla="*/ 350827 h 1032987"/>
                <a:gd name="connsiteX13" fmla="*/ 350826 w 798363"/>
                <a:gd name="connsiteY13" fmla="*/ 858878 h 1032987"/>
                <a:gd name="connsiteX14" fmla="*/ 765662 w 798363"/>
                <a:gd name="connsiteY14" fmla="*/ 858878 h 1032987"/>
                <a:gd name="connsiteX15" fmla="*/ 794681 w 798363"/>
                <a:gd name="connsiteY15" fmla="*/ 887897 h 1032987"/>
                <a:gd name="connsiteX16" fmla="*/ 794681 w 798363"/>
                <a:gd name="connsiteY16" fmla="*/ 1003968 h 1032987"/>
                <a:gd name="connsiteX17" fmla="*/ 765662 w 798363"/>
                <a:gd name="connsiteY17" fmla="*/ 1032987 h 1032987"/>
                <a:gd name="connsiteX18" fmla="*/ 292357 w 798363"/>
                <a:gd name="connsiteY18" fmla="*/ 1032987 h 1032987"/>
                <a:gd name="connsiteX19" fmla="*/ 292354 w 798363"/>
                <a:gd name="connsiteY19" fmla="*/ 1032987 h 1032987"/>
                <a:gd name="connsiteX20" fmla="*/ 58472 w 798363"/>
                <a:gd name="connsiteY20" fmla="*/ 1032987 h 1032987"/>
                <a:gd name="connsiteX21" fmla="*/ 58470 w 798363"/>
                <a:gd name="connsiteY21" fmla="*/ 1032987 h 1032987"/>
                <a:gd name="connsiteX22" fmla="*/ 30592 w 798363"/>
                <a:gd name="connsiteY22" fmla="*/ 1032987 h 1032987"/>
                <a:gd name="connsiteX23" fmla="*/ 1573 w 798363"/>
                <a:gd name="connsiteY23" fmla="*/ 1003968 h 1032987"/>
                <a:gd name="connsiteX24" fmla="*/ 1573 w 798363"/>
                <a:gd name="connsiteY24" fmla="*/ 982304 h 1032987"/>
                <a:gd name="connsiteX25" fmla="*/ 0 w 798363"/>
                <a:gd name="connsiteY25" fmla="*/ 974515 h 1032987"/>
                <a:gd name="connsiteX26" fmla="*/ 0 w 798363"/>
                <a:gd name="connsiteY26" fmla="*/ 58472 h 1032987"/>
                <a:gd name="connsiteX27" fmla="*/ 58472 w 798363"/>
                <a:gd name="connsiteY27" fmla="*/ 0 h 1032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798363" h="1032987">
                  <a:moveTo>
                    <a:pt x="58472" y="0"/>
                  </a:moveTo>
                  <a:lnTo>
                    <a:pt x="292354" y="0"/>
                  </a:lnTo>
                  <a:lnTo>
                    <a:pt x="292359" y="1"/>
                  </a:lnTo>
                  <a:lnTo>
                    <a:pt x="622950" y="1"/>
                  </a:lnTo>
                  <a:cubicBezTo>
                    <a:pt x="719828" y="1"/>
                    <a:pt x="798363" y="78536"/>
                    <a:pt x="798363" y="175414"/>
                  </a:cubicBezTo>
                  <a:cubicBezTo>
                    <a:pt x="798363" y="272292"/>
                    <a:pt x="719828" y="350827"/>
                    <a:pt x="622950" y="350827"/>
                  </a:cubicBezTo>
                  <a:lnTo>
                    <a:pt x="562765" y="350827"/>
                  </a:lnTo>
                  <a:lnTo>
                    <a:pt x="562765" y="503174"/>
                  </a:lnTo>
                  <a:cubicBezTo>
                    <a:pt x="562765" y="510529"/>
                    <a:pt x="556802" y="516492"/>
                    <a:pt x="549447" y="516492"/>
                  </a:cubicBezTo>
                  <a:lnTo>
                    <a:pt x="496174" y="516492"/>
                  </a:lnTo>
                  <a:cubicBezTo>
                    <a:pt x="488819" y="516492"/>
                    <a:pt x="482856" y="510529"/>
                    <a:pt x="482856" y="503174"/>
                  </a:cubicBezTo>
                  <a:lnTo>
                    <a:pt x="482856" y="350827"/>
                  </a:lnTo>
                  <a:lnTo>
                    <a:pt x="350826" y="350827"/>
                  </a:lnTo>
                  <a:lnTo>
                    <a:pt x="350826" y="858878"/>
                  </a:lnTo>
                  <a:lnTo>
                    <a:pt x="765662" y="858878"/>
                  </a:lnTo>
                  <a:cubicBezTo>
                    <a:pt x="781689" y="858878"/>
                    <a:pt x="794681" y="871870"/>
                    <a:pt x="794681" y="887897"/>
                  </a:cubicBezTo>
                  <a:lnTo>
                    <a:pt x="794681" y="1003968"/>
                  </a:lnTo>
                  <a:cubicBezTo>
                    <a:pt x="794681" y="1019995"/>
                    <a:pt x="781689" y="1032987"/>
                    <a:pt x="765662" y="1032987"/>
                  </a:cubicBezTo>
                  <a:lnTo>
                    <a:pt x="292357" y="1032987"/>
                  </a:lnTo>
                  <a:lnTo>
                    <a:pt x="292354" y="1032987"/>
                  </a:lnTo>
                  <a:lnTo>
                    <a:pt x="58472" y="1032987"/>
                  </a:lnTo>
                  <a:lnTo>
                    <a:pt x="58470" y="1032987"/>
                  </a:lnTo>
                  <a:lnTo>
                    <a:pt x="30592" y="1032987"/>
                  </a:lnTo>
                  <a:cubicBezTo>
                    <a:pt x="14565" y="1032987"/>
                    <a:pt x="1573" y="1019995"/>
                    <a:pt x="1573" y="1003968"/>
                  </a:cubicBezTo>
                  <a:lnTo>
                    <a:pt x="1573" y="982304"/>
                  </a:lnTo>
                  <a:lnTo>
                    <a:pt x="0" y="974515"/>
                  </a:lnTo>
                  <a:lnTo>
                    <a:pt x="0" y="58472"/>
                  </a:lnTo>
                  <a:cubicBezTo>
                    <a:pt x="0" y="26179"/>
                    <a:pt x="26179" y="0"/>
                    <a:pt x="58472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D3DC3C66-23F5-8D3E-C146-D363F975501D}"/>
                </a:ext>
              </a:extLst>
            </p:cNvPr>
            <p:cNvSpPr/>
            <p:nvPr/>
          </p:nvSpPr>
          <p:spPr>
            <a:xfrm>
              <a:off x="1254841" y="3042122"/>
              <a:ext cx="206628" cy="165303"/>
            </a:xfrm>
            <a:custGeom>
              <a:avLst/>
              <a:gdLst>
                <a:gd name="connsiteX0" fmla="*/ 206629 w 206628"/>
                <a:gd name="connsiteY0" fmla="*/ 70089 h 165303"/>
                <a:gd name="connsiteX1" fmla="*/ 158691 w 206628"/>
                <a:gd name="connsiteY1" fmla="*/ 19836 h 165303"/>
                <a:gd name="connsiteX2" fmla="*/ 158691 w 206628"/>
                <a:gd name="connsiteY2" fmla="*/ 0 h 165303"/>
                <a:gd name="connsiteX3" fmla="*/ 0 w 206628"/>
                <a:gd name="connsiteY3" fmla="*/ 0 h 165303"/>
                <a:gd name="connsiteX4" fmla="*/ 0 w 206628"/>
                <a:gd name="connsiteY4" fmla="*/ 152079 h 165303"/>
                <a:gd name="connsiteX5" fmla="*/ 13224 w 206628"/>
                <a:gd name="connsiteY5" fmla="*/ 165303 h 165303"/>
                <a:gd name="connsiteX6" fmla="*/ 145467 w 206628"/>
                <a:gd name="connsiteY6" fmla="*/ 165303 h 165303"/>
                <a:gd name="connsiteX7" fmla="*/ 158691 w 206628"/>
                <a:gd name="connsiteY7" fmla="*/ 152079 h 165303"/>
                <a:gd name="connsiteX8" fmla="*/ 158691 w 206628"/>
                <a:gd name="connsiteY8" fmla="*/ 120671 h 165303"/>
                <a:gd name="connsiteX9" fmla="*/ 206629 w 206628"/>
                <a:gd name="connsiteY9" fmla="*/ 70089 h 165303"/>
                <a:gd name="connsiteX10" fmla="*/ 159022 w 206628"/>
                <a:gd name="connsiteY10" fmla="*/ 100835 h 165303"/>
                <a:gd name="connsiteX11" fmla="*/ 159022 w 206628"/>
                <a:gd name="connsiteY11" fmla="*/ 39673 h 165303"/>
                <a:gd name="connsiteX12" fmla="*/ 187123 w 206628"/>
                <a:gd name="connsiteY12" fmla="*/ 70089 h 165303"/>
                <a:gd name="connsiteX13" fmla="*/ 159022 w 206628"/>
                <a:gd name="connsiteY13" fmla="*/ 100835 h 165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6628" h="165303">
                  <a:moveTo>
                    <a:pt x="206629" y="70089"/>
                  </a:moveTo>
                  <a:cubicBezTo>
                    <a:pt x="206629" y="42979"/>
                    <a:pt x="185470" y="21159"/>
                    <a:pt x="158691" y="19836"/>
                  </a:cubicBezTo>
                  <a:lnTo>
                    <a:pt x="158691" y="0"/>
                  </a:lnTo>
                  <a:lnTo>
                    <a:pt x="0" y="0"/>
                  </a:lnTo>
                  <a:lnTo>
                    <a:pt x="0" y="152079"/>
                  </a:lnTo>
                  <a:cubicBezTo>
                    <a:pt x="0" y="159352"/>
                    <a:pt x="5951" y="165303"/>
                    <a:pt x="13224" y="165303"/>
                  </a:cubicBezTo>
                  <a:lnTo>
                    <a:pt x="145467" y="165303"/>
                  </a:lnTo>
                  <a:cubicBezTo>
                    <a:pt x="152740" y="165303"/>
                    <a:pt x="158691" y="159352"/>
                    <a:pt x="158691" y="152079"/>
                  </a:cubicBezTo>
                  <a:lnTo>
                    <a:pt x="158691" y="120671"/>
                  </a:lnTo>
                  <a:cubicBezTo>
                    <a:pt x="185470" y="119349"/>
                    <a:pt x="206629" y="97198"/>
                    <a:pt x="206629" y="70089"/>
                  </a:cubicBezTo>
                  <a:close/>
                  <a:moveTo>
                    <a:pt x="159022" y="100835"/>
                  </a:moveTo>
                  <a:lnTo>
                    <a:pt x="159022" y="39673"/>
                  </a:lnTo>
                  <a:cubicBezTo>
                    <a:pt x="174891" y="40995"/>
                    <a:pt x="187123" y="54219"/>
                    <a:pt x="187123" y="70089"/>
                  </a:cubicBezTo>
                  <a:cubicBezTo>
                    <a:pt x="187123" y="85958"/>
                    <a:pt x="174560" y="99512"/>
                    <a:pt x="159022" y="100835"/>
                  </a:cubicBezTo>
                  <a:close/>
                </a:path>
              </a:pathLst>
            </a:custGeom>
            <a:solidFill>
              <a:schemeClr val="accent5">
                <a:lumMod val="60000"/>
                <a:lumOff val="40000"/>
              </a:schemeClr>
            </a:solidFill>
            <a:ln w="32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0AA47CC-6D3E-53E9-2A88-BADAE43F80BE}"/>
              </a:ext>
            </a:extLst>
          </p:cNvPr>
          <p:cNvSpPr/>
          <p:nvPr/>
        </p:nvSpPr>
        <p:spPr>
          <a:xfrm>
            <a:off x="10808970" y="1944548"/>
            <a:ext cx="163830" cy="769606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B35D1DE-FFC5-4A17-83BA-285994B3765F}"/>
              </a:ext>
            </a:extLst>
          </p:cNvPr>
          <p:cNvSpPr/>
          <p:nvPr/>
        </p:nvSpPr>
        <p:spPr>
          <a:xfrm>
            <a:off x="10808970" y="1944548"/>
            <a:ext cx="163830" cy="769606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Graphic 7" descr="Water with solid fill">
            <a:extLst>
              <a:ext uri="{FF2B5EF4-FFF2-40B4-BE49-F238E27FC236}">
                <a16:creationId xmlns:a16="http://schemas.microsoft.com/office/drawing/2014/main" id="{56AC1731-452F-3023-33C8-B412EC8E4D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484448" y="2414738"/>
            <a:ext cx="324522" cy="324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1260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3400"/>
    </mc:Choice>
    <mc:Fallback xmlns="">
      <p:transition advTm="34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build="p"/>
      <p:bldP spid="2" grpId="0" animBg="1"/>
      <p:bldP spid="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A8926-5429-4F95-4421-5FFBAB930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4288AC1-EAA1-A1AD-7FE7-4C353046323F}"/>
              </a:ext>
            </a:extLst>
          </p:cNvPr>
          <p:cNvSpPr txBox="1">
            <a:spLocks/>
          </p:cNvSpPr>
          <p:nvPr/>
        </p:nvSpPr>
        <p:spPr>
          <a:xfrm>
            <a:off x="778446" y="4817522"/>
            <a:ext cx="7512938" cy="621009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"forms":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 ... 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16E75A7-489D-6DEA-9BBD-411B51994F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8446" y="-5912711"/>
            <a:ext cx="7512938" cy="6210097"/>
          </a:xfrm>
        </p:spPr>
        <p:txBody>
          <a:bodyPr>
            <a:noAutofit/>
          </a:bodyPr>
          <a:lstStyle/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"properties":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"</a:t>
            </a:r>
            <a:r>
              <a:rPr lang="en-US" sz="1600" dirty="0" err="1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coffeeBeansLeft</a:t>
            </a: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"title": "Remaining Coffee Beans",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"description": "Amount of remaining coffee beans in grams",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"type": "number",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"minimum": 0,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"maximum": 500,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</a:t>
            </a:r>
            <a:r>
              <a:rPr lang="en-US" sz="1600" dirty="0" err="1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true,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"observable": false,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"forms": [ ... 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"actions":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"</a:t>
            </a:r>
            <a:r>
              <a:rPr lang="en-US" sz="1600" dirty="0" err="1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brewCoffee</a:t>
            </a: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"title": "Brew Coffee",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"description": "Starts brewing a cup of coffee",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"input":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"type": "object",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"properties":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"size":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"type": "string",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"</a:t>
            </a:r>
            <a:r>
              <a:rPr lang="en-US" sz="1600" dirty="0" err="1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enum</a:t>
            </a: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["small", "medium", "large"]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},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"forms": [ ... 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"events":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lowOnWater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 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"title":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"Low Water Level"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72DE62D8-AC67-BF0B-A4F6-50AA71C18B5D}"/>
              </a:ext>
            </a:extLst>
          </p:cNvPr>
          <p:cNvGrpSpPr/>
          <p:nvPr/>
        </p:nvGrpSpPr>
        <p:grpSpPr>
          <a:xfrm>
            <a:off x="8837182" y="1735762"/>
            <a:ext cx="2425178" cy="3386475"/>
            <a:chOff x="974627" y="2611041"/>
            <a:chExt cx="520902" cy="727378"/>
          </a:xfrm>
          <a:solidFill>
            <a:schemeClr val="tx2"/>
          </a:solidFill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430D3823-D90C-F969-07D9-B7123A849FC8}"/>
                </a:ext>
              </a:extLst>
            </p:cNvPr>
            <p:cNvSpPr/>
            <p:nvPr/>
          </p:nvSpPr>
          <p:spPr>
            <a:xfrm>
              <a:off x="974627" y="2611041"/>
              <a:ext cx="520902" cy="727378"/>
            </a:xfrm>
            <a:custGeom>
              <a:avLst/>
              <a:gdLst>
                <a:gd name="connsiteX0" fmla="*/ 58472 w 798363"/>
                <a:gd name="connsiteY0" fmla="*/ 0 h 1032987"/>
                <a:gd name="connsiteX1" fmla="*/ 292354 w 798363"/>
                <a:gd name="connsiteY1" fmla="*/ 0 h 1032987"/>
                <a:gd name="connsiteX2" fmla="*/ 292359 w 798363"/>
                <a:gd name="connsiteY2" fmla="*/ 1 h 1032987"/>
                <a:gd name="connsiteX3" fmla="*/ 622950 w 798363"/>
                <a:gd name="connsiteY3" fmla="*/ 1 h 1032987"/>
                <a:gd name="connsiteX4" fmla="*/ 798363 w 798363"/>
                <a:gd name="connsiteY4" fmla="*/ 175414 h 1032987"/>
                <a:gd name="connsiteX5" fmla="*/ 622950 w 798363"/>
                <a:gd name="connsiteY5" fmla="*/ 350827 h 1032987"/>
                <a:gd name="connsiteX6" fmla="*/ 562765 w 798363"/>
                <a:gd name="connsiteY6" fmla="*/ 350827 h 1032987"/>
                <a:gd name="connsiteX7" fmla="*/ 562765 w 798363"/>
                <a:gd name="connsiteY7" fmla="*/ 503174 h 1032987"/>
                <a:gd name="connsiteX8" fmla="*/ 549447 w 798363"/>
                <a:gd name="connsiteY8" fmla="*/ 516492 h 1032987"/>
                <a:gd name="connsiteX9" fmla="*/ 496174 w 798363"/>
                <a:gd name="connsiteY9" fmla="*/ 516492 h 1032987"/>
                <a:gd name="connsiteX10" fmla="*/ 482856 w 798363"/>
                <a:gd name="connsiteY10" fmla="*/ 503174 h 1032987"/>
                <a:gd name="connsiteX11" fmla="*/ 482856 w 798363"/>
                <a:gd name="connsiteY11" fmla="*/ 350827 h 1032987"/>
                <a:gd name="connsiteX12" fmla="*/ 350826 w 798363"/>
                <a:gd name="connsiteY12" fmla="*/ 350827 h 1032987"/>
                <a:gd name="connsiteX13" fmla="*/ 350826 w 798363"/>
                <a:gd name="connsiteY13" fmla="*/ 858878 h 1032987"/>
                <a:gd name="connsiteX14" fmla="*/ 765662 w 798363"/>
                <a:gd name="connsiteY14" fmla="*/ 858878 h 1032987"/>
                <a:gd name="connsiteX15" fmla="*/ 794681 w 798363"/>
                <a:gd name="connsiteY15" fmla="*/ 887897 h 1032987"/>
                <a:gd name="connsiteX16" fmla="*/ 794681 w 798363"/>
                <a:gd name="connsiteY16" fmla="*/ 1003968 h 1032987"/>
                <a:gd name="connsiteX17" fmla="*/ 765662 w 798363"/>
                <a:gd name="connsiteY17" fmla="*/ 1032987 h 1032987"/>
                <a:gd name="connsiteX18" fmla="*/ 292357 w 798363"/>
                <a:gd name="connsiteY18" fmla="*/ 1032987 h 1032987"/>
                <a:gd name="connsiteX19" fmla="*/ 292354 w 798363"/>
                <a:gd name="connsiteY19" fmla="*/ 1032987 h 1032987"/>
                <a:gd name="connsiteX20" fmla="*/ 58472 w 798363"/>
                <a:gd name="connsiteY20" fmla="*/ 1032987 h 1032987"/>
                <a:gd name="connsiteX21" fmla="*/ 58470 w 798363"/>
                <a:gd name="connsiteY21" fmla="*/ 1032987 h 1032987"/>
                <a:gd name="connsiteX22" fmla="*/ 30592 w 798363"/>
                <a:gd name="connsiteY22" fmla="*/ 1032987 h 1032987"/>
                <a:gd name="connsiteX23" fmla="*/ 1573 w 798363"/>
                <a:gd name="connsiteY23" fmla="*/ 1003968 h 1032987"/>
                <a:gd name="connsiteX24" fmla="*/ 1573 w 798363"/>
                <a:gd name="connsiteY24" fmla="*/ 982304 h 1032987"/>
                <a:gd name="connsiteX25" fmla="*/ 0 w 798363"/>
                <a:gd name="connsiteY25" fmla="*/ 974515 h 1032987"/>
                <a:gd name="connsiteX26" fmla="*/ 0 w 798363"/>
                <a:gd name="connsiteY26" fmla="*/ 58472 h 1032987"/>
                <a:gd name="connsiteX27" fmla="*/ 58472 w 798363"/>
                <a:gd name="connsiteY27" fmla="*/ 0 h 1032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798363" h="1032987">
                  <a:moveTo>
                    <a:pt x="58472" y="0"/>
                  </a:moveTo>
                  <a:lnTo>
                    <a:pt x="292354" y="0"/>
                  </a:lnTo>
                  <a:lnTo>
                    <a:pt x="292359" y="1"/>
                  </a:lnTo>
                  <a:lnTo>
                    <a:pt x="622950" y="1"/>
                  </a:lnTo>
                  <a:cubicBezTo>
                    <a:pt x="719828" y="1"/>
                    <a:pt x="798363" y="78536"/>
                    <a:pt x="798363" y="175414"/>
                  </a:cubicBezTo>
                  <a:cubicBezTo>
                    <a:pt x="798363" y="272292"/>
                    <a:pt x="719828" y="350827"/>
                    <a:pt x="622950" y="350827"/>
                  </a:cubicBezTo>
                  <a:lnTo>
                    <a:pt x="562765" y="350827"/>
                  </a:lnTo>
                  <a:lnTo>
                    <a:pt x="562765" y="503174"/>
                  </a:lnTo>
                  <a:cubicBezTo>
                    <a:pt x="562765" y="510529"/>
                    <a:pt x="556802" y="516492"/>
                    <a:pt x="549447" y="516492"/>
                  </a:cubicBezTo>
                  <a:lnTo>
                    <a:pt x="496174" y="516492"/>
                  </a:lnTo>
                  <a:cubicBezTo>
                    <a:pt x="488819" y="516492"/>
                    <a:pt x="482856" y="510529"/>
                    <a:pt x="482856" y="503174"/>
                  </a:cubicBezTo>
                  <a:lnTo>
                    <a:pt x="482856" y="350827"/>
                  </a:lnTo>
                  <a:lnTo>
                    <a:pt x="350826" y="350827"/>
                  </a:lnTo>
                  <a:lnTo>
                    <a:pt x="350826" y="858878"/>
                  </a:lnTo>
                  <a:lnTo>
                    <a:pt x="765662" y="858878"/>
                  </a:lnTo>
                  <a:cubicBezTo>
                    <a:pt x="781689" y="858878"/>
                    <a:pt x="794681" y="871870"/>
                    <a:pt x="794681" y="887897"/>
                  </a:cubicBezTo>
                  <a:lnTo>
                    <a:pt x="794681" y="1003968"/>
                  </a:lnTo>
                  <a:cubicBezTo>
                    <a:pt x="794681" y="1019995"/>
                    <a:pt x="781689" y="1032987"/>
                    <a:pt x="765662" y="1032987"/>
                  </a:cubicBezTo>
                  <a:lnTo>
                    <a:pt x="292357" y="1032987"/>
                  </a:lnTo>
                  <a:lnTo>
                    <a:pt x="292354" y="1032987"/>
                  </a:lnTo>
                  <a:lnTo>
                    <a:pt x="58472" y="1032987"/>
                  </a:lnTo>
                  <a:lnTo>
                    <a:pt x="58470" y="1032987"/>
                  </a:lnTo>
                  <a:lnTo>
                    <a:pt x="30592" y="1032987"/>
                  </a:lnTo>
                  <a:cubicBezTo>
                    <a:pt x="14565" y="1032987"/>
                    <a:pt x="1573" y="1019995"/>
                    <a:pt x="1573" y="1003968"/>
                  </a:cubicBezTo>
                  <a:lnTo>
                    <a:pt x="1573" y="982304"/>
                  </a:lnTo>
                  <a:lnTo>
                    <a:pt x="0" y="974515"/>
                  </a:lnTo>
                  <a:lnTo>
                    <a:pt x="0" y="58472"/>
                  </a:lnTo>
                  <a:cubicBezTo>
                    <a:pt x="0" y="26179"/>
                    <a:pt x="26179" y="0"/>
                    <a:pt x="58472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A9A4563-B2C5-8904-F80B-36B035860A17}"/>
                </a:ext>
              </a:extLst>
            </p:cNvPr>
            <p:cNvSpPr/>
            <p:nvPr/>
          </p:nvSpPr>
          <p:spPr>
            <a:xfrm>
              <a:off x="1254841" y="3042122"/>
              <a:ext cx="206628" cy="165303"/>
            </a:xfrm>
            <a:custGeom>
              <a:avLst/>
              <a:gdLst>
                <a:gd name="connsiteX0" fmla="*/ 206629 w 206628"/>
                <a:gd name="connsiteY0" fmla="*/ 70089 h 165303"/>
                <a:gd name="connsiteX1" fmla="*/ 158691 w 206628"/>
                <a:gd name="connsiteY1" fmla="*/ 19836 h 165303"/>
                <a:gd name="connsiteX2" fmla="*/ 158691 w 206628"/>
                <a:gd name="connsiteY2" fmla="*/ 0 h 165303"/>
                <a:gd name="connsiteX3" fmla="*/ 0 w 206628"/>
                <a:gd name="connsiteY3" fmla="*/ 0 h 165303"/>
                <a:gd name="connsiteX4" fmla="*/ 0 w 206628"/>
                <a:gd name="connsiteY4" fmla="*/ 152079 h 165303"/>
                <a:gd name="connsiteX5" fmla="*/ 13224 w 206628"/>
                <a:gd name="connsiteY5" fmla="*/ 165303 h 165303"/>
                <a:gd name="connsiteX6" fmla="*/ 145467 w 206628"/>
                <a:gd name="connsiteY6" fmla="*/ 165303 h 165303"/>
                <a:gd name="connsiteX7" fmla="*/ 158691 w 206628"/>
                <a:gd name="connsiteY7" fmla="*/ 152079 h 165303"/>
                <a:gd name="connsiteX8" fmla="*/ 158691 w 206628"/>
                <a:gd name="connsiteY8" fmla="*/ 120671 h 165303"/>
                <a:gd name="connsiteX9" fmla="*/ 206629 w 206628"/>
                <a:gd name="connsiteY9" fmla="*/ 70089 h 165303"/>
                <a:gd name="connsiteX10" fmla="*/ 159022 w 206628"/>
                <a:gd name="connsiteY10" fmla="*/ 100835 h 165303"/>
                <a:gd name="connsiteX11" fmla="*/ 159022 w 206628"/>
                <a:gd name="connsiteY11" fmla="*/ 39673 h 165303"/>
                <a:gd name="connsiteX12" fmla="*/ 187123 w 206628"/>
                <a:gd name="connsiteY12" fmla="*/ 70089 h 165303"/>
                <a:gd name="connsiteX13" fmla="*/ 159022 w 206628"/>
                <a:gd name="connsiteY13" fmla="*/ 100835 h 165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6628" h="165303">
                  <a:moveTo>
                    <a:pt x="206629" y="70089"/>
                  </a:moveTo>
                  <a:cubicBezTo>
                    <a:pt x="206629" y="42979"/>
                    <a:pt x="185470" y="21159"/>
                    <a:pt x="158691" y="19836"/>
                  </a:cubicBezTo>
                  <a:lnTo>
                    <a:pt x="158691" y="0"/>
                  </a:lnTo>
                  <a:lnTo>
                    <a:pt x="0" y="0"/>
                  </a:lnTo>
                  <a:lnTo>
                    <a:pt x="0" y="152079"/>
                  </a:lnTo>
                  <a:cubicBezTo>
                    <a:pt x="0" y="159352"/>
                    <a:pt x="5951" y="165303"/>
                    <a:pt x="13224" y="165303"/>
                  </a:cubicBezTo>
                  <a:lnTo>
                    <a:pt x="145467" y="165303"/>
                  </a:lnTo>
                  <a:cubicBezTo>
                    <a:pt x="152740" y="165303"/>
                    <a:pt x="158691" y="159352"/>
                    <a:pt x="158691" y="152079"/>
                  </a:cubicBezTo>
                  <a:lnTo>
                    <a:pt x="158691" y="120671"/>
                  </a:lnTo>
                  <a:cubicBezTo>
                    <a:pt x="185470" y="119349"/>
                    <a:pt x="206629" y="97198"/>
                    <a:pt x="206629" y="70089"/>
                  </a:cubicBezTo>
                  <a:close/>
                  <a:moveTo>
                    <a:pt x="159022" y="100835"/>
                  </a:moveTo>
                  <a:lnTo>
                    <a:pt x="159022" y="39673"/>
                  </a:lnTo>
                  <a:cubicBezTo>
                    <a:pt x="174891" y="40995"/>
                    <a:pt x="187123" y="54219"/>
                    <a:pt x="187123" y="70089"/>
                  </a:cubicBezTo>
                  <a:cubicBezTo>
                    <a:pt x="187123" y="85958"/>
                    <a:pt x="174560" y="99512"/>
                    <a:pt x="159022" y="100835"/>
                  </a:cubicBezTo>
                  <a:close/>
                </a:path>
              </a:pathLst>
            </a:custGeom>
            <a:solidFill>
              <a:schemeClr val="accent5">
                <a:lumMod val="60000"/>
                <a:lumOff val="40000"/>
              </a:schemeClr>
            </a:solidFill>
            <a:ln w="32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E78BF9F-4918-8440-F981-0E95157DFCD2}"/>
              </a:ext>
            </a:extLst>
          </p:cNvPr>
          <p:cNvSpPr/>
          <p:nvPr/>
        </p:nvSpPr>
        <p:spPr>
          <a:xfrm>
            <a:off x="10808970" y="1944548"/>
            <a:ext cx="163830" cy="769606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777CBF-36D6-520C-475B-D06E546006A5}"/>
              </a:ext>
            </a:extLst>
          </p:cNvPr>
          <p:cNvSpPr txBox="1">
            <a:spLocks/>
          </p:cNvSpPr>
          <p:nvPr/>
        </p:nvSpPr>
        <p:spPr>
          <a:xfrm>
            <a:off x="778445" y="3590606"/>
            <a:ext cx="7798395" cy="621009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"data":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"type":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"number",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"description":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"Amount of water remaining in milliliters"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},</a:t>
            </a:r>
            <a:endParaRPr lang="en-US" sz="1600" dirty="0">
              <a:solidFill>
                <a:schemeClr val="accent3">
                  <a:lumMod val="8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FD5EFF2-FB62-433A-C6F4-02477F34F40B}"/>
              </a:ext>
            </a:extLst>
          </p:cNvPr>
          <p:cNvSpPr/>
          <p:nvPr/>
        </p:nvSpPr>
        <p:spPr>
          <a:xfrm>
            <a:off x="10808970" y="2351860"/>
            <a:ext cx="163830" cy="362294"/>
          </a:xfrm>
          <a:prstGeom prst="roundRect">
            <a:avLst>
              <a:gd name="adj" fmla="val 50000"/>
            </a:avLst>
          </a:prstGeom>
          <a:solidFill>
            <a:srgbClr val="F7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Graphic 7" descr="Water with solid fill">
            <a:extLst>
              <a:ext uri="{FF2B5EF4-FFF2-40B4-BE49-F238E27FC236}">
                <a16:creationId xmlns:a16="http://schemas.microsoft.com/office/drawing/2014/main" id="{C4214271-10D1-3BBA-D68F-2CCC24FEEA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484448" y="2414738"/>
            <a:ext cx="324522" cy="324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79286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2000">
        <p159:morph option="byObject"/>
      </p:transition>
    </mc:Choice>
    <mc:Fallback xmlns="">
      <p:transition spd="slow" advTm="2000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B7507-288B-5944-295D-CFF7BF0A3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FC43FCA9-928E-684D-0FDE-5DB80A7A4B1F}"/>
              </a:ext>
            </a:extLst>
          </p:cNvPr>
          <p:cNvSpPr txBox="1">
            <a:spLocks/>
          </p:cNvSpPr>
          <p:nvPr/>
        </p:nvSpPr>
        <p:spPr>
          <a:xfrm>
            <a:off x="1274798" y="365124"/>
            <a:ext cx="964240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Interaction Metadata</a:t>
            </a:r>
            <a:endParaRPr lang="aa-ET" dirty="0">
              <a:solidFill>
                <a:schemeClr val="accent1"/>
              </a:solidFill>
              <a:latin typeface="Century Gothic" panose="020B0502020202020204" pitchFamily="34" charset="0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83C3782-890C-7DA3-7CC8-1CBFBD0BAB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4673" y="1974195"/>
            <a:ext cx="7512938" cy="6210097"/>
          </a:xfrm>
        </p:spPr>
        <p:txBody>
          <a:bodyPr>
            <a:noAutofit/>
          </a:bodyPr>
          <a:lstStyle/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"properties":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coffeeBeansLeft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"title":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"Remaining Coffee Beans"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"description":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"Amount of remaining coffee beans in grams"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"type":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"number"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"minimum":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"maximum":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500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</a:t>
            </a:r>
            <a:r>
              <a:rPr lang="en-US" sz="1600" dirty="0" err="1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true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"observable":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false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"forms":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 ... 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...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28922521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5700">
        <p159:morph option="byObject"/>
      </p:transition>
    </mc:Choice>
    <mc:Fallback xmlns="">
      <p:transition spd="slow" advTm="57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1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30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"/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400"/>
                            </p:stCondLst>
                            <p:childTnLst>
                              <p:par>
                                <p:cTn id="6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00"/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56D4D6-5234-EF54-7272-83DC495B1F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77EC53F2-EEF5-E3BD-AADA-7602CADD7388}"/>
              </a:ext>
            </a:extLst>
          </p:cNvPr>
          <p:cNvSpPr txBox="1">
            <a:spLocks/>
          </p:cNvSpPr>
          <p:nvPr/>
        </p:nvSpPr>
        <p:spPr>
          <a:xfrm>
            <a:off x="1274798" y="365124"/>
            <a:ext cx="964240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Interaction Metadata</a:t>
            </a:r>
            <a:endParaRPr lang="aa-ET" dirty="0">
              <a:solidFill>
                <a:schemeClr val="accent1"/>
              </a:solidFill>
              <a:latin typeface="Century Gothic" panose="020B0502020202020204" pitchFamily="34" charset="0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CD9EA67-B314-052F-B24C-A5C5586276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4673" y="1974195"/>
            <a:ext cx="7512938" cy="6210097"/>
          </a:xfrm>
        </p:spPr>
        <p:txBody>
          <a:bodyPr>
            <a:noAutofit/>
          </a:bodyPr>
          <a:lstStyle/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"properties":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"</a:t>
            </a:r>
            <a:r>
              <a:rPr lang="en-US" sz="1600" dirty="0" err="1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coffeeBeansLeft</a:t>
            </a: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"title":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"Remaining Coffee Beans"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"description":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"Amount of remaining coffee beans in grams"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"type": "number",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"minimum": 0,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"maximum": 500,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</a:t>
            </a:r>
            <a:r>
              <a:rPr lang="en-US" sz="1600" dirty="0" err="1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true,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"observable": false,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"forms": [ ... 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...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BD44687-4EAF-D8E8-BFA1-D1D407179B0B}"/>
              </a:ext>
            </a:extLst>
          </p:cNvPr>
          <p:cNvSpPr txBox="1"/>
          <p:nvPr/>
        </p:nvSpPr>
        <p:spPr>
          <a:xfrm>
            <a:off x="8248125" y="2797103"/>
            <a:ext cx="322920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accent1"/>
                </a:solidFill>
                <a:latin typeface="Century Gothic" panose="020B0502020202020204" pitchFamily="34" charset="0"/>
              </a:rPr>
              <a:t>Human-readable labels</a:t>
            </a:r>
          </a:p>
        </p:txBody>
      </p:sp>
    </p:spTree>
    <p:extLst>
      <p:ext uri="{BB962C8B-B14F-4D97-AF65-F5344CB8AC3E}">
        <p14:creationId xmlns:p14="http://schemas.microsoft.com/office/powerpoint/2010/main" val="3464837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2100">
        <p159:morph option="byObject"/>
      </p:transition>
    </mc:Choice>
    <mc:Fallback xmlns="">
      <p:transition spd="slow" advTm="2100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1E3F0-DC57-870F-466B-EDF55A9B84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38F74858-B6FC-5FE4-6B26-2CBD9AE587F1}"/>
              </a:ext>
            </a:extLst>
          </p:cNvPr>
          <p:cNvSpPr txBox="1">
            <a:spLocks/>
          </p:cNvSpPr>
          <p:nvPr/>
        </p:nvSpPr>
        <p:spPr>
          <a:xfrm>
            <a:off x="1274798" y="365124"/>
            <a:ext cx="964240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Interaction Metadata</a:t>
            </a:r>
            <a:endParaRPr lang="aa-ET" dirty="0">
              <a:solidFill>
                <a:schemeClr val="accent1"/>
              </a:solidFill>
              <a:latin typeface="Century Gothic" panose="020B0502020202020204" pitchFamily="34" charset="0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001C567-83FA-F02B-6D20-5F69958A21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4673" y="1974195"/>
            <a:ext cx="7512938" cy="6210097"/>
          </a:xfrm>
        </p:spPr>
        <p:txBody>
          <a:bodyPr>
            <a:noAutofit/>
          </a:bodyPr>
          <a:lstStyle/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"properties":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coffeeBeansLeft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"title":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"Remaining Coffee Beans"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"description":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"Amount of remaining coffee beans in grams"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"type":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"number"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"minimum":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"maximum":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500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</a:t>
            </a:r>
            <a:r>
              <a:rPr lang="en-US" sz="1600" dirty="0" err="1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true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"observable":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false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"forms":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 ... 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...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D990E6-3235-D857-ABF7-88B5A6AC0B89}"/>
              </a:ext>
            </a:extLst>
          </p:cNvPr>
          <p:cNvSpPr txBox="1"/>
          <p:nvPr/>
        </p:nvSpPr>
        <p:spPr>
          <a:xfrm>
            <a:off x="8248125" y="2797103"/>
            <a:ext cx="322920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accent1"/>
                </a:solidFill>
                <a:latin typeface="Century Gothic" panose="020B0502020202020204" pitchFamily="34" charset="0"/>
              </a:rPr>
              <a:t>Human-readable labels</a:t>
            </a:r>
          </a:p>
        </p:txBody>
      </p:sp>
    </p:spTree>
    <p:extLst>
      <p:ext uri="{BB962C8B-B14F-4D97-AF65-F5344CB8AC3E}">
        <p14:creationId xmlns:p14="http://schemas.microsoft.com/office/powerpoint/2010/main" val="314102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1000">
        <p159:morph option="byObject"/>
      </p:transition>
    </mc:Choice>
    <mc:Fallback xmlns="">
      <p:transition spd="slow" advTm="1000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0EC61E55-8789-D522-F2ED-A4E9B310A067}"/>
              </a:ext>
            </a:extLst>
          </p:cNvPr>
          <p:cNvSpPr txBox="1">
            <a:spLocks/>
          </p:cNvSpPr>
          <p:nvPr/>
        </p:nvSpPr>
        <p:spPr>
          <a:xfrm>
            <a:off x="1274798" y="365124"/>
            <a:ext cx="964240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Interaction Metadata</a:t>
            </a:r>
            <a:endParaRPr lang="aa-ET" dirty="0">
              <a:solidFill>
                <a:schemeClr val="accent1"/>
              </a:solidFill>
              <a:latin typeface="Century Gothic" panose="020B0502020202020204" pitchFamily="34" charset="0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17AACBE-A538-7C79-CC86-B818F7E512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4673" y="1974195"/>
            <a:ext cx="7512938" cy="6210097"/>
          </a:xfrm>
        </p:spPr>
        <p:txBody>
          <a:bodyPr>
            <a:noAutofit/>
          </a:bodyPr>
          <a:lstStyle/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"properties":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"</a:t>
            </a:r>
            <a:r>
              <a:rPr lang="en-US" sz="1600" dirty="0" err="1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coffeeBeansLeft</a:t>
            </a: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"title": "Remaining Coffee Beans",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"description": "Amount of remaining coffee beans in grams",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"type": "number",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"minimum": 0,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"maximum": 500,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</a:t>
            </a:r>
            <a:r>
              <a:rPr lang="en-US" sz="1600" dirty="0" err="1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true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"observable":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false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"forms": [ ... 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...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12805D5-A3DF-A671-CB29-B2DBB40FFFDC}"/>
              </a:ext>
            </a:extLst>
          </p:cNvPr>
          <p:cNvSpPr txBox="1"/>
          <p:nvPr/>
        </p:nvSpPr>
        <p:spPr>
          <a:xfrm>
            <a:off x="8248125" y="2797103"/>
            <a:ext cx="322920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accent3">
                    <a:lumMod val="85000"/>
                  </a:schemeClr>
                </a:solidFill>
                <a:latin typeface="Century Gothic" panose="020B0502020202020204" pitchFamily="34" charset="0"/>
              </a:rPr>
              <a:t>Human-readable labels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776E17E-0C6B-6CBA-7339-CCD9F84D5BA2}"/>
              </a:ext>
            </a:extLst>
          </p:cNvPr>
          <p:cNvSpPr txBox="1"/>
          <p:nvPr/>
        </p:nvSpPr>
        <p:spPr>
          <a:xfrm>
            <a:off x="8227611" y="4211159"/>
            <a:ext cx="322920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accent1"/>
                </a:solidFill>
                <a:latin typeface="Century Gothic" panose="020B0502020202020204" pitchFamily="34" charset="0"/>
              </a:rPr>
              <a:t>Flags (applicable to properties)</a:t>
            </a:r>
          </a:p>
        </p:txBody>
      </p:sp>
    </p:spTree>
    <p:extLst>
      <p:ext uri="{BB962C8B-B14F-4D97-AF65-F5344CB8AC3E}">
        <p14:creationId xmlns:p14="http://schemas.microsoft.com/office/powerpoint/2010/main" val="22627318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1000">
        <p159:morph option="byObject"/>
      </p:transition>
    </mc:Choice>
    <mc:Fallback xmlns="">
      <p:transition spd="slow" advTm="1000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825B40-14A5-4DFB-983E-CCFABA69F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BDC763BA-6C0A-26C1-17BB-93537636E7F1}"/>
              </a:ext>
            </a:extLst>
          </p:cNvPr>
          <p:cNvSpPr txBox="1">
            <a:spLocks/>
          </p:cNvSpPr>
          <p:nvPr/>
        </p:nvSpPr>
        <p:spPr>
          <a:xfrm>
            <a:off x="1274798" y="365124"/>
            <a:ext cx="964240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Interaction Metadata</a:t>
            </a:r>
            <a:endParaRPr lang="aa-ET" dirty="0">
              <a:solidFill>
                <a:schemeClr val="accent1"/>
              </a:solidFill>
              <a:latin typeface="Century Gothic" panose="020B0502020202020204" pitchFamily="34" charset="0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293CF3C-BBE3-6CC0-6F38-E77CA98F2C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4673" y="1974195"/>
            <a:ext cx="7512938" cy="6210097"/>
          </a:xfrm>
        </p:spPr>
        <p:txBody>
          <a:bodyPr>
            <a:noAutofit/>
          </a:bodyPr>
          <a:lstStyle/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"properties":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600" dirty="0" err="1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coffeeBeansLeft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"title":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"Remaining Coffee Beans"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"description":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"Amount of remaining coffee beans in grams"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"type":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"number"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"minimum":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"maximum":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500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</a:t>
            </a:r>
            <a:r>
              <a:rPr lang="en-US" sz="1600" dirty="0" err="1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true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"observable": </a:t>
            </a:r>
            <a:r>
              <a:rPr lang="en-US" sz="16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false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"forms": </a:t>
            </a: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 ... 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...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6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23E723F-A156-A0C3-1F7B-300E08F48344}"/>
              </a:ext>
            </a:extLst>
          </p:cNvPr>
          <p:cNvSpPr txBox="1"/>
          <p:nvPr/>
        </p:nvSpPr>
        <p:spPr>
          <a:xfrm>
            <a:off x="8248125" y="2797103"/>
            <a:ext cx="322920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accent1"/>
                </a:solidFill>
                <a:latin typeface="Century Gothic" panose="020B0502020202020204" pitchFamily="34" charset="0"/>
              </a:rPr>
              <a:t>Human-readable labels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C363A1D-ACE2-26F4-E0B2-21A440281C9B}"/>
              </a:ext>
            </a:extLst>
          </p:cNvPr>
          <p:cNvSpPr txBox="1"/>
          <p:nvPr/>
        </p:nvSpPr>
        <p:spPr>
          <a:xfrm>
            <a:off x="8227611" y="4211159"/>
            <a:ext cx="322920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accent1"/>
                </a:solidFill>
                <a:latin typeface="Century Gothic" panose="020B0502020202020204" pitchFamily="34" charset="0"/>
              </a:rPr>
              <a:t>Flags (applicable to properties)</a:t>
            </a:r>
          </a:p>
        </p:txBody>
      </p:sp>
    </p:spTree>
    <p:extLst>
      <p:ext uri="{BB962C8B-B14F-4D97-AF65-F5344CB8AC3E}">
        <p14:creationId xmlns:p14="http://schemas.microsoft.com/office/powerpoint/2010/main" val="11699552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0">
        <p159:morph option="byObject"/>
      </p:transition>
    </mc:Choice>
    <mc:Fallback xmlns="">
      <p:transition spd="slow" advTm="0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4BE678-C456-1BD1-5B64-62C228ED2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7A8C73FE-DA2F-7FBF-1904-8E9DECB6D249}"/>
              </a:ext>
            </a:extLst>
          </p:cNvPr>
          <p:cNvSpPr txBox="1">
            <a:spLocks/>
          </p:cNvSpPr>
          <p:nvPr/>
        </p:nvSpPr>
        <p:spPr>
          <a:xfrm>
            <a:off x="1274798" y="365124"/>
            <a:ext cx="964240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Interaction Metadata</a:t>
            </a:r>
            <a:endParaRPr lang="aa-ET" dirty="0">
              <a:solidFill>
                <a:schemeClr val="accent1"/>
              </a:solidFill>
              <a:latin typeface="Century Gothic" panose="020B0502020202020204" pitchFamily="34" charset="0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33D438C-B22D-7A9E-FA0A-F5792DF5F3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5187" y="1363508"/>
            <a:ext cx="7512938" cy="6210097"/>
          </a:xfrm>
        </p:spPr>
        <p:txBody>
          <a:bodyPr>
            <a:noAutofit/>
          </a:bodyPr>
          <a:lstStyle/>
          <a:p>
            <a:pPr marL="0" indent="0">
              <a:lnSpc>
                <a:spcPct val="70000"/>
              </a:lnSpc>
              <a:buNone/>
            </a:pP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2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"actions": </a:t>
            </a: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2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200" dirty="0" err="1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brewCoffee</a:t>
            </a:r>
            <a:r>
              <a:rPr lang="en-US" sz="12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</a:t>
            </a: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2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"title": </a:t>
            </a:r>
            <a:r>
              <a:rPr lang="en-US" sz="12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"Brew Coffee"</a:t>
            </a: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2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"description": </a:t>
            </a:r>
            <a:r>
              <a:rPr lang="en-US" sz="12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"Starts brewing a cup of coffee"</a:t>
            </a: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2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"input": </a:t>
            </a: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2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"type": </a:t>
            </a:r>
            <a:r>
              <a:rPr lang="en-US" sz="12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"object"</a:t>
            </a: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2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"properties": </a:t>
            </a: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</a:t>
            </a:r>
            <a:r>
              <a:rPr lang="en-US" sz="12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"size": </a:t>
            </a: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US" sz="12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"type": </a:t>
            </a:r>
            <a:r>
              <a:rPr lang="en-US" sz="12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"string"</a:t>
            </a: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US" sz="12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200" dirty="0" err="1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enum</a:t>
            </a:r>
            <a:r>
              <a:rPr lang="en-US" sz="12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</a:t>
            </a: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US" sz="12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"small", "medium", "large"</a:t>
            </a: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},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26FE14-E44F-8FA7-509E-2115AFE28ED2}"/>
              </a:ext>
            </a:extLst>
          </p:cNvPr>
          <p:cNvSpPr txBox="1"/>
          <p:nvPr/>
        </p:nvSpPr>
        <p:spPr>
          <a:xfrm>
            <a:off x="8248125" y="2797103"/>
            <a:ext cx="322920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accent1"/>
                </a:solidFill>
                <a:latin typeface="Century Gothic" panose="020B0502020202020204" pitchFamily="34" charset="0"/>
              </a:rPr>
              <a:t>Human-readable labels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9E90FD-DA4D-3872-DB0B-27FCE7DDE835}"/>
              </a:ext>
            </a:extLst>
          </p:cNvPr>
          <p:cNvSpPr txBox="1"/>
          <p:nvPr/>
        </p:nvSpPr>
        <p:spPr>
          <a:xfrm>
            <a:off x="8227611" y="4211159"/>
            <a:ext cx="322920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accent1"/>
                </a:solidFill>
                <a:latin typeface="Century Gothic" panose="020B0502020202020204" pitchFamily="34" charset="0"/>
              </a:rPr>
              <a:t>Flags (applicable to properties)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30CF284C-0CCD-029E-83FD-49E0F81D9E7B}"/>
              </a:ext>
            </a:extLst>
          </p:cNvPr>
          <p:cNvSpPr txBox="1">
            <a:spLocks/>
          </p:cNvSpPr>
          <p:nvPr/>
        </p:nvSpPr>
        <p:spPr>
          <a:xfrm>
            <a:off x="735187" y="4980600"/>
            <a:ext cx="7512938" cy="621009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70000"/>
              </a:lnSpc>
              <a:buNone/>
            </a:pP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"forms": </a:t>
            </a: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 ... 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1158944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0">
        <p159:morph option="byObject"/>
      </p:transition>
    </mc:Choice>
    <mc:Fallback xmlns="">
      <p:transition spd="slow" advTm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6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7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9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1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30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"/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400"/>
                            </p:stCondLst>
                            <p:childTnLst>
                              <p:par>
                                <p:cTn id="6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500"/>
                            </p:stCondLst>
                            <p:childTnLst>
                              <p:par>
                                <p:cTn id="6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600"/>
                            </p:stCondLst>
                            <p:childTnLst>
                              <p:par>
                                <p:cTn id="6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1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700"/>
                            </p:stCondLst>
                            <p:childTnLst>
                              <p:par>
                                <p:cTn id="7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2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88B8A-E8B9-F29A-B6D5-978F69534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08E0D56-8551-1751-65E8-017AD537D2E9}"/>
              </a:ext>
            </a:extLst>
          </p:cNvPr>
          <p:cNvSpPr txBox="1">
            <a:spLocks/>
          </p:cNvSpPr>
          <p:nvPr/>
        </p:nvSpPr>
        <p:spPr>
          <a:xfrm>
            <a:off x="1274798" y="365124"/>
            <a:ext cx="964240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Interaction Metadata</a:t>
            </a:r>
            <a:endParaRPr lang="aa-ET" dirty="0">
              <a:solidFill>
                <a:schemeClr val="accent1"/>
              </a:solidFill>
              <a:latin typeface="Century Gothic" panose="020B0502020202020204" pitchFamily="34" charset="0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BCC6C7E-1BBF-5EB5-FE01-E66A4AAEDC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5187" y="1363508"/>
            <a:ext cx="7512938" cy="6210097"/>
          </a:xfrm>
        </p:spPr>
        <p:txBody>
          <a:bodyPr>
            <a:noAutofit/>
          </a:bodyPr>
          <a:lstStyle/>
          <a:p>
            <a:pPr marL="0" indent="0">
              <a:lnSpc>
                <a:spcPct val="70000"/>
              </a:lnSpc>
              <a:buNone/>
            </a:pP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2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"actions": </a:t>
            </a: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2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200" dirty="0" err="1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brewCoffee</a:t>
            </a:r>
            <a:r>
              <a:rPr lang="en-US" sz="12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</a:t>
            </a: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2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"title": </a:t>
            </a:r>
            <a:r>
              <a:rPr lang="en-US" sz="12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"Brew Coffee"</a:t>
            </a: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2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"description": </a:t>
            </a:r>
            <a:r>
              <a:rPr lang="en-US" sz="12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"Starts brewing a cup of coffee"</a:t>
            </a: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2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"input": </a:t>
            </a: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2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"type": </a:t>
            </a:r>
            <a:r>
              <a:rPr lang="en-US" sz="12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"object"</a:t>
            </a: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2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"properties": </a:t>
            </a: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</a:t>
            </a:r>
            <a:r>
              <a:rPr lang="en-US" sz="12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"size": </a:t>
            </a: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US" sz="12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"type": </a:t>
            </a:r>
            <a:r>
              <a:rPr lang="en-US" sz="12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"string"</a:t>
            </a: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US" sz="12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200" dirty="0" err="1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enum</a:t>
            </a:r>
            <a:r>
              <a:rPr lang="en-US" sz="12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</a:t>
            </a: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US" sz="12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"small", "medium", "large"</a:t>
            </a: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},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4A1518B-4C58-411C-79ED-5624B3F0B2C3}"/>
              </a:ext>
            </a:extLst>
          </p:cNvPr>
          <p:cNvSpPr txBox="1"/>
          <p:nvPr/>
        </p:nvSpPr>
        <p:spPr>
          <a:xfrm>
            <a:off x="8248125" y="2797103"/>
            <a:ext cx="322920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accent1"/>
                </a:solidFill>
                <a:latin typeface="Century Gothic" panose="020B0502020202020204" pitchFamily="34" charset="0"/>
              </a:rPr>
              <a:t>Human-readable labels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65F8A02-4A22-152C-E6BF-A8079ED0140D}"/>
              </a:ext>
            </a:extLst>
          </p:cNvPr>
          <p:cNvSpPr txBox="1"/>
          <p:nvPr/>
        </p:nvSpPr>
        <p:spPr>
          <a:xfrm>
            <a:off x="8227611" y="3801317"/>
            <a:ext cx="322920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accent1"/>
                </a:solidFill>
                <a:latin typeface="Century Gothic" panose="020B0502020202020204" pitchFamily="34" charset="0"/>
              </a:rPr>
              <a:t>Flags (applicable to properties)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D7F2370-EA8F-229D-1F53-2FE3D2574CF6}"/>
              </a:ext>
            </a:extLst>
          </p:cNvPr>
          <p:cNvSpPr txBox="1">
            <a:spLocks/>
          </p:cNvSpPr>
          <p:nvPr/>
        </p:nvSpPr>
        <p:spPr>
          <a:xfrm>
            <a:off x="735187" y="5747135"/>
            <a:ext cx="7512938" cy="621009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70000"/>
              </a:lnSpc>
              <a:buNone/>
            </a:pP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2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"forms": </a:t>
            </a: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 ... 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47EDE7-EFFE-8294-4803-D15006D12994}"/>
              </a:ext>
            </a:extLst>
          </p:cNvPr>
          <p:cNvSpPr txBox="1">
            <a:spLocks/>
          </p:cNvSpPr>
          <p:nvPr/>
        </p:nvSpPr>
        <p:spPr>
          <a:xfrm>
            <a:off x="822114" y="4952152"/>
            <a:ext cx="7512938" cy="621009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70000"/>
              </a:lnSpc>
              <a:buNone/>
            </a:pPr>
            <a:r>
              <a:rPr lang="en-US" sz="12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"safe":</a:t>
            </a: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false</a:t>
            </a: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2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"idempotent":</a:t>
            </a: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false</a:t>
            </a: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2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"synchronous":</a:t>
            </a: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2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true</a:t>
            </a:r>
            <a:r>
              <a:rPr lang="en-US" sz="12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21343C-5012-DD5D-3985-6C87B8A2E663}"/>
              </a:ext>
            </a:extLst>
          </p:cNvPr>
          <p:cNvSpPr txBox="1"/>
          <p:nvPr/>
        </p:nvSpPr>
        <p:spPr>
          <a:xfrm>
            <a:off x="8227611" y="4805531"/>
            <a:ext cx="322920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accent1"/>
                </a:solidFill>
                <a:latin typeface="Century Gothic" panose="020B0502020202020204" pitchFamily="34" charset="0"/>
              </a:rPr>
              <a:t>Subtypes (applicable to actions)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86C76C-BF94-BC91-BDB4-B73547FA45EB}"/>
              </a:ext>
            </a:extLst>
          </p:cNvPr>
          <p:cNvSpPr txBox="1"/>
          <p:nvPr/>
        </p:nvSpPr>
        <p:spPr>
          <a:xfrm>
            <a:off x="8227611" y="5756311"/>
            <a:ext cx="32292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dirty="0">
                <a:solidFill>
                  <a:schemeClr val="bg2">
                    <a:lumMod val="75000"/>
                  </a:schemeClr>
                </a:solidFill>
                <a:latin typeface="Century Gothic" panose="020B0502020202020204" pitchFamily="34" charset="0"/>
              </a:rPr>
              <a:t>… and more.</a:t>
            </a:r>
          </a:p>
        </p:txBody>
      </p:sp>
    </p:spTree>
    <p:extLst>
      <p:ext uri="{BB962C8B-B14F-4D97-AF65-F5344CB8AC3E}">
        <p14:creationId xmlns:p14="http://schemas.microsoft.com/office/powerpoint/2010/main" val="4507674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17500">
        <p159:morph option="byObject"/>
      </p:transition>
    </mc:Choice>
    <mc:Fallback xmlns="">
      <p:transition spd="slow" advTm="175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E6559DB-C009-AEC6-B69E-34A6BD1355C8}"/>
              </a:ext>
            </a:extLst>
          </p:cNvPr>
          <p:cNvSpPr txBox="1">
            <a:spLocks/>
          </p:cNvSpPr>
          <p:nvPr/>
        </p:nvSpPr>
        <p:spPr>
          <a:xfrm>
            <a:off x="1274798" y="241554"/>
            <a:ext cx="964240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Data</a:t>
            </a:r>
            <a:endParaRPr lang="aa-ET" dirty="0">
              <a:solidFill>
                <a:schemeClr val="accent1"/>
              </a:solidFill>
              <a:latin typeface="Century Gothic" panose="020B0502020202020204" pitchFamily="34" charset="0"/>
            </a:endParaRP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18858251-DA5D-368E-932C-66EC5C2051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8446" y="1454532"/>
            <a:ext cx="7512938" cy="6210097"/>
          </a:xfrm>
        </p:spPr>
        <p:txBody>
          <a:bodyPr>
            <a:noAutofit/>
          </a:bodyPr>
          <a:lstStyle/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"actions": 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400" dirty="0" err="1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brewCoffee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"title": </a:t>
            </a:r>
            <a:r>
              <a:rPr lang="en-US" sz="14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"Brew Coffee"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"description": </a:t>
            </a:r>
            <a:r>
              <a:rPr lang="en-US" sz="14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"Starts brewing a cup of coffee"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"input": 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"type": </a:t>
            </a:r>
            <a:r>
              <a:rPr lang="en-US" sz="14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"object"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"properties": 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"size": 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"type": </a:t>
            </a:r>
            <a:r>
              <a:rPr lang="en-US" sz="14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"string"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400" dirty="0" err="1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enum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</a:t>
            </a:r>
            <a:r>
              <a:rPr lang="en-US" sz="14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["small", "medium", "large"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},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"forms": 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 ... 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21238479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14200">
        <p159:morph option="byObject"/>
      </p:transition>
    </mc:Choice>
    <mc:Fallback xmlns="">
      <p:transition spd="slow" advTm="142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5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4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50"/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600"/>
                            </p:stCondLst>
                            <p:childTnLst>
                              <p:par>
                                <p:cTn id="2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5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75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"/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9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"/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5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"/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2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"/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35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50"/>
                                        <p:tgtEl>
                                          <p:spTgt spid="1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"/>
                                        <p:tgtEl>
                                          <p:spTgt spid="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65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50"/>
                                        <p:tgtEl>
                                          <p:spTgt spid="1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8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50"/>
                                        <p:tgtEl>
                                          <p:spTgt spid="1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9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"/>
                                        <p:tgtEl>
                                          <p:spTgt spid="1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2100"/>
                            </p:stCondLst>
                            <p:childTnLst>
                              <p:par>
                                <p:cTn id="6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150"/>
                                        <p:tgtEl>
                                          <p:spTgt spid="1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250"/>
                            </p:stCondLst>
                            <p:childTnLst>
                              <p:par>
                                <p:cTn id="6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"/>
                                        <p:tgtEl>
                                          <p:spTgt spid="1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2400"/>
                            </p:stCondLst>
                            <p:childTnLst>
                              <p:par>
                                <p:cTn id="6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150"/>
                                        <p:tgtEl>
                                          <p:spTgt spid="1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2550"/>
                            </p:stCondLst>
                            <p:childTnLst>
                              <p:par>
                                <p:cTn id="7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150"/>
                                        <p:tgtEl>
                                          <p:spTgt spid="1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556EE3-2F45-815E-9452-3CD00DBED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7737CFE3-F4EC-0A73-CAC1-CDDC8CDC6B94}"/>
              </a:ext>
            </a:extLst>
          </p:cNvPr>
          <p:cNvSpPr txBox="1">
            <a:spLocks/>
          </p:cNvSpPr>
          <p:nvPr/>
        </p:nvSpPr>
        <p:spPr>
          <a:xfrm>
            <a:off x="1274798" y="241554"/>
            <a:ext cx="964240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Data</a:t>
            </a:r>
            <a:endParaRPr lang="aa-ET" dirty="0">
              <a:solidFill>
                <a:schemeClr val="accent1"/>
              </a:solidFill>
              <a:latin typeface="Century Gothic" panose="020B0502020202020204" pitchFamily="34" charset="0"/>
            </a:endParaRP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8E81869-21D2-7190-B6D6-CE00870855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8446" y="1454532"/>
            <a:ext cx="7512938" cy="6210097"/>
          </a:xfrm>
        </p:spPr>
        <p:txBody>
          <a:bodyPr>
            <a:noAutofit/>
          </a:bodyPr>
          <a:lstStyle/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"actions":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"</a:t>
            </a:r>
            <a:r>
              <a:rPr lang="en-US" sz="1400" dirty="0" err="1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brewCoffee</a:t>
            </a: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"title": "Brew Coffee",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"description": "Starts brewing a cup of coffee",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"input": 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"type": </a:t>
            </a:r>
            <a:r>
              <a:rPr lang="en-US" sz="14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"object"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"properties": 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"size": 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"type": </a:t>
            </a:r>
            <a:r>
              <a:rPr lang="en-US" sz="14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"string"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400" dirty="0" err="1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enum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</a:t>
            </a:r>
            <a:r>
              <a:rPr lang="en-US" sz="14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["small", "medium", "large"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}</a:t>
            </a: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"forms": [ ... 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5864171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0">
        <p159:morph option="byObject"/>
      </p:transition>
    </mc:Choice>
    <mc:Fallback xmlns="">
      <p:transition spd="slow" advTm="0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9C3B5-608D-6609-680A-7A424CD3A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64F1CEB2-7D7E-687D-0EB4-FA7516654D5B}"/>
              </a:ext>
            </a:extLst>
          </p:cNvPr>
          <p:cNvSpPr txBox="1">
            <a:spLocks/>
          </p:cNvSpPr>
          <p:nvPr/>
        </p:nvSpPr>
        <p:spPr>
          <a:xfrm>
            <a:off x="1274798" y="241554"/>
            <a:ext cx="964240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Data</a:t>
            </a:r>
            <a:endParaRPr lang="aa-ET" dirty="0">
              <a:solidFill>
                <a:schemeClr val="accent1"/>
              </a:solidFill>
              <a:latin typeface="Century Gothic" panose="020B0502020202020204" pitchFamily="34" charset="0"/>
            </a:endParaRPr>
          </a:p>
        </p:txBody>
      </p:sp>
      <p:pic>
        <p:nvPicPr>
          <p:cNvPr id="11" name="Graphic 10" descr="Smart Phone with solid fill">
            <a:extLst>
              <a:ext uri="{FF2B5EF4-FFF2-40B4-BE49-F238E27FC236}">
                <a16:creationId xmlns:a16="http://schemas.microsoft.com/office/drawing/2014/main" id="{8EC341D6-C940-9391-58E2-185F155331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06243" y="1799026"/>
            <a:ext cx="5065411" cy="4570280"/>
          </a:xfrm>
          <a:prstGeom prst="rect">
            <a:avLst/>
          </a:prstGeom>
        </p:spPr>
      </p:pic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49BA64E-B3B9-1B43-E4C6-1EE26C5007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8446" y="1454532"/>
            <a:ext cx="7512938" cy="6210097"/>
          </a:xfrm>
        </p:spPr>
        <p:txBody>
          <a:bodyPr>
            <a:noAutofit/>
          </a:bodyPr>
          <a:lstStyle/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"actions":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"</a:t>
            </a:r>
            <a:r>
              <a:rPr lang="en-US" sz="1400" dirty="0" err="1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brewCoffee</a:t>
            </a: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"title": "Brew Coffee",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"description": "Starts brewing a cup of coffee",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"input": 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"type": </a:t>
            </a:r>
            <a:r>
              <a:rPr lang="en-US" sz="14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"object"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"properties": 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"size": 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"type": </a:t>
            </a:r>
            <a:r>
              <a:rPr lang="en-US" sz="14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"string"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400" dirty="0" err="1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enum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US" sz="14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"small", "medium", "large"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}</a:t>
            </a: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"forms": [ ... 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8654908D-1791-68BB-C1D9-28F23A0AD5EC}"/>
              </a:ext>
            </a:extLst>
          </p:cNvPr>
          <p:cNvSpPr txBox="1">
            <a:spLocks/>
          </p:cNvSpPr>
          <p:nvPr/>
        </p:nvSpPr>
        <p:spPr>
          <a:xfrm>
            <a:off x="7514511" y="2610346"/>
            <a:ext cx="205100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Brew Coffee</a:t>
            </a:r>
            <a:endParaRPr lang="aa-ET" sz="1800" dirty="0">
              <a:solidFill>
                <a:schemeClr val="accent1"/>
              </a:solidFill>
              <a:latin typeface="Century Gothic" panose="020B0502020202020204" pitchFamily="34" charset="0"/>
            </a:endParaRP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EDC606C0-0724-5E09-774A-9E779D7419BC}"/>
              </a:ext>
            </a:extLst>
          </p:cNvPr>
          <p:cNvSpPr txBox="1">
            <a:spLocks/>
          </p:cNvSpPr>
          <p:nvPr/>
        </p:nvSpPr>
        <p:spPr>
          <a:xfrm>
            <a:off x="7512980" y="3183423"/>
            <a:ext cx="205100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Size:</a:t>
            </a:r>
            <a:endParaRPr lang="aa-ET" sz="1800" dirty="0">
              <a:solidFill>
                <a:schemeClr val="accent1"/>
              </a:solidFill>
              <a:latin typeface="Century Gothic" panose="020B0502020202020204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90110862-3526-CAAF-B232-A277D1F096B7}"/>
              </a:ext>
            </a:extLst>
          </p:cNvPr>
          <p:cNvSpPr/>
          <p:nvPr/>
        </p:nvSpPr>
        <p:spPr>
          <a:xfrm>
            <a:off x="7965068" y="4249182"/>
            <a:ext cx="1146832" cy="907146"/>
          </a:xfrm>
          <a:prstGeom prst="roundRect">
            <a:avLst>
              <a:gd name="adj" fmla="val 17450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chemeClr val="accent1"/>
              </a:solidFill>
              <a:latin typeface="Century Gothic" panose="020B0502020202020204" pitchFamily="34" charset="0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8C22762-AABB-FC42-5E5D-D57C7258D820}"/>
              </a:ext>
            </a:extLst>
          </p:cNvPr>
          <p:cNvSpPr/>
          <p:nvPr/>
        </p:nvSpPr>
        <p:spPr>
          <a:xfrm>
            <a:off x="7965069" y="4855112"/>
            <a:ext cx="1146832" cy="301216"/>
          </a:xfrm>
          <a:prstGeom prst="roundRect">
            <a:avLst>
              <a:gd name="adj" fmla="val 50000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1"/>
                </a:solidFill>
                <a:latin typeface="Century Gothic" panose="020B0502020202020204" pitchFamily="34" charset="0"/>
              </a:rPr>
              <a:t>large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6A54A46-8383-779D-7902-122D1FD2C9BC}"/>
              </a:ext>
            </a:extLst>
          </p:cNvPr>
          <p:cNvSpPr/>
          <p:nvPr/>
        </p:nvSpPr>
        <p:spPr>
          <a:xfrm>
            <a:off x="7965069" y="4553156"/>
            <a:ext cx="1146832" cy="301216"/>
          </a:xfrm>
          <a:prstGeom prst="roundRect">
            <a:avLst>
              <a:gd name="adj" fmla="val 50000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1"/>
                </a:solidFill>
                <a:latin typeface="Century Gothic" panose="020B0502020202020204" pitchFamily="34" charset="0"/>
              </a:rPr>
              <a:t>medium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10413A8-AC9D-B250-C640-E592C3FB19EB}"/>
              </a:ext>
            </a:extLst>
          </p:cNvPr>
          <p:cNvSpPr/>
          <p:nvPr/>
        </p:nvSpPr>
        <p:spPr>
          <a:xfrm>
            <a:off x="7965068" y="4250561"/>
            <a:ext cx="1146832" cy="301216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1"/>
                </a:solidFill>
                <a:latin typeface="Century Gothic" panose="020B0502020202020204" pitchFamily="34" charset="0"/>
              </a:rPr>
              <a:t>small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FE63ACC-F600-2828-CE3E-6C2E31B17555}"/>
              </a:ext>
            </a:extLst>
          </p:cNvPr>
          <p:cNvGrpSpPr/>
          <p:nvPr/>
        </p:nvGrpSpPr>
        <p:grpSpPr>
          <a:xfrm>
            <a:off x="10220056" y="4508985"/>
            <a:ext cx="1193498" cy="1666579"/>
            <a:chOff x="974627" y="2611041"/>
            <a:chExt cx="520902" cy="727378"/>
          </a:xfrm>
          <a:solidFill>
            <a:schemeClr val="tx2"/>
          </a:solidFill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246F3437-2B70-6414-AE48-DA09A252EBC9}"/>
                </a:ext>
              </a:extLst>
            </p:cNvPr>
            <p:cNvSpPr/>
            <p:nvPr/>
          </p:nvSpPr>
          <p:spPr>
            <a:xfrm>
              <a:off x="974627" y="2611041"/>
              <a:ext cx="520902" cy="727378"/>
            </a:xfrm>
            <a:custGeom>
              <a:avLst/>
              <a:gdLst>
                <a:gd name="connsiteX0" fmla="*/ 58472 w 798363"/>
                <a:gd name="connsiteY0" fmla="*/ 0 h 1032987"/>
                <a:gd name="connsiteX1" fmla="*/ 292354 w 798363"/>
                <a:gd name="connsiteY1" fmla="*/ 0 h 1032987"/>
                <a:gd name="connsiteX2" fmla="*/ 292359 w 798363"/>
                <a:gd name="connsiteY2" fmla="*/ 1 h 1032987"/>
                <a:gd name="connsiteX3" fmla="*/ 622950 w 798363"/>
                <a:gd name="connsiteY3" fmla="*/ 1 h 1032987"/>
                <a:gd name="connsiteX4" fmla="*/ 798363 w 798363"/>
                <a:gd name="connsiteY4" fmla="*/ 175414 h 1032987"/>
                <a:gd name="connsiteX5" fmla="*/ 622950 w 798363"/>
                <a:gd name="connsiteY5" fmla="*/ 350827 h 1032987"/>
                <a:gd name="connsiteX6" fmla="*/ 562765 w 798363"/>
                <a:gd name="connsiteY6" fmla="*/ 350827 h 1032987"/>
                <a:gd name="connsiteX7" fmla="*/ 562765 w 798363"/>
                <a:gd name="connsiteY7" fmla="*/ 503174 h 1032987"/>
                <a:gd name="connsiteX8" fmla="*/ 549447 w 798363"/>
                <a:gd name="connsiteY8" fmla="*/ 516492 h 1032987"/>
                <a:gd name="connsiteX9" fmla="*/ 496174 w 798363"/>
                <a:gd name="connsiteY9" fmla="*/ 516492 h 1032987"/>
                <a:gd name="connsiteX10" fmla="*/ 482856 w 798363"/>
                <a:gd name="connsiteY10" fmla="*/ 503174 h 1032987"/>
                <a:gd name="connsiteX11" fmla="*/ 482856 w 798363"/>
                <a:gd name="connsiteY11" fmla="*/ 350827 h 1032987"/>
                <a:gd name="connsiteX12" fmla="*/ 350826 w 798363"/>
                <a:gd name="connsiteY12" fmla="*/ 350827 h 1032987"/>
                <a:gd name="connsiteX13" fmla="*/ 350826 w 798363"/>
                <a:gd name="connsiteY13" fmla="*/ 858878 h 1032987"/>
                <a:gd name="connsiteX14" fmla="*/ 765662 w 798363"/>
                <a:gd name="connsiteY14" fmla="*/ 858878 h 1032987"/>
                <a:gd name="connsiteX15" fmla="*/ 794681 w 798363"/>
                <a:gd name="connsiteY15" fmla="*/ 887897 h 1032987"/>
                <a:gd name="connsiteX16" fmla="*/ 794681 w 798363"/>
                <a:gd name="connsiteY16" fmla="*/ 1003968 h 1032987"/>
                <a:gd name="connsiteX17" fmla="*/ 765662 w 798363"/>
                <a:gd name="connsiteY17" fmla="*/ 1032987 h 1032987"/>
                <a:gd name="connsiteX18" fmla="*/ 292357 w 798363"/>
                <a:gd name="connsiteY18" fmla="*/ 1032987 h 1032987"/>
                <a:gd name="connsiteX19" fmla="*/ 292354 w 798363"/>
                <a:gd name="connsiteY19" fmla="*/ 1032987 h 1032987"/>
                <a:gd name="connsiteX20" fmla="*/ 58472 w 798363"/>
                <a:gd name="connsiteY20" fmla="*/ 1032987 h 1032987"/>
                <a:gd name="connsiteX21" fmla="*/ 58470 w 798363"/>
                <a:gd name="connsiteY21" fmla="*/ 1032987 h 1032987"/>
                <a:gd name="connsiteX22" fmla="*/ 30592 w 798363"/>
                <a:gd name="connsiteY22" fmla="*/ 1032987 h 1032987"/>
                <a:gd name="connsiteX23" fmla="*/ 1573 w 798363"/>
                <a:gd name="connsiteY23" fmla="*/ 1003968 h 1032987"/>
                <a:gd name="connsiteX24" fmla="*/ 1573 w 798363"/>
                <a:gd name="connsiteY24" fmla="*/ 982304 h 1032987"/>
                <a:gd name="connsiteX25" fmla="*/ 0 w 798363"/>
                <a:gd name="connsiteY25" fmla="*/ 974515 h 1032987"/>
                <a:gd name="connsiteX26" fmla="*/ 0 w 798363"/>
                <a:gd name="connsiteY26" fmla="*/ 58472 h 1032987"/>
                <a:gd name="connsiteX27" fmla="*/ 58472 w 798363"/>
                <a:gd name="connsiteY27" fmla="*/ 0 h 1032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798363" h="1032987">
                  <a:moveTo>
                    <a:pt x="58472" y="0"/>
                  </a:moveTo>
                  <a:lnTo>
                    <a:pt x="292354" y="0"/>
                  </a:lnTo>
                  <a:lnTo>
                    <a:pt x="292359" y="1"/>
                  </a:lnTo>
                  <a:lnTo>
                    <a:pt x="622950" y="1"/>
                  </a:lnTo>
                  <a:cubicBezTo>
                    <a:pt x="719828" y="1"/>
                    <a:pt x="798363" y="78536"/>
                    <a:pt x="798363" y="175414"/>
                  </a:cubicBezTo>
                  <a:cubicBezTo>
                    <a:pt x="798363" y="272292"/>
                    <a:pt x="719828" y="350827"/>
                    <a:pt x="622950" y="350827"/>
                  </a:cubicBezTo>
                  <a:lnTo>
                    <a:pt x="562765" y="350827"/>
                  </a:lnTo>
                  <a:lnTo>
                    <a:pt x="562765" y="503174"/>
                  </a:lnTo>
                  <a:cubicBezTo>
                    <a:pt x="562765" y="510529"/>
                    <a:pt x="556802" y="516492"/>
                    <a:pt x="549447" y="516492"/>
                  </a:cubicBezTo>
                  <a:lnTo>
                    <a:pt x="496174" y="516492"/>
                  </a:lnTo>
                  <a:cubicBezTo>
                    <a:pt x="488819" y="516492"/>
                    <a:pt x="482856" y="510529"/>
                    <a:pt x="482856" y="503174"/>
                  </a:cubicBezTo>
                  <a:lnTo>
                    <a:pt x="482856" y="350827"/>
                  </a:lnTo>
                  <a:lnTo>
                    <a:pt x="350826" y="350827"/>
                  </a:lnTo>
                  <a:lnTo>
                    <a:pt x="350826" y="858878"/>
                  </a:lnTo>
                  <a:lnTo>
                    <a:pt x="765662" y="858878"/>
                  </a:lnTo>
                  <a:cubicBezTo>
                    <a:pt x="781689" y="858878"/>
                    <a:pt x="794681" y="871870"/>
                    <a:pt x="794681" y="887897"/>
                  </a:cubicBezTo>
                  <a:lnTo>
                    <a:pt x="794681" y="1003968"/>
                  </a:lnTo>
                  <a:cubicBezTo>
                    <a:pt x="794681" y="1019995"/>
                    <a:pt x="781689" y="1032987"/>
                    <a:pt x="765662" y="1032987"/>
                  </a:cubicBezTo>
                  <a:lnTo>
                    <a:pt x="292357" y="1032987"/>
                  </a:lnTo>
                  <a:lnTo>
                    <a:pt x="292354" y="1032987"/>
                  </a:lnTo>
                  <a:lnTo>
                    <a:pt x="58472" y="1032987"/>
                  </a:lnTo>
                  <a:lnTo>
                    <a:pt x="58470" y="1032987"/>
                  </a:lnTo>
                  <a:lnTo>
                    <a:pt x="30592" y="1032987"/>
                  </a:lnTo>
                  <a:cubicBezTo>
                    <a:pt x="14565" y="1032987"/>
                    <a:pt x="1573" y="1019995"/>
                    <a:pt x="1573" y="1003968"/>
                  </a:cubicBezTo>
                  <a:lnTo>
                    <a:pt x="1573" y="982304"/>
                  </a:lnTo>
                  <a:lnTo>
                    <a:pt x="0" y="974515"/>
                  </a:lnTo>
                  <a:lnTo>
                    <a:pt x="0" y="58472"/>
                  </a:lnTo>
                  <a:cubicBezTo>
                    <a:pt x="0" y="26179"/>
                    <a:pt x="26179" y="0"/>
                    <a:pt x="58472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0F9E9463-C2D7-671A-4DD3-A5B3F5CCCA65}"/>
                </a:ext>
              </a:extLst>
            </p:cNvPr>
            <p:cNvSpPr/>
            <p:nvPr/>
          </p:nvSpPr>
          <p:spPr>
            <a:xfrm>
              <a:off x="1254841" y="3042122"/>
              <a:ext cx="206628" cy="165303"/>
            </a:xfrm>
            <a:custGeom>
              <a:avLst/>
              <a:gdLst>
                <a:gd name="connsiteX0" fmla="*/ 206629 w 206628"/>
                <a:gd name="connsiteY0" fmla="*/ 70089 h 165303"/>
                <a:gd name="connsiteX1" fmla="*/ 158691 w 206628"/>
                <a:gd name="connsiteY1" fmla="*/ 19836 h 165303"/>
                <a:gd name="connsiteX2" fmla="*/ 158691 w 206628"/>
                <a:gd name="connsiteY2" fmla="*/ 0 h 165303"/>
                <a:gd name="connsiteX3" fmla="*/ 0 w 206628"/>
                <a:gd name="connsiteY3" fmla="*/ 0 h 165303"/>
                <a:gd name="connsiteX4" fmla="*/ 0 w 206628"/>
                <a:gd name="connsiteY4" fmla="*/ 152079 h 165303"/>
                <a:gd name="connsiteX5" fmla="*/ 13224 w 206628"/>
                <a:gd name="connsiteY5" fmla="*/ 165303 h 165303"/>
                <a:gd name="connsiteX6" fmla="*/ 145467 w 206628"/>
                <a:gd name="connsiteY6" fmla="*/ 165303 h 165303"/>
                <a:gd name="connsiteX7" fmla="*/ 158691 w 206628"/>
                <a:gd name="connsiteY7" fmla="*/ 152079 h 165303"/>
                <a:gd name="connsiteX8" fmla="*/ 158691 w 206628"/>
                <a:gd name="connsiteY8" fmla="*/ 120671 h 165303"/>
                <a:gd name="connsiteX9" fmla="*/ 206629 w 206628"/>
                <a:gd name="connsiteY9" fmla="*/ 70089 h 165303"/>
                <a:gd name="connsiteX10" fmla="*/ 159022 w 206628"/>
                <a:gd name="connsiteY10" fmla="*/ 100835 h 165303"/>
                <a:gd name="connsiteX11" fmla="*/ 159022 w 206628"/>
                <a:gd name="connsiteY11" fmla="*/ 39673 h 165303"/>
                <a:gd name="connsiteX12" fmla="*/ 187123 w 206628"/>
                <a:gd name="connsiteY12" fmla="*/ 70089 h 165303"/>
                <a:gd name="connsiteX13" fmla="*/ 159022 w 206628"/>
                <a:gd name="connsiteY13" fmla="*/ 100835 h 165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6628" h="165303">
                  <a:moveTo>
                    <a:pt x="206629" y="70089"/>
                  </a:moveTo>
                  <a:cubicBezTo>
                    <a:pt x="206629" y="42979"/>
                    <a:pt x="185470" y="21159"/>
                    <a:pt x="158691" y="19836"/>
                  </a:cubicBezTo>
                  <a:lnTo>
                    <a:pt x="158691" y="0"/>
                  </a:lnTo>
                  <a:lnTo>
                    <a:pt x="0" y="0"/>
                  </a:lnTo>
                  <a:lnTo>
                    <a:pt x="0" y="152079"/>
                  </a:lnTo>
                  <a:cubicBezTo>
                    <a:pt x="0" y="159352"/>
                    <a:pt x="5951" y="165303"/>
                    <a:pt x="13224" y="165303"/>
                  </a:cubicBezTo>
                  <a:lnTo>
                    <a:pt x="145467" y="165303"/>
                  </a:lnTo>
                  <a:cubicBezTo>
                    <a:pt x="152740" y="165303"/>
                    <a:pt x="158691" y="159352"/>
                    <a:pt x="158691" y="152079"/>
                  </a:cubicBezTo>
                  <a:lnTo>
                    <a:pt x="158691" y="120671"/>
                  </a:lnTo>
                  <a:cubicBezTo>
                    <a:pt x="185470" y="119349"/>
                    <a:pt x="206629" y="97198"/>
                    <a:pt x="206629" y="70089"/>
                  </a:cubicBezTo>
                  <a:close/>
                  <a:moveTo>
                    <a:pt x="159022" y="100835"/>
                  </a:moveTo>
                  <a:lnTo>
                    <a:pt x="159022" y="39673"/>
                  </a:lnTo>
                  <a:cubicBezTo>
                    <a:pt x="174891" y="40995"/>
                    <a:pt x="187123" y="54219"/>
                    <a:pt x="187123" y="70089"/>
                  </a:cubicBezTo>
                  <a:cubicBezTo>
                    <a:pt x="187123" y="85958"/>
                    <a:pt x="174560" y="99512"/>
                    <a:pt x="159022" y="100835"/>
                  </a:cubicBezTo>
                  <a:close/>
                </a:path>
              </a:pathLst>
            </a:custGeom>
            <a:solidFill>
              <a:schemeClr val="accent5">
                <a:lumMod val="60000"/>
                <a:lumOff val="40000"/>
              </a:schemeClr>
            </a:solidFill>
            <a:ln w="32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BC38BF2-8847-2107-E281-5DFB306EDFA2}"/>
              </a:ext>
            </a:extLst>
          </p:cNvPr>
          <p:cNvSpPr/>
          <p:nvPr/>
        </p:nvSpPr>
        <p:spPr>
          <a:xfrm rot="20470871">
            <a:off x="8686497" y="5424310"/>
            <a:ext cx="850801" cy="1242888"/>
          </a:xfrm>
          <a:custGeom>
            <a:avLst/>
            <a:gdLst>
              <a:gd name="connsiteX0" fmla="*/ 212562 w 850801"/>
              <a:gd name="connsiteY0" fmla="*/ 75984 h 1242888"/>
              <a:gd name="connsiteX1" fmla="*/ 212562 w 850801"/>
              <a:gd name="connsiteY1" fmla="*/ 793013 h 1242888"/>
              <a:gd name="connsiteX2" fmla="*/ 212377 w 850801"/>
              <a:gd name="connsiteY2" fmla="*/ 793013 h 1242888"/>
              <a:gd name="connsiteX3" fmla="*/ 149964 w 850801"/>
              <a:gd name="connsiteY3" fmla="*/ 512272 h 1242888"/>
              <a:gd name="connsiteX4" fmla="*/ 58600 w 850801"/>
              <a:gd name="connsiteY4" fmla="*/ 455705 h 1242888"/>
              <a:gd name="connsiteX5" fmla="*/ 1623 w 850801"/>
              <a:gd name="connsiteY5" fmla="*/ 545225 h 1242888"/>
              <a:gd name="connsiteX6" fmla="*/ 92808 w 850801"/>
              <a:gd name="connsiteY6" fmla="*/ 955445 h 1242888"/>
              <a:gd name="connsiteX7" fmla="*/ 120655 w 850801"/>
              <a:gd name="connsiteY7" fmla="*/ 999114 h 1242888"/>
              <a:gd name="connsiteX8" fmla="*/ 288613 w 850801"/>
              <a:gd name="connsiteY8" fmla="*/ 1128274 h 1242888"/>
              <a:gd name="connsiteX9" fmla="*/ 288613 w 850801"/>
              <a:gd name="connsiteY9" fmla="*/ 1242889 h 1242888"/>
              <a:gd name="connsiteX10" fmla="*/ 729234 w 850801"/>
              <a:gd name="connsiteY10" fmla="*/ 1242889 h 1242888"/>
              <a:gd name="connsiteX11" fmla="*/ 729234 w 850801"/>
              <a:gd name="connsiteY11" fmla="*/ 1166904 h 1242888"/>
              <a:gd name="connsiteX12" fmla="*/ 850802 w 850801"/>
              <a:gd name="connsiteY12" fmla="*/ 847784 h 1242888"/>
              <a:gd name="connsiteX13" fmla="*/ 850802 w 850801"/>
              <a:gd name="connsiteY13" fmla="*/ 574248 h 1242888"/>
              <a:gd name="connsiteX14" fmla="*/ 759827 w 850801"/>
              <a:gd name="connsiteY14" fmla="*/ 483089 h 1242888"/>
              <a:gd name="connsiteX15" fmla="*/ 698413 w 850801"/>
              <a:gd name="connsiteY15" fmla="*/ 506830 h 1242888"/>
              <a:gd name="connsiteX16" fmla="*/ 698833 w 850801"/>
              <a:gd name="connsiteY16" fmla="*/ 498281 h 1242888"/>
              <a:gd name="connsiteX17" fmla="*/ 607773 w 850801"/>
              <a:gd name="connsiteY17" fmla="*/ 407107 h 1242888"/>
              <a:gd name="connsiteX18" fmla="*/ 544564 w 850801"/>
              <a:gd name="connsiteY18" fmla="*/ 432542 h 1242888"/>
              <a:gd name="connsiteX19" fmla="*/ 435610 w 850801"/>
              <a:gd name="connsiteY19" fmla="*/ 363696 h 1242888"/>
              <a:gd name="connsiteX20" fmla="*/ 364530 w 850801"/>
              <a:gd name="connsiteY20" fmla="*/ 452697 h 1242888"/>
              <a:gd name="connsiteX21" fmla="*/ 364530 w 850801"/>
              <a:gd name="connsiteY21" fmla="*/ 75984 h 1242888"/>
              <a:gd name="connsiteX22" fmla="*/ 288546 w 850801"/>
              <a:gd name="connsiteY22" fmla="*/ 0 h 1242888"/>
              <a:gd name="connsiteX23" fmla="*/ 212562 w 850801"/>
              <a:gd name="connsiteY23" fmla="*/ 75984 h 12428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850801" h="1242888">
                <a:moveTo>
                  <a:pt x="212562" y="75984"/>
                </a:moveTo>
                <a:lnTo>
                  <a:pt x="212562" y="793013"/>
                </a:lnTo>
                <a:lnTo>
                  <a:pt x="212377" y="793013"/>
                </a:lnTo>
                <a:lnTo>
                  <a:pt x="149964" y="512272"/>
                </a:lnTo>
                <a:cubicBezTo>
                  <a:pt x="140355" y="471421"/>
                  <a:pt x="99450" y="446096"/>
                  <a:pt x="58600" y="455705"/>
                </a:cubicBezTo>
                <a:cubicBezTo>
                  <a:pt x="18466" y="465144"/>
                  <a:pt x="-6817" y="504868"/>
                  <a:pt x="1623" y="545225"/>
                </a:cubicBezTo>
                <a:lnTo>
                  <a:pt x="92808" y="955445"/>
                </a:lnTo>
                <a:cubicBezTo>
                  <a:pt x="96686" y="972816"/>
                  <a:pt x="106542" y="988271"/>
                  <a:pt x="120655" y="999114"/>
                </a:cubicBezTo>
                <a:lnTo>
                  <a:pt x="288613" y="1128274"/>
                </a:lnTo>
                <a:lnTo>
                  <a:pt x="288613" y="1242889"/>
                </a:lnTo>
                <a:lnTo>
                  <a:pt x="729234" y="1242889"/>
                </a:lnTo>
                <a:lnTo>
                  <a:pt x="729234" y="1166904"/>
                </a:lnTo>
                <a:cubicBezTo>
                  <a:pt x="729234" y="1059260"/>
                  <a:pt x="850802" y="1051013"/>
                  <a:pt x="850802" y="847784"/>
                </a:cubicBezTo>
                <a:lnTo>
                  <a:pt x="850802" y="574248"/>
                </a:lnTo>
                <a:cubicBezTo>
                  <a:pt x="850852" y="523953"/>
                  <a:pt x="810122" y="483139"/>
                  <a:pt x="759827" y="483089"/>
                </a:cubicBezTo>
                <a:cubicBezTo>
                  <a:pt x="737111" y="483067"/>
                  <a:pt x="715208" y="491534"/>
                  <a:pt x="698413" y="506830"/>
                </a:cubicBezTo>
                <a:cubicBezTo>
                  <a:pt x="698665" y="504008"/>
                  <a:pt x="698833" y="501170"/>
                  <a:pt x="698833" y="498281"/>
                </a:cubicBezTo>
                <a:cubicBezTo>
                  <a:pt x="698865" y="447959"/>
                  <a:pt x="658095" y="407138"/>
                  <a:pt x="607773" y="407107"/>
                </a:cubicBezTo>
                <a:cubicBezTo>
                  <a:pt x="584207" y="407093"/>
                  <a:pt x="561551" y="416208"/>
                  <a:pt x="544564" y="432542"/>
                </a:cubicBezTo>
                <a:cubicBezTo>
                  <a:pt x="533489" y="383445"/>
                  <a:pt x="484709" y="352621"/>
                  <a:pt x="435610" y="363696"/>
                </a:cubicBezTo>
                <a:cubicBezTo>
                  <a:pt x="394012" y="373080"/>
                  <a:pt x="364483" y="410054"/>
                  <a:pt x="364530" y="452697"/>
                </a:cubicBezTo>
                <a:lnTo>
                  <a:pt x="364530" y="75984"/>
                </a:lnTo>
                <a:cubicBezTo>
                  <a:pt x="364530" y="34020"/>
                  <a:pt x="330510" y="0"/>
                  <a:pt x="288546" y="0"/>
                </a:cubicBezTo>
                <a:cubicBezTo>
                  <a:pt x="246582" y="0"/>
                  <a:pt x="212562" y="34020"/>
                  <a:pt x="212562" y="75984"/>
                </a:cubicBezTo>
                <a:close/>
              </a:path>
            </a:pathLst>
          </a:custGeom>
          <a:solidFill>
            <a:schemeClr val="accent4"/>
          </a:solidFill>
          <a:ln w="16768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21157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08AFE7-74A9-807D-1D1B-E24B0AA58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1D5A165D-260D-4AD3-9EFE-CD91C0BB4FAE}"/>
              </a:ext>
            </a:extLst>
          </p:cNvPr>
          <p:cNvSpPr txBox="1">
            <a:spLocks/>
          </p:cNvSpPr>
          <p:nvPr/>
        </p:nvSpPr>
        <p:spPr>
          <a:xfrm>
            <a:off x="1274798" y="241554"/>
            <a:ext cx="964240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Data</a:t>
            </a:r>
            <a:endParaRPr lang="aa-ET" dirty="0">
              <a:solidFill>
                <a:schemeClr val="accent1"/>
              </a:solidFill>
              <a:latin typeface="Century Gothic" panose="020B0502020202020204" pitchFamily="34" charset="0"/>
            </a:endParaRPr>
          </a:p>
        </p:txBody>
      </p:sp>
      <p:pic>
        <p:nvPicPr>
          <p:cNvPr id="11" name="Graphic 10" descr="Smart Phone with solid fill">
            <a:extLst>
              <a:ext uri="{FF2B5EF4-FFF2-40B4-BE49-F238E27FC236}">
                <a16:creationId xmlns:a16="http://schemas.microsoft.com/office/drawing/2014/main" id="{F76F6759-8CC3-234A-5CDB-A8E7930898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06243" y="1799026"/>
            <a:ext cx="5065411" cy="4570280"/>
          </a:xfrm>
          <a:prstGeom prst="rect">
            <a:avLst/>
          </a:prstGeom>
        </p:spPr>
      </p:pic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54F428D9-FAD9-6600-D1A5-027FF5E3FF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8446" y="1454532"/>
            <a:ext cx="7512938" cy="6210097"/>
          </a:xfrm>
        </p:spPr>
        <p:txBody>
          <a:bodyPr>
            <a:noAutofit/>
          </a:bodyPr>
          <a:lstStyle/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"actions":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"</a:t>
            </a:r>
            <a:r>
              <a:rPr lang="en-US" sz="1400" dirty="0" err="1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brewCoffee</a:t>
            </a: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"title": "Brew Coffee",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"description": "Starts brewing a cup of coffee",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"input": 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"type": </a:t>
            </a:r>
            <a:r>
              <a:rPr lang="en-US" sz="14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"object"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"properties": 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"size": 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"type": </a:t>
            </a:r>
            <a:r>
              <a:rPr lang="en-US" sz="14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"string"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400" dirty="0" err="1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enum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US" sz="14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"small", "medium", "large"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}</a:t>
            </a: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"forms": [ ... 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8BC656AF-2E9A-0F4A-5E0A-662C6F3E52ED}"/>
              </a:ext>
            </a:extLst>
          </p:cNvPr>
          <p:cNvSpPr txBox="1">
            <a:spLocks/>
          </p:cNvSpPr>
          <p:nvPr/>
        </p:nvSpPr>
        <p:spPr>
          <a:xfrm>
            <a:off x="7514511" y="2610346"/>
            <a:ext cx="205100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Brew Coffee</a:t>
            </a:r>
            <a:endParaRPr lang="aa-ET" sz="1800" dirty="0">
              <a:solidFill>
                <a:schemeClr val="accent1"/>
              </a:solidFill>
              <a:latin typeface="Century Gothic" panose="020B0502020202020204" pitchFamily="34" charset="0"/>
            </a:endParaRP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C515EB15-26B7-CC9F-1173-513AAB6AE9A0}"/>
              </a:ext>
            </a:extLst>
          </p:cNvPr>
          <p:cNvSpPr txBox="1">
            <a:spLocks/>
          </p:cNvSpPr>
          <p:nvPr/>
        </p:nvSpPr>
        <p:spPr>
          <a:xfrm>
            <a:off x="7512980" y="3183423"/>
            <a:ext cx="205100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Size:</a:t>
            </a:r>
            <a:endParaRPr lang="aa-ET" sz="1800" dirty="0">
              <a:solidFill>
                <a:schemeClr val="accent1"/>
              </a:solidFill>
              <a:latin typeface="Century Gothic" panose="020B0502020202020204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442532C-4EA1-D295-966D-B8E0C6EB845F}"/>
              </a:ext>
            </a:extLst>
          </p:cNvPr>
          <p:cNvSpPr/>
          <p:nvPr/>
        </p:nvSpPr>
        <p:spPr>
          <a:xfrm>
            <a:off x="7965068" y="4249182"/>
            <a:ext cx="1146832" cy="907146"/>
          </a:xfrm>
          <a:prstGeom prst="roundRect">
            <a:avLst>
              <a:gd name="adj" fmla="val 17450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chemeClr val="accent1"/>
              </a:solidFill>
              <a:latin typeface="Century Gothic" panose="020B0502020202020204" pitchFamily="34" charset="0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166A6062-1F0F-8FB6-4218-CCBBE5F290E8}"/>
              </a:ext>
            </a:extLst>
          </p:cNvPr>
          <p:cNvSpPr/>
          <p:nvPr/>
        </p:nvSpPr>
        <p:spPr>
          <a:xfrm>
            <a:off x="7965069" y="4855112"/>
            <a:ext cx="1146832" cy="301216"/>
          </a:xfrm>
          <a:prstGeom prst="roundRect">
            <a:avLst>
              <a:gd name="adj" fmla="val 50000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1"/>
                </a:solidFill>
                <a:latin typeface="Century Gothic" panose="020B0502020202020204" pitchFamily="34" charset="0"/>
              </a:rPr>
              <a:t>large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A21BA1B-5A5B-7D75-B48A-03CEC1579F97}"/>
              </a:ext>
            </a:extLst>
          </p:cNvPr>
          <p:cNvSpPr/>
          <p:nvPr/>
        </p:nvSpPr>
        <p:spPr>
          <a:xfrm>
            <a:off x="7965069" y="4553156"/>
            <a:ext cx="1146832" cy="301216"/>
          </a:xfrm>
          <a:prstGeom prst="roundRect">
            <a:avLst>
              <a:gd name="adj" fmla="val 50000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1"/>
                </a:solidFill>
                <a:latin typeface="Century Gothic" panose="020B0502020202020204" pitchFamily="34" charset="0"/>
              </a:rPr>
              <a:t>medium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0AB81E0-B3C3-61EC-9CE7-9DC5F30DBBA7}"/>
              </a:ext>
            </a:extLst>
          </p:cNvPr>
          <p:cNvSpPr/>
          <p:nvPr/>
        </p:nvSpPr>
        <p:spPr>
          <a:xfrm>
            <a:off x="7965068" y="4250561"/>
            <a:ext cx="1146832" cy="301216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1"/>
                </a:solidFill>
                <a:latin typeface="Century Gothic" panose="020B0502020202020204" pitchFamily="34" charset="0"/>
              </a:rPr>
              <a:t>small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1C75CDE-A5B5-C345-055D-C8F57C924685}"/>
              </a:ext>
            </a:extLst>
          </p:cNvPr>
          <p:cNvGrpSpPr/>
          <p:nvPr/>
        </p:nvGrpSpPr>
        <p:grpSpPr>
          <a:xfrm>
            <a:off x="10220056" y="4508985"/>
            <a:ext cx="1193498" cy="1666579"/>
            <a:chOff x="974627" y="2611041"/>
            <a:chExt cx="520902" cy="727378"/>
          </a:xfrm>
          <a:solidFill>
            <a:schemeClr val="tx2"/>
          </a:solidFill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9FD9C51-0979-CA55-9520-D97ECD77B2AD}"/>
                </a:ext>
              </a:extLst>
            </p:cNvPr>
            <p:cNvSpPr/>
            <p:nvPr/>
          </p:nvSpPr>
          <p:spPr>
            <a:xfrm>
              <a:off x="974627" y="2611041"/>
              <a:ext cx="520902" cy="727378"/>
            </a:xfrm>
            <a:custGeom>
              <a:avLst/>
              <a:gdLst>
                <a:gd name="connsiteX0" fmla="*/ 58472 w 798363"/>
                <a:gd name="connsiteY0" fmla="*/ 0 h 1032987"/>
                <a:gd name="connsiteX1" fmla="*/ 292354 w 798363"/>
                <a:gd name="connsiteY1" fmla="*/ 0 h 1032987"/>
                <a:gd name="connsiteX2" fmla="*/ 292359 w 798363"/>
                <a:gd name="connsiteY2" fmla="*/ 1 h 1032987"/>
                <a:gd name="connsiteX3" fmla="*/ 622950 w 798363"/>
                <a:gd name="connsiteY3" fmla="*/ 1 h 1032987"/>
                <a:gd name="connsiteX4" fmla="*/ 798363 w 798363"/>
                <a:gd name="connsiteY4" fmla="*/ 175414 h 1032987"/>
                <a:gd name="connsiteX5" fmla="*/ 622950 w 798363"/>
                <a:gd name="connsiteY5" fmla="*/ 350827 h 1032987"/>
                <a:gd name="connsiteX6" fmla="*/ 562765 w 798363"/>
                <a:gd name="connsiteY6" fmla="*/ 350827 h 1032987"/>
                <a:gd name="connsiteX7" fmla="*/ 562765 w 798363"/>
                <a:gd name="connsiteY7" fmla="*/ 503174 h 1032987"/>
                <a:gd name="connsiteX8" fmla="*/ 549447 w 798363"/>
                <a:gd name="connsiteY8" fmla="*/ 516492 h 1032987"/>
                <a:gd name="connsiteX9" fmla="*/ 496174 w 798363"/>
                <a:gd name="connsiteY9" fmla="*/ 516492 h 1032987"/>
                <a:gd name="connsiteX10" fmla="*/ 482856 w 798363"/>
                <a:gd name="connsiteY10" fmla="*/ 503174 h 1032987"/>
                <a:gd name="connsiteX11" fmla="*/ 482856 w 798363"/>
                <a:gd name="connsiteY11" fmla="*/ 350827 h 1032987"/>
                <a:gd name="connsiteX12" fmla="*/ 350826 w 798363"/>
                <a:gd name="connsiteY12" fmla="*/ 350827 h 1032987"/>
                <a:gd name="connsiteX13" fmla="*/ 350826 w 798363"/>
                <a:gd name="connsiteY13" fmla="*/ 858878 h 1032987"/>
                <a:gd name="connsiteX14" fmla="*/ 765662 w 798363"/>
                <a:gd name="connsiteY14" fmla="*/ 858878 h 1032987"/>
                <a:gd name="connsiteX15" fmla="*/ 794681 w 798363"/>
                <a:gd name="connsiteY15" fmla="*/ 887897 h 1032987"/>
                <a:gd name="connsiteX16" fmla="*/ 794681 w 798363"/>
                <a:gd name="connsiteY16" fmla="*/ 1003968 h 1032987"/>
                <a:gd name="connsiteX17" fmla="*/ 765662 w 798363"/>
                <a:gd name="connsiteY17" fmla="*/ 1032987 h 1032987"/>
                <a:gd name="connsiteX18" fmla="*/ 292357 w 798363"/>
                <a:gd name="connsiteY18" fmla="*/ 1032987 h 1032987"/>
                <a:gd name="connsiteX19" fmla="*/ 292354 w 798363"/>
                <a:gd name="connsiteY19" fmla="*/ 1032987 h 1032987"/>
                <a:gd name="connsiteX20" fmla="*/ 58472 w 798363"/>
                <a:gd name="connsiteY20" fmla="*/ 1032987 h 1032987"/>
                <a:gd name="connsiteX21" fmla="*/ 58470 w 798363"/>
                <a:gd name="connsiteY21" fmla="*/ 1032987 h 1032987"/>
                <a:gd name="connsiteX22" fmla="*/ 30592 w 798363"/>
                <a:gd name="connsiteY22" fmla="*/ 1032987 h 1032987"/>
                <a:gd name="connsiteX23" fmla="*/ 1573 w 798363"/>
                <a:gd name="connsiteY23" fmla="*/ 1003968 h 1032987"/>
                <a:gd name="connsiteX24" fmla="*/ 1573 w 798363"/>
                <a:gd name="connsiteY24" fmla="*/ 982304 h 1032987"/>
                <a:gd name="connsiteX25" fmla="*/ 0 w 798363"/>
                <a:gd name="connsiteY25" fmla="*/ 974515 h 1032987"/>
                <a:gd name="connsiteX26" fmla="*/ 0 w 798363"/>
                <a:gd name="connsiteY26" fmla="*/ 58472 h 1032987"/>
                <a:gd name="connsiteX27" fmla="*/ 58472 w 798363"/>
                <a:gd name="connsiteY27" fmla="*/ 0 h 1032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798363" h="1032987">
                  <a:moveTo>
                    <a:pt x="58472" y="0"/>
                  </a:moveTo>
                  <a:lnTo>
                    <a:pt x="292354" y="0"/>
                  </a:lnTo>
                  <a:lnTo>
                    <a:pt x="292359" y="1"/>
                  </a:lnTo>
                  <a:lnTo>
                    <a:pt x="622950" y="1"/>
                  </a:lnTo>
                  <a:cubicBezTo>
                    <a:pt x="719828" y="1"/>
                    <a:pt x="798363" y="78536"/>
                    <a:pt x="798363" y="175414"/>
                  </a:cubicBezTo>
                  <a:cubicBezTo>
                    <a:pt x="798363" y="272292"/>
                    <a:pt x="719828" y="350827"/>
                    <a:pt x="622950" y="350827"/>
                  </a:cubicBezTo>
                  <a:lnTo>
                    <a:pt x="562765" y="350827"/>
                  </a:lnTo>
                  <a:lnTo>
                    <a:pt x="562765" y="503174"/>
                  </a:lnTo>
                  <a:cubicBezTo>
                    <a:pt x="562765" y="510529"/>
                    <a:pt x="556802" y="516492"/>
                    <a:pt x="549447" y="516492"/>
                  </a:cubicBezTo>
                  <a:lnTo>
                    <a:pt x="496174" y="516492"/>
                  </a:lnTo>
                  <a:cubicBezTo>
                    <a:pt x="488819" y="516492"/>
                    <a:pt x="482856" y="510529"/>
                    <a:pt x="482856" y="503174"/>
                  </a:cubicBezTo>
                  <a:lnTo>
                    <a:pt x="482856" y="350827"/>
                  </a:lnTo>
                  <a:lnTo>
                    <a:pt x="350826" y="350827"/>
                  </a:lnTo>
                  <a:lnTo>
                    <a:pt x="350826" y="858878"/>
                  </a:lnTo>
                  <a:lnTo>
                    <a:pt x="765662" y="858878"/>
                  </a:lnTo>
                  <a:cubicBezTo>
                    <a:pt x="781689" y="858878"/>
                    <a:pt x="794681" y="871870"/>
                    <a:pt x="794681" y="887897"/>
                  </a:cubicBezTo>
                  <a:lnTo>
                    <a:pt x="794681" y="1003968"/>
                  </a:lnTo>
                  <a:cubicBezTo>
                    <a:pt x="794681" y="1019995"/>
                    <a:pt x="781689" y="1032987"/>
                    <a:pt x="765662" y="1032987"/>
                  </a:cubicBezTo>
                  <a:lnTo>
                    <a:pt x="292357" y="1032987"/>
                  </a:lnTo>
                  <a:lnTo>
                    <a:pt x="292354" y="1032987"/>
                  </a:lnTo>
                  <a:lnTo>
                    <a:pt x="58472" y="1032987"/>
                  </a:lnTo>
                  <a:lnTo>
                    <a:pt x="58470" y="1032987"/>
                  </a:lnTo>
                  <a:lnTo>
                    <a:pt x="30592" y="1032987"/>
                  </a:lnTo>
                  <a:cubicBezTo>
                    <a:pt x="14565" y="1032987"/>
                    <a:pt x="1573" y="1019995"/>
                    <a:pt x="1573" y="1003968"/>
                  </a:cubicBezTo>
                  <a:lnTo>
                    <a:pt x="1573" y="982304"/>
                  </a:lnTo>
                  <a:lnTo>
                    <a:pt x="0" y="974515"/>
                  </a:lnTo>
                  <a:lnTo>
                    <a:pt x="0" y="58472"/>
                  </a:lnTo>
                  <a:cubicBezTo>
                    <a:pt x="0" y="26179"/>
                    <a:pt x="26179" y="0"/>
                    <a:pt x="58472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28363F8A-18AC-89CA-CED4-2497C580F25F}"/>
                </a:ext>
              </a:extLst>
            </p:cNvPr>
            <p:cNvSpPr/>
            <p:nvPr/>
          </p:nvSpPr>
          <p:spPr>
            <a:xfrm>
              <a:off x="1254841" y="3042122"/>
              <a:ext cx="206628" cy="165303"/>
            </a:xfrm>
            <a:custGeom>
              <a:avLst/>
              <a:gdLst>
                <a:gd name="connsiteX0" fmla="*/ 206629 w 206628"/>
                <a:gd name="connsiteY0" fmla="*/ 70089 h 165303"/>
                <a:gd name="connsiteX1" fmla="*/ 158691 w 206628"/>
                <a:gd name="connsiteY1" fmla="*/ 19836 h 165303"/>
                <a:gd name="connsiteX2" fmla="*/ 158691 w 206628"/>
                <a:gd name="connsiteY2" fmla="*/ 0 h 165303"/>
                <a:gd name="connsiteX3" fmla="*/ 0 w 206628"/>
                <a:gd name="connsiteY3" fmla="*/ 0 h 165303"/>
                <a:gd name="connsiteX4" fmla="*/ 0 w 206628"/>
                <a:gd name="connsiteY4" fmla="*/ 152079 h 165303"/>
                <a:gd name="connsiteX5" fmla="*/ 13224 w 206628"/>
                <a:gd name="connsiteY5" fmla="*/ 165303 h 165303"/>
                <a:gd name="connsiteX6" fmla="*/ 145467 w 206628"/>
                <a:gd name="connsiteY6" fmla="*/ 165303 h 165303"/>
                <a:gd name="connsiteX7" fmla="*/ 158691 w 206628"/>
                <a:gd name="connsiteY7" fmla="*/ 152079 h 165303"/>
                <a:gd name="connsiteX8" fmla="*/ 158691 w 206628"/>
                <a:gd name="connsiteY8" fmla="*/ 120671 h 165303"/>
                <a:gd name="connsiteX9" fmla="*/ 206629 w 206628"/>
                <a:gd name="connsiteY9" fmla="*/ 70089 h 165303"/>
                <a:gd name="connsiteX10" fmla="*/ 159022 w 206628"/>
                <a:gd name="connsiteY10" fmla="*/ 100835 h 165303"/>
                <a:gd name="connsiteX11" fmla="*/ 159022 w 206628"/>
                <a:gd name="connsiteY11" fmla="*/ 39673 h 165303"/>
                <a:gd name="connsiteX12" fmla="*/ 187123 w 206628"/>
                <a:gd name="connsiteY12" fmla="*/ 70089 h 165303"/>
                <a:gd name="connsiteX13" fmla="*/ 159022 w 206628"/>
                <a:gd name="connsiteY13" fmla="*/ 100835 h 165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6628" h="165303">
                  <a:moveTo>
                    <a:pt x="206629" y="70089"/>
                  </a:moveTo>
                  <a:cubicBezTo>
                    <a:pt x="206629" y="42979"/>
                    <a:pt x="185470" y="21159"/>
                    <a:pt x="158691" y="19836"/>
                  </a:cubicBezTo>
                  <a:lnTo>
                    <a:pt x="158691" y="0"/>
                  </a:lnTo>
                  <a:lnTo>
                    <a:pt x="0" y="0"/>
                  </a:lnTo>
                  <a:lnTo>
                    <a:pt x="0" y="152079"/>
                  </a:lnTo>
                  <a:cubicBezTo>
                    <a:pt x="0" y="159352"/>
                    <a:pt x="5951" y="165303"/>
                    <a:pt x="13224" y="165303"/>
                  </a:cubicBezTo>
                  <a:lnTo>
                    <a:pt x="145467" y="165303"/>
                  </a:lnTo>
                  <a:cubicBezTo>
                    <a:pt x="152740" y="165303"/>
                    <a:pt x="158691" y="159352"/>
                    <a:pt x="158691" y="152079"/>
                  </a:cubicBezTo>
                  <a:lnTo>
                    <a:pt x="158691" y="120671"/>
                  </a:lnTo>
                  <a:cubicBezTo>
                    <a:pt x="185470" y="119349"/>
                    <a:pt x="206629" y="97198"/>
                    <a:pt x="206629" y="70089"/>
                  </a:cubicBezTo>
                  <a:close/>
                  <a:moveTo>
                    <a:pt x="159022" y="100835"/>
                  </a:moveTo>
                  <a:lnTo>
                    <a:pt x="159022" y="39673"/>
                  </a:lnTo>
                  <a:cubicBezTo>
                    <a:pt x="174891" y="40995"/>
                    <a:pt x="187123" y="54219"/>
                    <a:pt x="187123" y="70089"/>
                  </a:cubicBezTo>
                  <a:cubicBezTo>
                    <a:pt x="187123" y="85958"/>
                    <a:pt x="174560" y="99512"/>
                    <a:pt x="159022" y="100835"/>
                  </a:cubicBezTo>
                  <a:close/>
                </a:path>
              </a:pathLst>
            </a:custGeom>
            <a:solidFill>
              <a:schemeClr val="accent5">
                <a:lumMod val="60000"/>
                <a:lumOff val="40000"/>
              </a:schemeClr>
            </a:solidFill>
            <a:ln w="32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9F51AFF4-4D95-FD54-B1FC-A2CB81061A5A}"/>
              </a:ext>
            </a:extLst>
          </p:cNvPr>
          <p:cNvSpPr/>
          <p:nvPr/>
        </p:nvSpPr>
        <p:spPr>
          <a:xfrm rot="20470871">
            <a:off x="8572946" y="4786331"/>
            <a:ext cx="453532" cy="415279"/>
          </a:xfrm>
          <a:custGeom>
            <a:avLst/>
            <a:gdLst>
              <a:gd name="connsiteX0" fmla="*/ 100770 w 453532"/>
              <a:gd name="connsiteY0" fmla="*/ 415280 h 415279"/>
              <a:gd name="connsiteX1" fmla="*/ 100770 w 453532"/>
              <a:gd name="connsiteY1" fmla="*/ 324448 h 415279"/>
              <a:gd name="connsiteX2" fmla="*/ 128777 w 453532"/>
              <a:gd name="connsiteY2" fmla="*/ 100542 h 415279"/>
              <a:gd name="connsiteX3" fmla="*/ 352685 w 453532"/>
              <a:gd name="connsiteY3" fmla="*/ 128549 h 415279"/>
              <a:gd name="connsiteX4" fmla="*/ 353513 w 453532"/>
              <a:gd name="connsiteY4" fmla="*/ 323373 h 415279"/>
              <a:gd name="connsiteX5" fmla="*/ 353513 w 453532"/>
              <a:gd name="connsiteY5" fmla="*/ 414776 h 415279"/>
              <a:gd name="connsiteX6" fmla="*/ 414775 w 453532"/>
              <a:gd name="connsiteY6" fmla="*/ 100020 h 415279"/>
              <a:gd name="connsiteX7" fmla="*/ 100019 w 453532"/>
              <a:gd name="connsiteY7" fmla="*/ 38756 h 415279"/>
              <a:gd name="connsiteX8" fmla="*/ 38756 w 453532"/>
              <a:gd name="connsiteY8" fmla="*/ 353513 h 415279"/>
              <a:gd name="connsiteX9" fmla="*/ 100770 w 453532"/>
              <a:gd name="connsiteY9" fmla="*/ 415280 h 415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53532" h="415279">
                <a:moveTo>
                  <a:pt x="100770" y="415280"/>
                </a:moveTo>
                <a:lnTo>
                  <a:pt x="100770" y="324448"/>
                </a:lnTo>
                <a:cubicBezTo>
                  <a:pt x="46674" y="254883"/>
                  <a:pt x="59214" y="154638"/>
                  <a:pt x="128777" y="100542"/>
                </a:cubicBezTo>
                <a:cubicBezTo>
                  <a:pt x="198341" y="46445"/>
                  <a:pt x="298587" y="58984"/>
                  <a:pt x="352685" y="128549"/>
                </a:cubicBezTo>
                <a:cubicBezTo>
                  <a:pt x="397178" y="185764"/>
                  <a:pt x="397518" y="265781"/>
                  <a:pt x="353513" y="323373"/>
                </a:cubicBezTo>
                <a:lnTo>
                  <a:pt x="353513" y="414776"/>
                </a:lnTo>
                <a:cubicBezTo>
                  <a:pt x="457348" y="344776"/>
                  <a:pt x="484777" y="203855"/>
                  <a:pt x="414775" y="100020"/>
                </a:cubicBezTo>
                <a:cubicBezTo>
                  <a:pt x="344776" y="-3816"/>
                  <a:pt x="203854" y="-31244"/>
                  <a:pt x="100019" y="38756"/>
                </a:cubicBezTo>
                <a:cubicBezTo>
                  <a:pt x="-3816" y="108757"/>
                  <a:pt x="-31244" y="249678"/>
                  <a:pt x="38756" y="353513"/>
                </a:cubicBezTo>
                <a:cubicBezTo>
                  <a:pt x="55219" y="377934"/>
                  <a:pt x="76283" y="398914"/>
                  <a:pt x="100770" y="415280"/>
                </a:cubicBezTo>
                <a:close/>
              </a:path>
            </a:pathLst>
          </a:custGeom>
          <a:solidFill>
            <a:schemeClr val="accent4"/>
          </a:solidFill>
          <a:ln w="16768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1F807A7-F977-6DB1-3B9B-BBDE963D2553}"/>
              </a:ext>
            </a:extLst>
          </p:cNvPr>
          <p:cNvSpPr/>
          <p:nvPr/>
        </p:nvSpPr>
        <p:spPr>
          <a:xfrm rot="20470871">
            <a:off x="8686496" y="4863155"/>
            <a:ext cx="850801" cy="1242888"/>
          </a:xfrm>
          <a:custGeom>
            <a:avLst/>
            <a:gdLst>
              <a:gd name="connsiteX0" fmla="*/ 212562 w 850801"/>
              <a:gd name="connsiteY0" fmla="*/ 75984 h 1242888"/>
              <a:gd name="connsiteX1" fmla="*/ 212562 w 850801"/>
              <a:gd name="connsiteY1" fmla="*/ 793013 h 1242888"/>
              <a:gd name="connsiteX2" fmla="*/ 212377 w 850801"/>
              <a:gd name="connsiteY2" fmla="*/ 793013 h 1242888"/>
              <a:gd name="connsiteX3" fmla="*/ 149964 w 850801"/>
              <a:gd name="connsiteY3" fmla="*/ 512272 h 1242888"/>
              <a:gd name="connsiteX4" fmla="*/ 58600 w 850801"/>
              <a:gd name="connsiteY4" fmla="*/ 455705 h 1242888"/>
              <a:gd name="connsiteX5" fmla="*/ 1623 w 850801"/>
              <a:gd name="connsiteY5" fmla="*/ 545225 h 1242888"/>
              <a:gd name="connsiteX6" fmla="*/ 92808 w 850801"/>
              <a:gd name="connsiteY6" fmla="*/ 955445 h 1242888"/>
              <a:gd name="connsiteX7" fmla="*/ 120655 w 850801"/>
              <a:gd name="connsiteY7" fmla="*/ 999114 h 1242888"/>
              <a:gd name="connsiteX8" fmla="*/ 288613 w 850801"/>
              <a:gd name="connsiteY8" fmla="*/ 1128274 h 1242888"/>
              <a:gd name="connsiteX9" fmla="*/ 288613 w 850801"/>
              <a:gd name="connsiteY9" fmla="*/ 1242889 h 1242888"/>
              <a:gd name="connsiteX10" fmla="*/ 729234 w 850801"/>
              <a:gd name="connsiteY10" fmla="*/ 1242889 h 1242888"/>
              <a:gd name="connsiteX11" fmla="*/ 729234 w 850801"/>
              <a:gd name="connsiteY11" fmla="*/ 1166904 h 1242888"/>
              <a:gd name="connsiteX12" fmla="*/ 850802 w 850801"/>
              <a:gd name="connsiteY12" fmla="*/ 847784 h 1242888"/>
              <a:gd name="connsiteX13" fmla="*/ 850802 w 850801"/>
              <a:gd name="connsiteY13" fmla="*/ 574248 h 1242888"/>
              <a:gd name="connsiteX14" fmla="*/ 759827 w 850801"/>
              <a:gd name="connsiteY14" fmla="*/ 483089 h 1242888"/>
              <a:gd name="connsiteX15" fmla="*/ 698413 w 850801"/>
              <a:gd name="connsiteY15" fmla="*/ 506830 h 1242888"/>
              <a:gd name="connsiteX16" fmla="*/ 698833 w 850801"/>
              <a:gd name="connsiteY16" fmla="*/ 498281 h 1242888"/>
              <a:gd name="connsiteX17" fmla="*/ 607773 w 850801"/>
              <a:gd name="connsiteY17" fmla="*/ 407107 h 1242888"/>
              <a:gd name="connsiteX18" fmla="*/ 544564 w 850801"/>
              <a:gd name="connsiteY18" fmla="*/ 432542 h 1242888"/>
              <a:gd name="connsiteX19" fmla="*/ 435610 w 850801"/>
              <a:gd name="connsiteY19" fmla="*/ 363696 h 1242888"/>
              <a:gd name="connsiteX20" fmla="*/ 364530 w 850801"/>
              <a:gd name="connsiteY20" fmla="*/ 452697 h 1242888"/>
              <a:gd name="connsiteX21" fmla="*/ 364530 w 850801"/>
              <a:gd name="connsiteY21" fmla="*/ 75984 h 1242888"/>
              <a:gd name="connsiteX22" fmla="*/ 288546 w 850801"/>
              <a:gd name="connsiteY22" fmla="*/ 0 h 1242888"/>
              <a:gd name="connsiteX23" fmla="*/ 212562 w 850801"/>
              <a:gd name="connsiteY23" fmla="*/ 75984 h 12428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850801" h="1242888">
                <a:moveTo>
                  <a:pt x="212562" y="75984"/>
                </a:moveTo>
                <a:lnTo>
                  <a:pt x="212562" y="793013"/>
                </a:lnTo>
                <a:lnTo>
                  <a:pt x="212377" y="793013"/>
                </a:lnTo>
                <a:lnTo>
                  <a:pt x="149964" y="512272"/>
                </a:lnTo>
                <a:cubicBezTo>
                  <a:pt x="140355" y="471421"/>
                  <a:pt x="99450" y="446096"/>
                  <a:pt x="58600" y="455705"/>
                </a:cubicBezTo>
                <a:cubicBezTo>
                  <a:pt x="18466" y="465144"/>
                  <a:pt x="-6817" y="504868"/>
                  <a:pt x="1623" y="545225"/>
                </a:cubicBezTo>
                <a:lnTo>
                  <a:pt x="92808" y="955445"/>
                </a:lnTo>
                <a:cubicBezTo>
                  <a:pt x="96686" y="972816"/>
                  <a:pt x="106542" y="988271"/>
                  <a:pt x="120655" y="999114"/>
                </a:cubicBezTo>
                <a:lnTo>
                  <a:pt x="288613" y="1128274"/>
                </a:lnTo>
                <a:lnTo>
                  <a:pt x="288613" y="1242889"/>
                </a:lnTo>
                <a:lnTo>
                  <a:pt x="729234" y="1242889"/>
                </a:lnTo>
                <a:lnTo>
                  <a:pt x="729234" y="1166904"/>
                </a:lnTo>
                <a:cubicBezTo>
                  <a:pt x="729234" y="1059260"/>
                  <a:pt x="850802" y="1051013"/>
                  <a:pt x="850802" y="847784"/>
                </a:cubicBezTo>
                <a:lnTo>
                  <a:pt x="850802" y="574248"/>
                </a:lnTo>
                <a:cubicBezTo>
                  <a:pt x="850852" y="523953"/>
                  <a:pt x="810122" y="483139"/>
                  <a:pt x="759827" y="483089"/>
                </a:cubicBezTo>
                <a:cubicBezTo>
                  <a:pt x="737111" y="483067"/>
                  <a:pt x="715208" y="491534"/>
                  <a:pt x="698413" y="506830"/>
                </a:cubicBezTo>
                <a:cubicBezTo>
                  <a:pt x="698665" y="504008"/>
                  <a:pt x="698833" y="501170"/>
                  <a:pt x="698833" y="498281"/>
                </a:cubicBezTo>
                <a:cubicBezTo>
                  <a:pt x="698865" y="447959"/>
                  <a:pt x="658095" y="407138"/>
                  <a:pt x="607773" y="407107"/>
                </a:cubicBezTo>
                <a:cubicBezTo>
                  <a:pt x="584207" y="407093"/>
                  <a:pt x="561551" y="416208"/>
                  <a:pt x="544564" y="432542"/>
                </a:cubicBezTo>
                <a:cubicBezTo>
                  <a:pt x="533489" y="383445"/>
                  <a:pt x="484709" y="352621"/>
                  <a:pt x="435610" y="363696"/>
                </a:cubicBezTo>
                <a:cubicBezTo>
                  <a:pt x="394012" y="373080"/>
                  <a:pt x="364483" y="410054"/>
                  <a:pt x="364530" y="452697"/>
                </a:cubicBezTo>
                <a:lnTo>
                  <a:pt x="364530" y="75984"/>
                </a:lnTo>
                <a:cubicBezTo>
                  <a:pt x="364530" y="34020"/>
                  <a:pt x="330510" y="0"/>
                  <a:pt x="288546" y="0"/>
                </a:cubicBezTo>
                <a:cubicBezTo>
                  <a:pt x="246582" y="0"/>
                  <a:pt x="212562" y="34020"/>
                  <a:pt x="212562" y="75984"/>
                </a:cubicBezTo>
                <a:close/>
              </a:path>
            </a:pathLst>
          </a:custGeom>
          <a:solidFill>
            <a:schemeClr val="accent4"/>
          </a:solidFill>
          <a:ln w="16768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4093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0">
        <p159:morph option="byObject"/>
      </p:transition>
    </mc:Choice>
    <mc:Fallback xmlns="">
      <p:transition spd="slow" advTm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"/>
                            </p:stCondLst>
                            <p:childTnLst>
                              <p:par>
                                <p:cTn id="9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2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27" grpId="1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4534A-3D02-25FA-9AB4-DCD43A6A0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F715A032-A144-6928-CB26-0E29F1E079E1}"/>
              </a:ext>
            </a:extLst>
          </p:cNvPr>
          <p:cNvSpPr txBox="1">
            <a:spLocks/>
          </p:cNvSpPr>
          <p:nvPr/>
        </p:nvSpPr>
        <p:spPr>
          <a:xfrm>
            <a:off x="1274798" y="241554"/>
            <a:ext cx="964240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Data</a:t>
            </a:r>
            <a:endParaRPr lang="aa-ET" dirty="0">
              <a:solidFill>
                <a:schemeClr val="accent1"/>
              </a:solidFill>
              <a:latin typeface="Century Gothic" panose="020B0502020202020204" pitchFamily="34" charset="0"/>
            </a:endParaRPr>
          </a:p>
        </p:txBody>
      </p:sp>
      <p:pic>
        <p:nvPicPr>
          <p:cNvPr id="11" name="Graphic 10" descr="Smart Phone with solid fill">
            <a:extLst>
              <a:ext uri="{FF2B5EF4-FFF2-40B4-BE49-F238E27FC236}">
                <a16:creationId xmlns:a16="http://schemas.microsoft.com/office/drawing/2014/main" id="{4B2C0EAA-F216-6678-ED03-044A470D60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06243" y="1799026"/>
            <a:ext cx="5065411" cy="4570280"/>
          </a:xfrm>
          <a:prstGeom prst="rect">
            <a:avLst/>
          </a:prstGeom>
        </p:spPr>
      </p:pic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F65F6272-8D62-B8D9-BE25-137A954617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8446" y="1454532"/>
            <a:ext cx="7512938" cy="6210097"/>
          </a:xfrm>
        </p:spPr>
        <p:txBody>
          <a:bodyPr>
            <a:noAutofit/>
          </a:bodyPr>
          <a:lstStyle/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"actions":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"</a:t>
            </a:r>
            <a:r>
              <a:rPr lang="en-US" sz="1400" dirty="0" err="1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brewCoffee</a:t>
            </a: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"title": "Brew Coffee",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"description": "Starts brewing a cup of coffee",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"input": 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"type": </a:t>
            </a:r>
            <a:r>
              <a:rPr lang="en-US" sz="14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"object"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"properties": 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"size": 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"type": </a:t>
            </a:r>
            <a:r>
              <a:rPr lang="en-US" sz="14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"string"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400" dirty="0" err="1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enum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</a:t>
            </a:r>
            <a:r>
              <a:rPr lang="en-US" sz="14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"small", "medium", "large"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}</a:t>
            </a: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"forms": [ ... 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0340E15F-3DC1-DD92-ECCD-5950645125E6}"/>
              </a:ext>
            </a:extLst>
          </p:cNvPr>
          <p:cNvSpPr txBox="1">
            <a:spLocks/>
          </p:cNvSpPr>
          <p:nvPr/>
        </p:nvSpPr>
        <p:spPr>
          <a:xfrm>
            <a:off x="7514511" y="2610346"/>
            <a:ext cx="205100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Brew Coffee</a:t>
            </a:r>
            <a:endParaRPr lang="aa-ET" sz="1800" dirty="0">
              <a:solidFill>
                <a:schemeClr val="accent1"/>
              </a:solidFill>
              <a:latin typeface="Century Gothic" panose="020B0502020202020204" pitchFamily="34" charset="0"/>
            </a:endParaRP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2CCE4AC6-D7C7-1E50-042B-F68BA421B493}"/>
              </a:ext>
            </a:extLst>
          </p:cNvPr>
          <p:cNvSpPr txBox="1">
            <a:spLocks/>
          </p:cNvSpPr>
          <p:nvPr/>
        </p:nvSpPr>
        <p:spPr>
          <a:xfrm>
            <a:off x="7512980" y="3183423"/>
            <a:ext cx="205100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1800" dirty="0">
                <a:solidFill>
                  <a:schemeClr val="accent1"/>
                </a:solidFill>
                <a:latin typeface="Century Gothic" panose="020B0502020202020204" pitchFamily="34" charset="0"/>
              </a:rPr>
              <a:t>Size:</a:t>
            </a:r>
            <a:endParaRPr lang="aa-ET" sz="1800" dirty="0">
              <a:solidFill>
                <a:schemeClr val="accent1"/>
              </a:solidFill>
              <a:latin typeface="Century Gothic" panose="020B0502020202020204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A06054E-0AFA-D785-70AC-4C99B740A44B}"/>
              </a:ext>
            </a:extLst>
          </p:cNvPr>
          <p:cNvSpPr/>
          <p:nvPr/>
        </p:nvSpPr>
        <p:spPr>
          <a:xfrm>
            <a:off x="7965068" y="4249182"/>
            <a:ext cx="1146832" cy="907146"/>
          </a:xfrm>
          <a:prstGeom prst="roundRect">
            <a:avLst>
              <a:gd name="adj" fmla="val 17450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dirty="0">
              <a:solidFill>
                <a:schemeClr val="accent1"/>
              </a:solidFill>
              <a:latin typeface="Century Gothic" panose="020B0502020202020204" pitchFamily="34" charset="0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DE38DCF-F85B-251C-B0F3-960B49D5F82F}"/>
              </a:ext>
            </a:extLst>
          </p:cNvPr>
          <p:cNvSpPr/>
          <p:nvPr/>
        </p:nvSpPr>
        <p:spPr>
          <a:xfrm>
            <a:off x="7965069" y="4855112"/>
            <a:ext cx="1146832" cy="301216"/>
          </a:xfrm>
          <a:prstGeom prst="roundRect">
            <a:avLst>
              <a:gd name="adj" fmla="val 50000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1"/>
                </a:solidFill>
                <a:latin typeface="Century Gothic" panose="020B0502020202020204" pitchFamily="34" charset="0"/>
              </a:rPr>
              <a:t>large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5B683240-30FF-4C6A-CC06-4099533A18F8}"/>
              </a:ext>
            </a:extLst>
          </p:cNvPr>
          <p:cNvSpPr/>
          <p:nvPr/>
        </p:nvSpPr>
        <p:spPr>
          <a:xfrm>
            <a:off x="7965069" y="4553156"/>
            <a:ext cx="1146832" cy="301216"/>
          </a:xfrm>
          <a:prstGeom prst="roundRect">
            <a:avLst>
              <a:gd name="adj" fmla="val 50000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1"/>
                </a:solidFill>
                <a:latin typeface="Century Gothic" panose="020B0502020202020204" pitchFamily="34" charset="0"/>
              </a:rPr>
              <a:t>medium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A8AAA9B-62A1-E253-AB09-3BE61A1BF2FD}"/>
              </a:ext>
            </a:extLst>
          </p:cNvPr>
          <p:cNvSpPr/>
          <p:nvPr/>
        </p:nvSpPr>
        <p:spPr>
          <a:xfrm>
            <a:off x="7965068" y="4250561"/>
            <a:ext cx="1146832" cy="301216"/>
          </a:xfrm>
          <a:prstGeom prst="roundRect">
            <a:avLst>
              <a:gd name="adj" fmla="val 50000"/>
            </a:avLst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accent1"/>
                </a:solidFill>
                <a:latin typeface="Century Gothic" panose="020B0502020202020204" pitchFamily="34" charset="0"/>
              </a:rPr>
              <a:t>small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C8A0F04-E805-AD1A-029A-94D3E7D41402}"/>
              </a:ext>
            </a:extLst>
          </p:cNvPr>
          <p:cNvGrpSpPr/>
          <p:nvPr/>
        </p:nvGrpSpPr>
        <p:grpSpPr>
          <a:xfrm>
            <a:off x="10220056" y="4508985"/>
            <a:ext cx="1193498" cy="1666579"/>
            <a:chOff x="974627" y="2611041"/>
            <a:chExt cx="520902" cy="727378"/>
          </a:xfrm>
          <a:solidFill>
            <a:schemeClr val="tx2"/>
          </a:solidFill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21E4432E-DDF4-5E18-15B4-DD45E2393E4E}"/>
                </a:ext>
              </a:extLst>
            </p:cNvPr>
            <p:cNvSpPr/>
            <p:nvPr/>
          </p:nvSpPr>
          <p:spPr>
            <a:xfrm>
              <a:off x="974627" y="2611041"/>
              <a:ext cx="520902" cy="727378"/>
            </a:xfrm>
            <a:custGeom>
              <a:avLst/>
              <a:gdLst>
                <a:gd name="connsiteX0" fmla="*/ 58472 w 798363"/>
                <a:gd name="connsiteY0" fmla="*/ 0 h 1032987"/>
                <a:gd name="connsiteX1" fmla="*/ 292354 w 798363"/>
                <a:gd name="connsiteY1" fmla="*/ 0 h 1032987"/>
                <a:gd name="connsiteX2" fmla="*/ 292359 w 798363"/>
                <a:gd name="connsiteY2" fmla="*/ 1 h 1032987"/>
                <a:gd name="connsiteX3" fmla="*/ 622950 w 798363"/>
                <a:gd name="connsiteY3" fmla="*/ 1 h 1032987"/>
                <a:gd name="connsiteX4" fmla="*/ 798363 w 798363"/>
                <a:gd name="connsiteY4" fmla="*/ 175414 h 1032987"/>
                <a:gd name="connsiteX5" fmla="*/ 622950 w 798363"/>
                <a:gd name="connsiteY5" fmla="*/ 350827 h 1032987"/>
                <a:gd name="connsiteX6" fmla="*/ 562765 w 798363"/>
                <a:gd name="connsiteY6" fmla="*/ 350827 h 1032987"/>
                <a:gd name="connsiteX7" fmla="*/ 562765 w 798363"/>
                <a:gd name="connsiteY7" fmla="*/ 503174 h 1032987"/>
                <a:gd name="connsiteX8" fmla="*/ 549447 w 798363"/>
                <a:gd name="connsiteY8" fmla="*/ 516492 h 1032987"/>
                <a:gd name="connsiteX9" fmla="*/ 496174 w 798363"/>
                <a:gd name="connsiteY9" fmla="*/ 516492 h 1032987"/>
                <a:gd name="connsiteX10" fmla="*/ 482856 w 798363"/>
                <a:gd name="connsiteY10" fmla="*/ 503174 h 1032987"/>
                <a:gd name="connsiteX11" fmla="*/ 482856 w 798363"/>
                <a:gd name="connsiteY11" fmla="*/ 350827 h 1032987"/>
                <a:gd name="connsiteX12" fmla="*/ 350826 w 798363"/>
                <a:gd name="connsiteY12" fmla="*/ 350827 h 1032987"/>
                <a:gd name="connsiteX13" fmla="*/ 350826 w 798363"/>
                <a:gd name="connsiteY13" fmla="*/ 858878 h 1032987"/>
                <a:gd name="connsiteX14" fmla="*/ 765662 w 798363"/>
                <a:gd name="connsiteY14" fmla="*/ 858878 h 1032987"/>
                <a:gd name="connsiteX15" fmla="*/ 794681 w 798363"/>
                <a:gd name="connsiteY15" fmla="*/ 887897 h 1032987"/>
                <a:gd name="connsiteX16" fmla="*/ 794681 w 798363"/>
                <a:gd name="connsiteY16" fmla="*/ 1003968 h 1032987"/>
                <a:gd name="connsiteX17" fmla="*/ 765662 w 798363"/>
                <a:gd name="connsiteY17" fmla="*/ 1032987 h 1032987"/>
                <a:gd name="connsiteX18" fmla="*/ 292357 w 798363"/>
                <a:gd name="connsiteY18" fmla="*/ 1032987 h 1032987"/>
                <a:gd name="connsiteX19" fmla="*/ 292354 w 798363"/>
                <a:gd name="connsiteY19" fmla="*/ 1032987 h 1032987"/>
                <a:gd name="connsiteX20" fmla="*/ 58472 w 798363"/>
                <a:gd name="connsiteY20" fmla="*/ 1032987 h 1032987"/>
                <a:gd name="connsiteX21" fmla="*/ 58470 w 798363"/>
                <a:gd name="connsiteY21" fmla="*/ 1032987 h 1032987"/>
                <a:gd name="connsiteX22" fmla="*/ 30592 w 798363"/>
                <a:gd name="connsiteY22" fmla="*/ 1032987 h 1032987"/>
                <a:gd name="connsiteX23" fmla="*/ 1573 w 798363"/>
                <a:gd name="connsiteY23" fmla="*/ 1003968 h 1032987"/>
                <a:gd name="connsiteX24" fmla="*/ 1573 w 798363"/>
                <a:gd name="connsiteY24" fmla="*/ 982304 h 1032987"/>
                <a:gd name="connsiteX25" fmla="*/ 0 w 798363"/>
                <a:gd name="connsiteY25" fmla="*/ 974515 h 1032987"/>
                <a:gd name="connsiteX26" fmla="*/ 0 w 798363"/>
                <a:gd name="connsiteY26" fmla="*/ 58472 h 1032987"/>
                <a:gd name="connsiteX27" fmla="*/ 58472 w 798363"/>
                <a:gd name="connsiteY27" fmla="*/ 0 h 1032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798363" h="1032987">
                  <a:moveTo>
                    <a:pt x="58472" y="0"/>
                  </a:moveTo>
                  <a:lnTo>
                    <a:pt x="292354" y="0"/>
                  </a:lnTo>
                  <a:lnTo>
                    <a:pt x="292359" y="1"/>
                  </a:lnTo>
                  <a:lnTo>
                    <a:pt x="622950" y="1"/>
                  </a:lnTo>
                  <a:cubicBezTo>
                    <a:pt x="719828" y="1"/>
                    <a:pt x="798363" y="78536"/>
                    <a:pt x="798363" y="175414"/>
                  </a:cubicBezTo>
                  <a:cubicBezTo>
                    <a:pt x="798363" y="272292"/>
                    <a:pt x="719828" y="350827"/>
                    <a:pt x="622950" y="350827"/>
                  </a:cubicBezTo>
                  <a:lnTo>
                    <a:pt x="562765" y="350827"/>
                  </a:lnTo>
                  <a:lnTo>
                    <a:pt x="562765" y="503174"/>
                  </a:lnTo>
                  <a:cubicBezTo>
                    <a:pt x="562765" y="510529"/>
                    <a:pt x="556802" y="516492"/>
                    <a:pt x="549447" y="516492"/>
                  </a:cubicBezTo>
                  <a:lnTo>
                    <a:pt x="496174" y="516492"/>
                  </a:lnTo>
                  <a:cubicBezTo>
                    <a:pt x="488819" y="516492"/>
                    <a:pt x="482856" y="510529"/>
                    <a:pt x="482856" y="503174"/>
                  </a:cubicBezTo>
                  <a:lnTo>
                    <a:pt x="482856" y="350827"/>
                  </a:lnTo>
                  <a:lnTo>
                    <a:pt x="350826" y="350827"/>
                  </a:lnTo>
                  <a:lnTo>
                    <a:pt x="350826" y="858878"/>
                  </a:lnTo>
                  <a:lnTo>
                    <a:pt x="765662" y="858878"/>
                  </a:lnTo>
                  <a:cubicBezTo>
                    <a:pt x="781689" y="858878"/>
                    <a:pt x="794681" y="871870"/>
                    <a:pt x="794681" y="887897"/>
                  </a:cubicBezTo>
                  <a:lnTo>
                    <a:pt x="794681" y="1003968"/>
                  </a:lnTo>
                  <a:cubicBezTo>
                    <a:pt x="794681" y="1019995"/>
                    <a:pt x="781689" y="1032987"/>
                    <a:pt x="765662" y="1032987"/>
                  </a:cubicBezTo>
                  <a:lnTo>
                    <a:pt x="292357" y="1032987"/>
                  </a:lnTo>
                  <a:lnTo>
                    <a:pt x="292354" y="1032987"/>
                  </a:lnTo>
                  <a:lnTo>
                    <a:pt x="58472" y="1032987"/>
                  </a:lnTo>
                  <a:lnTo>
                    <a:pt x="58470" y="1032987"/>
                  </a:lnTo>
                  <a:lnTo>
                    <a:pt x="30592" y="1032987"/>
                  </a:lnTo>
                  <a:cubicBezTo>
                    <a:pt x="14565" y="1032987"/>
                    <a:pt x="1573" y="1019995"/>
                    <a:pt x="1573" y="1003968"/>
                  </a:cubicBezTo>
                  <a:lnTo>
                    <a:pt x="1573" y="982304"/>
                  </a:lnTo>
                  <a:lnTo>
                    <a:pt x="0" y="974515"/>
                  </a:lnTo>
                  <a:lnTo>
                    <a:pt x="0" y="58472"/>
                  </a:lnTo>
                  <a:cubicBezTo>
                    <a:pt x="0" y="26179"/>
                    <a:pt x="26179" y="0"/>
                    <a:pt x="58472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23E183AB-64B2-0D59-4C3E-48B21FCAA8EC}"/>
                </a:ext>
              </a:extLst>
            </p:cNvPr>
            <p:cNvSpPr/>
            <p:nvPr/>
          </p:nvSpPr>
          <p:spPr>
            <a:xfrm>
              <a:off x="1254841" y="3042122"/>
              <a:ext cx="206628" cy="165303"/>
            </a:xfrm>
            <a:custGeom>
              <a:avLst/>
              <a:gdLst>
                <a:gd name="connsiteX0" fmla="*/ 206629 w 206628"/>
                <a:gd name="connsiteY0" fmla="*/ 70089 h 165303"/>
                <a:gd name="connsiteX1" fmla="*/ 158691 w 206628"/>
                <a:gd name="connsiteY1" fmla="*/ 19836 h 165303"/>
                <a:gd name="connsiteX2" fmla="*/ 158691 w 206628"/>
                <a:gd name="connsiteY2" fmla="*/ 0 h 165303"/>
                <a:gd name="connsiteX3" fmla="*/ 0 w 206628"/>
                <a:gd name="connsiteY3" fmla="*/ 0 h 165303"/>
                <a:gd name="connsiteX4" fmla="*/ 0 w 206628"/>
                <a:gd name="connsiteY4" fmla="*/ 152079 h 165303"/>
                <a:gd name="connsiteX5" fmla="*/ 13224 w 206628"/>
                <a:gd name="connsiteY5" fmla="*/ 165303 h 165303"/>
                <a:gd name="connsiteX6" fmla="*/ 145467 w 206628"/>
                <a:gd name="connsiteY6" fmla="*/ 165303 h 165303"/>
                <a:gd name="connsiteX7" fmla="*/ 158691 w 206628"/>
                <a:gd name="connsiteY7" fmla="*/ 152079 h 165303"/>
                <a:gd name="connsiteX8" fmla="*/ 158691 w 206628"/>
                <a:gd name="connsiteY8" fmla="*/ 120671 h 165303"/>
                <a:gd name="connsiteX9" fmla="*/ 206629 w 206628"/>
                <a:gd name="connsiteY9" fmla="*/ 70089 h 165303"/>
                <a:gd name="connsiteX10" fmla="*/ 159022 w 206628"/>
                <a:gd name="connsiteY10" fmla="*/ 100835 h 165303"/>
                <a:gd name="connsiteX11" fmla="*/ 159022 w 206628"/>
                <a:gd name="connsiteY11" fmla="*/ 39673 h 165303"/>
                <a:gd name="connsiteX12" fmla="*/ 187123 w 206628"/>
                <a:gd name="connsiteY12" fmla="*/ 70089 h 165303"/>
                <a:gd name="connsiteX13" fmla="*/ 159022 w 206628"/>
                <a:gd name="connsiteY13" fmla="*/ 100835 h 165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6628" h="165303">
                  <a:moveTo>
                    <a:pt x="206629" y="70089"/>
                  </a:moveTo>
                  <a:cubicBezTo>
                    <a:pt x="206629" y="42979"/>
                    <a:pt x="185470" y="21159"/>
                    <a:pt x="158691" y="19836"/>
                  </a:cubicBezTo>
                  <a:lnTo>
                    <a:pt x="158691" y="0"/>
                  </a:lnTo>
                  <a:lnTo>
                    <a:pt x="0" y="0"/>
                  </a:lnTo>
                  <a:lnTo>
                    <a:pt x="0" y="152079"/>
                  </a:lnTo>
                  <a:cubicBezTo>
                    <a:pt x="0" y="159352"/>
                    <a:pt x="5951" y="165303"/>
                    <a:pt x="13224" y="165303"/>
                  </a:cubicBezTo>
                  <a:lnTo>
                    <a:pt x="145467" y="165303"/>
                  </a:lnTo>
                  <a:cubicBezTo>
                    <a:pt x="152740" y="165303"/>
                    <a:pt x="158691" y="159352"/>
                    <a:pt x="158691" y="152079"/>
                  </a:cubicBezTo>
                  <a:lnTo>
                    <a:pt x="158691" y="120671"/>
                  </a:lnTo>
                  <a:cubicBezTo>
                    <a:pt x="185470" y="119349"/>
                    <a:pt x="206629" y="97198"/>
                    <a:pt x="206629" y="70089"/>
                  </a:cubicBezTo>
                  <a:close/>
                  <a:moveTo>
                    <a:pt x="159022" y="100835"/>
                  </a:moveTo>
                  <a:lnTo>
                    <a:pt x="159022" y="39673"/>
                  </a:lnTo>
                  <a:cubicBezTo>
                    <a:pt x="174891" y="40995"/>
                    <a:pt x="187123" y="54219"/>
                    <a:pt x="187123" y="70089"/>
                  </a:cubicBezTo>
                  <a:cubicBezTo>
                    <a:pt x="187123" y="85958"/>
                    <a:pt x="174560" y="99512"/>
                    <a:pt x="159022" y="100835"/>
                  </a:cubicBezTo>
                  <a:close/>
                </a:path>
              </a:pathLst>
            </a:custGeom>
            <a:solidFill>
              <a:schemeClr val="accent5">
                <a:lumMod val="60000"/>
                <a:lumOff val="40000"/>
              </a:schemeClr>
            </a:solidFill>
            <a:ln w="32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5FB0EC9A-A7DA-1EA6-7AC1-C4E503ADF27A}"/>
              </a:ext>
            </a:extLst>
          </p:cNvPr>
          <p:cNvSpPr/>
          <p:nvPr/>
        </p:nvSpPr>
        <p:spPr>
          <a:xfrm rot="20470871">
            <a:off x="8686496" y="4863155"/>
            <a:ext cx="850801" cy="1242888"/>
          </a:xfrm>
          <a:custGeom>
            <a:avLst/>
            <a:gdLst>
              <a:gd name="connsiteX0" fmla="*/ 212562 w 850801"/>
              <a:gd name="connsiteY0" fmla="*/ 75984 h 1242888"/>
              <a:gd name="connsiteX1" fmla="*/ 212562 w 850801"/>
              <a:gd name="connsiteY1" fmla="*/ 793013 h 1242888"/>
              <a:gd name="connsiteX2" fmla="*/ 212377 w 850801"/>
              <a:gd name="connsiteY2" fmla="*/ 793013 h 1242888"/>
              <a:gd name="connsiteX3" fmla="*/ 149964 w 850801"/>
              <a:gd name="connsiteY3" fmla="*/ 512272 h 1242888"/>
              <a:gd name="connsiteX4" fmla="*/ 58600 w 850801"/>
              <a:gd name="connsiteY4" fmla="*/ 455705 h 1242888"/>
              <a:gd name="connsiteX5" fmla="*/ 1623 w 850801"/>
              <a:gd name="connsiteY5" fmla="*/ 545225 h 1242888"/>
              <a:gd name="connsiteX6" fmla="*/ 92808 w 850801"/>
              <a:gd name="connsiteY6" fmla="*/ 955445 h 1242888"/>
              <a:gd name="connsiteX7" fmla="*/ 120655 w 850801"/>
              <a:gd name="connsiteY7" fmla="*/ 999114 h 1242888"/>
              <a:gd name="connsiteX8" fmla="*/ 288613 w 850801"/>
              <a:gd name="connsiteY8" fmla="*/ 1128274 h 1242888"/>
              <a:gd name="connsiteX9" fmla="*/ 288613 w 850801"/>
              <a:gd name="connsiteY9" fmla="*/ 1242889 h 1242888"/>
              <a:gd name="connsiteX10" fmla="*/ 729234 w 850801"/>
              <a:gd name="connsiteY10" fmla="*/ 1242889 h 1242888"/>
              <a:gd name="connsiteX11" fmla="*/ 729234 w 850801"/>
              <a:gd name="connsiteY11" fmla="*/ 1166904 h 1242888"/>
              <a:gd name="connsiteX12" fmla="*/ 850802 w 850801"/>
              <a:gd name="connsiteY12" fmla="*/ 847784 h 1242888"/>
              <a:gd name="connsiteX13" fmla="*/ 850802 w 850801"/>
              <a:gd name="connsiteY13" fmla="*/ 574248 h 1242888"/>
              <a:gd name="connsiteX14" fmla="*/ 759827 w 850801"/>
              <a:gd name="connsiteY14" fmla="*/ 483089 h 1242888"/>
              <a:gd name="connsiteX15" fmla="*/ 698413 w 850801"/>
              <a:gd name="connsiteY15" fmla="*/ 506830 h 1242888"/>
              <a:gd name="connsiteX16" fmla="*/ 698833 w 850801"/>
              <a:gd name="connsiteY16" fmla="*/ 498281 h 1242888"/>
              <a:gd name="connsiteX17" fmla="*/ 607773 w 850801"/>
              <a:gd name="connsiteY17" fmla="*/ 407107 h 1242888"/>
              <a:gd name="connsiteX18" fmla="*/ 544564 w 850801"/>
              <a:gd name="connsiteY18" fmla="*/ 432542 h 1242888"/>
              <a:gd name="connsiteX19" fmla="*/ 435610 w 850801"/>
              <a:gd name="connsiteY19" fmla="*/ 363696 h 1242888"/>
              <a:gd name="connsiteX20" fmla="*/ 364530 w 850801"/>
              <a:gd name="connsiteY20" fmla="*/ 452697 h 1242888"/>
              <a:gd name="connsiteX21" fmla="*/ 364530 w 850801"/>
              <a:gd name="connsiteY21" fmla="*/ 75984 h 1242888"/>
              <a:gd name="connsiteX22" fmla="*/ 288546 w 850801"/>
              <a:gd name="connsiteY22" fmla="*/ 0 h 1242888"/>
              <a:gd name="connsiteX23" fmla="*/ 212562 w 850801"/>
              <a:gd name="connsiteY23" fmla="*/ 75984 h 12428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850801" h="1242888">
                <a:moveTo>
                  <a:pt x="212562" y="75984"/>
                </a:moveTo>
                <a:lnTo>
                  <a:pt x="212562" y="793013"/>
                </a:lnTo>
                <a:lnTo>
                  <a:pt x="212377" y="793013"/>
                </a:lnTo>
                <a:lnTo>
                  <a:pt x="149964" y="512272"/>
                </a:lnTo>
                <a:cubicBezTo>
                  <a:pt x="140355" y="471421"/>
                  <a:pt x="99450" y="446096"/>
                  <a:pt x="58600" y="455705"/>
                </a:cubicBezTo>
                <a:cubicBezTo>
                  <a:pt x="18466" y="465144"/>
                  <a:pt x="-6817" y="504868"/>
                  <a:pt x="1623" y="545225"/>
                </a:cubicBezTo>
                <a:lnTo>
                  <a:pt x="92808" y="955445"/>
                </a:lnTo>
                <a:cubicBezTo>
                  <a:pt x="96686" y="972816"/>
                  <a:pt x="106542" y="988271"/>
                  <a:pt x="120655" y="999114"/>
                </a:cubicBezTo>
                <a:lnTo>
                  <a:pt x="288613" y="1128274"/>
                </a:lnTo>
                <a:lnTo>
                  <a:pt x="288613" y="1242889"/>
                </a:lnTo>
                <a:lnTo>
                  <a:pt x="729234" y="1242889"/>
                </a:lnTo>
                <a:lnTo>
                  <a:pt x="729234" y="1166904"/>
                </a:lnTo>
                <a:cubicBezTo>
                  <a:pt x="729234" y="1059260"/>
                  <a:pt x="850802" y="1051013"/>
                  <a:pt x="850802" y="847784"/>
                </a:cubicBezTo>
                <a:lnTo>
                  <a:pt x="850802" y="574248"/>
                </a:lnTo>
                <a:cubicBezTo>
                  <a:pt x="850852" y="523953"/>
                  <a:pt x="810122" y="483139"/>
                  <a:pt x="759827" y="483089"/>
                </a:cubicBezTo>
                <a:cubicBezTo>
                  <a:pt x="737111" y="483067"/>
                  <a:pt x="715208" y="491534"/>
                  <a:pt x="698413" y="506830"/>
                </a:cubicBezTo>
                <a:cubicBezTo>
                  <a:pt x="698665" y="504008"/>
                  <a:pt x="698833" y="501170"/>
                  <a:pt x="698833" y="498281"/>
                </a:cubicBezTo>
                <a:cubicBezTo>
                  <a:pt x="698865" y="447959"/>
                  <a:pt x="658095" y="407138"/>
                  <a:pt x="607773" y="407107"/>
                </a:cubicBezTo>
                <a:cubicBezTo>
                  <a:pt x="584207" y="407093"/>
                  <a:pt x="561551" y="416208"/>
                  <a:pt x="544564" y="432542"/>
                </a:cubicBezTo>
                <a:cubicBezTo>
                  <a:pt x="533489" y="383445"/>
                  <a:pt x="484709" y="352621"/>
                  <a:pt x="435610" y="363696"/>
                </a:cubicBezTo>
                <a:cubicBezTo>
                  <a:pt x="394012" y="373080"/>
                  <a:pt x="364483" y="410054"/>
                  <a:pt x="364530" y="452697"/>
                </a:cubicBezTo>
                <a:lnTo>
                  <a:pt x="364530" y="75984"/>
                </a:lnTo>
                <a:cubicBezTo>
                  <a:pt x="364530" y="34020"/>
                  <a:pt x="330510" y="0"/>
                  <a:pt x="288546" y="0"/>
                </a:cubicBezTo>
                <a:cubicBezTo>
                  <a:pt x="246582" y="0"/>
                  <a:pt x="212562" y="34020"/>
                  <a:pt x="212562" y="75984"/>
                </a:cubicBezTo>
                <a:close/>
              </a:path>
            </a:pathLst>
          </a:custGeom>
          <a:solidFill>
            <a:schemeClr val="accent4"/>
          </a:solidFill>
          <a:ln w="16768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25700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Tm="4700">
        <p159:morph option="byObject"/>
      </p:transition>
    </mc:Choice>
    <mc:Fallback xmlns="">
      <p:transition spd="slow" advTm="4700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C4FEEE-A5CB-07E3-1D1C-9FD1B3BD9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DF152569-958C-0940-1299-1150AFAEE3BE}"/>
              </a:ext>
            </a:extLst>
          </p:cNvPr>
          <p:cNvSpPr txBox="1">
            <a:spLocks/>
          </p:cNvSpPr>
          <p:nvPr/>
        </p:nvSpPr>
        <p:spPr>
          <a:xfrm>
            <a:off x="1274798" y="241554"/>
            <a:ext cx="964240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Data</a:t>
            </a:r>
            <a:endParaRPr lang="aa-ET" dirty="0">
              <a:solidFill>
                <a:schemeClr val="accent1"/>
              </a:solidFill>
              <a:latin typeface="Century Gothic" panose="020B0502020202020204" pitchFamily="34" charset="0"/>
            </a:endParaRP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4967F33B-4E66-E041-BA3C-794B65B841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8446" y="2422580"/>
            <a:ext cx="7512938" cy="6210097"/>
          </a:xfrm>
        </p:spPr>
        <p:txBody>
          <a:bodyPr>
            <a:noAutofit/>
          </a:bodyPr>
          <a:lstStyle/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"events": 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400" dirty="0" err="1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lowOnWater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 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"title": </a:t>
            </a:r>
            <a:r>
              <a:rPr lang="en-US" sz="14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"Low Water Level"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  <a:endParaRPr lang="en-US" sz="1400" dirty="0">
              <a:solidFill>
                <a:schemeClr val="accent5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"data": 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  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"type": </a:t>
            </a:r>
            <a:r>
              <a:rPr lang="en-US" sz="14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"number",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  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"description":</a:t>
            </a:r>
            <a:r>
              <a:rPr lang="en-US" sz="14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"Amount of water remaining in ml"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},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"forms": 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 ... 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pic>
        <p:nvPicPr>
          <p:cNvPr id="2" name="Graphic 1" descr="Smart Phone with solid fill">
            <a:extLst>
              <a:ext uri="{FF2B5EF4-FFF2-40B4-BE49-F238E27FC236}">
                <a16:creationId xmlns:a16="http://schemas.microsoft.com/office/drawing/2014/main" id="{36979A62-2A22-8494-6267-87B32B36CF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06243" y="1799026"/>
            <a:ext cx="5065411" cy="457028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6277699E-1F7B-0E36-CA85-B1D1CB89AED4}"/>
              </a:ext>
            </a:extLst>
          </p:cNvPr>
          <p:cNvGrpSpPr/>
          <p:nvPr/>
        </p:nvGrpSpPr>
        <p:grpSpPr>
          <a:xfrm>
            <a:off x="10220056" y="4508985"/>
            <a:ext cx="1193498" cy="1666579"/>
            <a:chOff x="974627" y="2611041"/>
            <a:chExt cx="520902" cy="727378"/>
          </a:xfrm>
          <a:solidFill>
            <a:schemeClr val="tx2"/>
          </a:solidFill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9A9BB6-E629-6DC9-5C1F-44DDC06FF454}"/>
                </a:ext>
              </a:extLst>
            </p:cNvPr>
            <p:cNvSpPr/>
            <p:nvPr/>
          </p:nvSpPr>
          <p:spPr>
            <a:xfrm>
              <a:off x="974627" y="2611041"/>
              <a:ext cx="520902" cy="727378"/>
            </a:xfrm>
            <a:custGeom>
              <a:avLst/>
              <a:gdLst>
                <a:gd name="connsiteX0" fmla="*/ 58472 w 798363"/>
                <a:gd name="connsiteY0" fmla="*/ 0 h 1032987"/>
                <a:gd name="connsiteX1" fmla="*/ 292354 w 798363"/>
                <a:gd name="connsiteY1" fmla="*/ 0 h 1032987"/>
                <a:gd name="connsiteX2" fmla="*/ 292359 w 798363"/>
                <a:gd name="connsiteY2" fmla="*/ 1 h 1032987"/>
                <a:gd name="connsiteX3" fmla="*/ 622950 w 798363"/>
                <a:gd name="connsiteY3" fmla="*/ 1 h 1032987"/>
                <a:gd name="connsiteX4" fmla="*/ 798363 w 798363"/>
                <a:gd name="connsiteY4" fmla="*/ 175414 h 1032987"/>
                <a:gd name="connsiteX5" fmla="*/ 622950 w 798363"/>
                <a:gd name="connsiteY5" fmla="*/ 350827 h 1032987"/>
                <a:gd name="connsiteX6" fmla="*/ 562765 w 798363"/>
                <a:gd name="connsiteY6" fmla="*/ 350827 h 1032987"/>
                <a:gd name="connsiteX7" fmla="*/ 562765 w 798363"/>
                <a:gd name="connsiteY7" fmla="*/ 503174 h 1032987"/>
                <a:gd name="connsiteX8" fmla="*/ 549447 w 798363"/>
                <a:gd name="connsiteY8" fmla="*/ 516492 h 1032987"/>
                <a:gd name="connsiteX9" fmla="*/ 496174 w 798363"/>
                <a:gd name="connsiteY9" fmla="*/ 516492 h 1032987"/>
                <a:gd name="connsiteX10" fmla="*/ 482856 w 798363"/>
                <a:gd name="connsiteY10" fmla="*/ 503174 h 1032987"/>
                <a:gd name="connsiteX11" fmla="*/ 482856 w 798363"/>
                <a:gd name="connsiteY11" fmla="*/ 350827 h 1032987"/>
                <a:gd name="connsiteX12" fmla="*/ 350826 w 798363"/>
                <a:gd name="connsiteY12" fmla="*/ 350827 h 1032987"/>
                <a:gd name="connsiteX13" fmla="*/ 350826 w 798363"/>
                <a:gd name="connsiteY13" fmla="*/ 858878 h 1032987"/>
                <a:gd name="connsiteX14" fmla="*/ 765662 w 798363"/>
                <a:gd name="connsiteY14" fmla="*/ 858878 h 1032987"/>
                <a:gd name="connsiteX15" fmla="*/ 794681 w 798363"/>
                <a:gd name="connsiteY15" fmla="*/ 887897 h 1032987"/>
                <a:gd name="connsiteX16" fmla="*/ 794681 w 798363"/>
                <a:gd name="connsiteY16" fmla="*/ 1003968 h 1032987"/>
                <a:gd name="connsiteX17" fmla="*/ 765662 w 798363"/>
                <a:gd name="connsiteY17" fmla="*/ 1032987 h 1032987"/>
                <a:gd name="connsiteX18" fmla="*/ 292357 w 798363"/>
                <a:gd name="connsiteY18" fmla="*/ 1032987 h 1032987"/>
                <a:gd name="connsiteX19" fmla="*/ 292354 w 798363"/>
                <a:gd name="connsiteY19" fmla="*/ 1032987 h 1032987"/>
                <a:gd name="connsiteX20" fmla="*/ 58472 w 798363"/>
                <a:gd name="connsiteY20" fmla="*/ 1032987 h 1032987"/>
                <a:gd name="connsiteX21" fmla="*/ 58470 w 798363"/>
                <a:gd name="connsiteY21" fmla="*/ 1032987 h 1032987"/>
                <a:gd name="connsiteX22" fmla="*/ 30592 w 798363"/>
                <a:gd name="connsiteY22" fmla="*/ 1032987 h 1032987"/>
                <a:gd name="connsiteX23" fmla="*/ 1573 w 798363"/>
                <a:gd name="connsiteY23" fmla="*/ 1003968 h 1032987"/>
                <a:gd name="connsiteX24" fmla="*/ 1573 w 798363"/>
                <a:gd name="connsiteY24" fmla="*/ 982304 h 1032987"/>
                <a:gd name="connsiteX25" fmla="*/ 0 w 798363"/>
                <a:gd name="connsiteY25" fmla="*/ 974515 h 1032987"/>
                <a:gd name="connsiteX26" fmla="*/ 0 w 798363"/>
                <a:gd name="connsiteY26" fmla="*/ 58472 h 1032987"/>
                <a:gd name="connsiteX27" fmla="*/ 58472 w 798363"/>
                <a:gd name="connsiteY27" fmla="*/ 0 h 1032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798363" h="1032987">
                  <a:moveTo>
                    <a:pt x="58472" y="0"/>
                  </a:moveTo>
                  <a:lnTo>
                    <a:pt x="292354" y="0"/>
                  </a:lnTo>
                  <a:lnTo>
                    <a:pt x="292359" y="1"/>
                  </a:lnTo>
                  <a:lnTo>
                    <a:pt x="622950" y="1"/>
                  </a:lnTo>
                  <a:cubicBezTo>
                    <a:pt x="719828" y="1"/>
                    <a:pt x="798363" y="78536"/>
                    <a:pt x="798363" y="175414"/>
                  </a:cubicBezTo>
                  <a:cubicBezTo>
                    <a:pt x="798363" y="272292"/>
                    <a:pt x="719828" y="350827"/>
                    <a:pt x="622950" y="350827"/>
                  </a:cubicBezTo>
                  <a:lnTo>
                    <a:pt x="562765" y="350827"/>
                  </a:lnTo>
                  <a:lnTo>
                    <a:pt x="562765" y="503174"/>
                  </a:lnTo>
                  <a:cubicBezTo>
                    <a:pt x="562765" y="510529"/>
                    <a:pt x="556802" y="516492"/>
                    <a:pt x="549447" y="516492"/>
                  </a:cubicBezTo>
                  <a:lnTo>
                    <a:pt x="496174" y="516492"/>
                  </a:lnTo>
                  <a:cubicBezTo>
                    <a:pt x="488819" y="516492"/>
                    <a:pt x="482856" y="510529"/>
                    <a:pt x="482856" y="503174"/>
                  </a:cubicBezTo>
                  <a:lnTo>
                    <a:pt x="482856" y="350827"/>
                  </a:lnTo>
                  <a:lnTo>
                    <a:pt x="350826" y="350827"/>
                  </a:lnTo>
                  <a:lnTo>
                    <a:pt x="350826" y="858878"/>
                  </a:lnTo>
                  <a:lnTo>
                    <a:pt x="765662" y="858878"/>
                  </a:lnTo>
                  <a:cubicBezTo>
                    <a:pt x="781689" y="858878"/>
                    <a:pt x="794681" y="871870"/>
                    <a:pt x="794681" y="887897"/>
                  </a:cubicBezTo>
                  <a:lnTo>
                    <a:pt x="794681" y="1003968"/>
                  </a:lnTo>
                  <a:cubicBezTo>
                    <a:pt x="794681" y="1019995"/>
                    <a:pt x="781689" y="1032987"/>
                    <a:pt x="765662" y="1032987"/>
                  </a:cubicBezTo>
                  <a:lnTo>
                    <a:pt x="292357" y="1032987"/>
                  </a:lnTo>
                  <a:lnTo>
                    <a:pt x="292354" y="1032987"/>
                  </a:lnTo>
                  <a:lnTo>
                    <a:pt x="58472" y="1032987"/>
                  </a:lnTo>
                  <a:lnTo>
                    <a:pt x="58470" y="1032987"/>
                  </a:lnTo>
                  <a:lnTo>
                    <a:pt x="30592" y="1032987"/>
                  </a:lnTo>
                  <a:cubicBezTo>
                    <a:pt x="14565" y="1032987"/>
                    <a:pt x="1573" y="1019995"/>
                    <a:pt x="1573" y="1003968"/>
                  </a:cubicBezTo>
                  <a:lnTo>
                    <a:pt x="1573" y="982304"/>
                  </a:lnTo>
                  <a:lnTo>
                    <a:pt x="0" y="974515"/>
                  </a:lnTo>
                  <a:lnTo>
                    <a:pt x="0" y="58472"/>
                  </a:lnTo>
                  <a:cubicBezTo>
                    <a:pt x="0" y="26179"/>
                    <a:pt x="26179" y="0"/>
                    <a:pt x="58472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834CBDAC-0759-9593-A028-CB7C0154852C}"/>
                </a:ext>
              </a:extLst>
            </p:cNvPr>
            <p:cNvSpPr/>
            <p:nvPr/>
          </p:nvSpPr>
          <p:spPr>
            <a:xfrm>
              <a:off x="1254841" y="3042122"/>
              <a:ext cx="206628" cy="165303"/>
            </a:xfrm>
            <a:custGeom>
              <a:avLst/>
              <a:gdLst>
                <a:gd name="connsiteX0" fmla="*/ 206629 w 206628"/>
                <a:gd name="connsiteY0" fmla="*/ 70089 h 165303"/>
                <a:gd name="connsiteX1" fmla="*/ 158691 w 206628"/>
                <a:gd name="connsiteY1" fmla="*/ 19836 h 165303"/>
                <a:gd name="connsiteX2" fmla="*/ 158691 w 206628"/>
                <a:gd name="connsiteY2" fmla="*/ 0 h 165303"/>
                <a:gd name="connsiteX3" fmla="*/ 0 w 206628"/>
                <a:gd name="connsiteY3" fmla="*/ 0 h 165303"/>
                <a:gd name="connsiteX4" fmla="*/ 0 w 206628"/>
                <a:gd name="connsiteY4" fmla="*/ 152079 h 165303"/>
                <a:gd name="connsiteX5" fmla="*/ 13224 w 206628"/>
                <a:gd name="connsiteY5" fmla="*/ 165303 h 165303"/>
                <a:gd name="connsiteX6" fmla="*/ 145467 w 206628"/>
                <a:gd name="connsiteY6" fmla="*/ 165303 h 165303"/>
                <a:gd name="connsiteX7" fmla="*/ 158691 w 206628"/>
                <a:gd name="connsiteY7" fmla="*/ 152079 h 165303"/>
                <a:gd name="connsiteX8" fmla="*/ 158691 w 206628"/>
                <a:gd name="connsiteY8" fmla="*/ 120671 h 165303"/>
                <a:gd name="connsiteX9" fmla="*/ 206629 w 206628"/>
                <a:gd name="connsiteY9" fmla="*/ 70089 h 165303"/>
                <a:gd name="connsiteX10" fmla="*/ 159022 w 206628"/>
                <a:gd name="connsiteY10" fmla="*/ 100835 h 165303"/>
                <a:gd name="connsiteX11" fmla="*/ 159022 w 206628"/>
                <a:gd name="connsiteY11" fmla="*/ 39673 h 165303"/>
                <a:gd name="connsiteX12" fmla="*/ 187123 w 206628"/>
                <a:gd name="connsiteY12" fmla="*/ 70089 h 165303"/>
                <a:gd name="connsiteX13" fmla="*/ 159022 w 206628"/>
                <a:gd name="connsiteY13" fmla="*/ 100835 h 165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6628" h="165303">
                  <a:moveTo>
                    <a:pt x="206629" y="70089"/>
                  </a:moveTo>
                  <a:cubicBezTo>
                    <a:pt x="206629" y="42979"/>
                    <a:pt x="185470" y="21159"/>
                    <a:pt x="158691" y="19836"/>
                  </a:cubicBezTo>
                  <a:lnTo>
                    <a:pt x="158691" y="0"/>
                  </a:lnTo>
                  <a:lnTo>
                    <a:pt x="0" y="0"/>
                  </a:lnTo>
                  <a:lnTo>
                    <a:pt x="0" y="152079"/>
                  </a:lnTo>
                  <a:cubicBezTo>
                    <a:pt x="0" y="159352"/>
                    <a:pt x="5951" y="165303"/>
                    <a:pt x="13224" y="165303"/>
                  </a:cubicBezTo>
                  <a:lnTo>
                    <a:pt x="145467" y="165303"/>
                  </a:lnTo>
                  <a:cubicBezTo>
                    <a:pt x="152740" y="165303"/>
                    <a:pt x="158691" y="159352"/>
                    <a:pt x="158691" y="152079"/>
                  </a:cubicBezTo>
                  <a:lnTo>
                    <a:pt x="158691" y="120671"/>
                  </a:lnTo>
                  <a:cubicBezTo>
                    <a:pt x="185470" y="119349"/>
                    <a:pt x="206629" y="97198"/>
                    <a:pt x="206629" y="70089"/>
                  </a:cubicBezTo>
                  <a:close/>
                  <a:moveTo>
                    <a:pt x="159022" y="100835"/>
                  </a:moveTo>
                  <a:lnTo>
                    <a:pt x="159022" y="39673"/>
                  </a:lnTo>
                  <a:cubicBezTo>
                    <a:pt x="174891" y="40995"/>
                    <a:pt x="187123" y="54219"/>
                    <a:pt x="187123" y="70089"/>
                  </a:cubicBezTo>
                  <a:cubicBezTo>
                    <a:pt x="187123" y="85958"/>
                    <a:pt x="174560" y="99512"/>
                    <a:pt x="159022" y="100835"/>
                  </a:cubicBezTo>
                  <a:close/>
                </a:path>
              </a:pathLst>
            </a:custGeom>
            <a:solidFill>
              <a:schemeClr val="accent5">
                <a:lumMod val="60000"/>
                <a:lumOff val="40000"/>
              </a:schemeClr>
            </a:solidFill>
            <a:ln w="32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4410527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2300">
        <p159:morph option="byObject"/>
      </p:transition>
    </mc:Choice>
    <mc:Fallback xmlns="">
      <p:transition spd="slow" advTm="23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"/>
                            </p:stCondLst>
                            <p:childTnLst>
                              <p:par>
                                <p:cTn id="9" presetID="22" presetClass="entr" presetSubtype="8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50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22" presetClass="entr" presetSubtype="8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5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50"/>
                            </p:stCondLst>
                            <p:childTnLst>
                              <p:par>
                                <p:cTn id="17" presetID="22" presetClass="entr" presetSubtype="8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"/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22" presetClass="entr" presetSubtype="8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25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250"/>
                            </p:stCondLst>
                            <p:childTnLst>
                              <p:par>
                                <p:cTn id="25" presetID="22" presetClass="entr" presetSubtype="8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"/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"/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750"/>
                            </p:stCondLst>
                            <p:childTnLst>
                              <p:par>
                                <p:cTn id="33" presetID="22" presetClass="entr" presetSubtype="8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"/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000"/>
                            </p:stCondLst>
                            <p:childTnLst>
                              <p:par>
                                <p:cTn id="37" presetID="22" presetClass="entr" presetSubtype="8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50"/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250"/>
                            </p:stCondLst>
                            <p:childTnLst>
                              <p:par>
                                <p:cTn id="41" presetID="22" presetClass="entr" presetSubtype="8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250"/>
                                        <p:tgtEl>
                                          <p:spTgt spid="1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500"/>
                            </p:stCondLst>
                            <p:childTnLst>
                              <p:par>
                                <p:cTn id="45" presetID="22" presetClass="entr" presetSubtype="8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50"/>
                                        <p:tgtEl>
                                          <p:spTgt spid="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2750"/>
                            </p:stCondLst>
                            <p:childTnLst>
                              <p:par>
                                <p:cTn id="49" presetID="22" presetClass="entr" presetSubtype="8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1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09C41-4225-7F07-EFA6-F29DD131B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31B85F13-2557-0578-AB1E-00EC98B19A89}"/>
              </a:ext>
            </a:extLst>
          </p:cNvPr>
          <p:cNvSpPr txBox="1">
            <a:spLocks/>
          </p:cNvSpPr>
          <p:nvPr/>
        </p:nvSpPr>
        <p:spPr>
          <a:xfrm>
            <a:off x="1274798" y="241554"/>
            <a:ext cx="964240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Data</a:t>
            </a:r>
            <a:endParaRPr lang="aa-ET" dirty="0">
              <a:solidFill>
                <a:schemeClr val="accent1"/>
              </a:solidFill>
              <a:latin typeface="Century Gothic" panose="020B0502020202020204" pitchFamily="34" charset="0"/>
            </a:endParaRP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124EBCF-9542-1D0C-6A85-E5134CCD5D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8446" y="2434937"/>
            <a:ext cx="7512938" cy="6210097"/>
          </a:xfrm>
        </p:spPr>
        <p:txBody>
          <a:bodyPr>
            <a:noAutofit/>
          </a:bodyPr>
          <a:lstStyle/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"events":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"</a:t>
            </a:r>
            <a:r>
              <a:rPr lang="en-US" sz="1400" dirty="0" err="1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lowOnWater</a:t>
            </a: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{ 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"title": "Low Water Level",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"data": 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  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"type": </a:t>
            </a:r>
            <a:r>
              <a:rPr lang="en-US" sz="14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"number",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	  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"description":</a:t>
            </a:r>
            <a:r>
              <a:rPr lang="en-US" sz="14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"Amount of water remaining in ml"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"forms": [ ... 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pic>
        <p:nvPicPr>
          <p:cNvPr id="2" name="Graphic 1" descr="Smart Phone with solid fill">
            <a:extLst>
              <a:ext uri="{FF2B5EF4-FFF2-40B4-BE49-F238E27FC236}">
                <a16:creationId xmlns:a16="http://schemas.microsoft.com/office/drawing/2014/main" id="{682FBC91-259F-5A2F-0687-0C37793780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06243" y="1799026"/>
            <a:ext cx="5065411" cy="457028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C43F959A-D0A2-97D7-D62E-0FF0EB608CCF}"/>
              </a:ext>
            </a:extLst>
          </p:cNvPr>
          <p:cNvGrpSpPr/>
          <p:nvPr/>
        </p:nvGrpSpPr>
        <p:grpSpPr>
          <a:xfrm>
            <a:off x="10220056" y="4508985"/>
            <a:ext cx="1193498" cy="1666579"/>
            <a:chOff x="974627" y="2611041"/>
            <a:chExt cx="520902" cy="727378"/>
          </a:xfrm>
          <a:solidFill>
            <a:schemeClr val="tx2"/>
          </a:solidFill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07A8B816-9A09-37C6-DE3B-449A4320927A}"/>
                </a:ext>
              </a:extLst>
            </p:cNvPr>
            <p:cNvSpPr/>
            <p:nvPr/>
          </p:nvSpPr>
          <p:spPr>
            <a:xfrm>
              <a:off x="974627" y="2611041"/>
              <a:ext cx="520902" cy="727378"/>
            </a:xfrm>
            <a:custGeom>
              <a:avLst/>
              <a:gdLst>
                <a:gd name="connsiteX0" fmla="*/ 58472 w 798363"/>
                <a:gd name="connsiteY0" fmla="*/ 0 h 1032987"/>
                <a:gd name="connsiteX1" fmla="*/ 292354 w 798363"/>
                <a:gd name="connsiteY1" fmla="*/ 0 h 1032987"/>
                <a:gd name="connsiteX2" fmla="*/ 292359 w 798363"/>
                <a:gd name="connsiteY2" fmla="*/ 1 h 1032987"/>
                <a:gd name="connsiteX3" fmla="*/ 622950 w 798363"/>
                <a:gd name="connsiteY3" fmla="*/ 1 h 1032987"/>
                <a:gd name="connsiteX4" fmla="*/ 798363 w 798363"/>
                <a:gd name="connsiteY4" fmla="*/ 175414 h 1032987"/>
                <a:gd name="connsiteX5" fmla="*/ 622950 w 798363"/>
                <a:gd name="connsiteY5" fmla="*/ 350827 h 1032987"/>
                <a:gd name="connsiteX6" fmla="*/ 562765 w 798363"/>
                <a:gd name="connsiteY6" fmla="*/ 350827 h 1032987"/>
                <a:gd name="connsiteX7" fmla="*/ 562765 w 798363"/>
                <a:gd name="connsiteY7" fmla="*/ 503174 h 1032987"/>
                <a:gd name="connsiteX8" fmla="*/ 549447 w 798363"/>
                <a:gd name="connsiteY8" fmla="*/ 516492 h 1032987"/>
                <a:gd name="connsiteX9" fmla="*/ 496174 w 798363"/>
                <a:gd name="connsiteY9" fmla="*/ 516492 h 1032987"/>
                <a:gd name="connsiteX10" fmla="*/ 482856 w 798363"/>
                <a:gd name="connsiteY10" fmla="*/ 503174 h 1032987"/>
                <a:gd name="connsiteX11" fmla="*/ 482856 w 798363"/>
                <a:gd name="connsiteY11" fmla="*/ 350827 h 1032987"/>
                <a:gd name="connsiteX12" fmla="*/ 350826 w 798363"/>
                <a:gd name="connsiteY12" fmla="*/ 350827 h 1032987"/>
                <a:gd name="connsiteX13" fmla="*/ 350826 w 798363"/>
                <a:gd name="connsiteY13" fmla="*/ 858878 h 1032987"/>
                <a:gd name="connsiteX14" fmla="*/ 765662 w 798363"/>
                <a:gd name="connsiteY14" fmla="*/ 858878 h 1032987"/>
                <a:gd name="connsiteX15" fmla="*/ 794681 w 798363"/>
                <a:gd name="connsiteY15" fmla="*/ 887897 h 1032987"/>
                <a:gd name="connsiteX16" fmla="*/ 794681 w 798363"/>
                <a:gd name="connsiteY16" fmla="*/ 1003968 h 1032987"/>
                <a:gd name="connsiteX17" fmla="*/ 765662 w 798363"/>
                <a:gd name="connsiteY17" fmla="*/ 1032987 h 1032987"/>
                <a:gd name="connsiteX18" fmla="*/ 292357 w 798363"/>
                <a:gd name="connsiteY18" fmla="*/ 1032987 h 1032987"/>
                <a:gd name="connsiteX19" fmla="*/ 292354 w 798363"/>
                <a:gd name="connsiteY19" fmla="*/ 1032987 h 1032987"/>
                <a:gd name="connsiteX20" fmla="*/ 58472 w 798363"/>
                <a:gd name="connsiteY20" fmla="*/ 1032987 h 1032987"/>
                <a:gd name="connsiteX21" fmla="*/ 58470 w 798363"/>
                <a:gd name="connsiteY21" fmla="*/ 1032987 h 1032987"/>
                <a:gd name="connsiteX22" fmla="*/ 30592 w 798363"/>
                <a:gd name="connsiteY22" fmla="*/ 1032987 h 1032987"/>
                <a:gd name="connsiteX23" fmla="*/ 1573 w 798363"/>
                <a:gd name="connsiteY23" fmla="*/ 1003968 h 1032987"/>
                <a:gd name="connsiteX24" fmla="*/ 1573 w 798363"/>
                <a:gd name="connsiteY24" fmla="*/ 982304 h 1032987"/>
                <a:gd name="connsiteX25" fmla="*/ 0 w 798363"/>
                <a:gd name="connsiteY25" fmla="*/ 974515 h 1032987"/>
                <a:gd name="connsiteX26" fmla="*/ 0 w 798363"/>
                <a:gd name="connsiteY26" fmla="*/ 58472 h 1032987"/>
                <a:gd name="connsiteX27" fmla="*/ 58472 w 798363"/>
                <a:gd name="connsiteY27" fmla="*/ 0 h 1032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798363" h="1032987">
                  <a:moveTo>
                    <a:pt x="58472" y="0"/>
                  </a:moveTo>
                  <a:lnTo>
                    <a:pt x="292354" y="0"/>
                  </a:lnTo>
                  <a:lnTo>
                    <a:pt x="292359" y="1"/>
                  </a:lnTo>
                  <a:lnTo>
                    <a:pt x="622950" y="1"/>
                  </a:lnTo>
                  <a:cubicBezTo>
                    <a:pt x="719828" y="1"/>
                    <a:pt x="798363" y="78536"/>
                    <a:pt x="798363" y="175414"/>
                  </a:cubicBezTo>
                  <a:cubicBezTo>
                    <a:pt x="798363" y="272292"/>
                    <a:pt x="719828" y="350827"/>
                    <a:pt x="622950" y="350827"/>
                  </a:cubicBezTo>
                  <a:lnTo>
                    <a:pt x="562765" y="350827"/>
                  </a:lnTo>
                  <a:lnTo>
                    <a:pt x="562765" y="503174"/>
                  </a:lnTo>
                  <a:cubicBezTo>
                    <a:pt x="562765" y="510529"/>
                    <a:pt x="556802" y="516492"/>
                    <a:pt x="549447" y="516492"/>
                  </a:cubicBezTo>
                  <a:lnTo>
                    <a:pt x="496174" y="516492"/>
                  </a:lnTo>
                  <a:cubicBezTo>
                    <a:pt x="488819" y="516492"/>
                    <a:pt x="482856" y="510529"/>
                    <a:pt x="482856" y="503174"/>
                  </a:cubicBezTo>
                  <a:lnTo>
                    <a:pt x="482856" y="350827"/>
                  </a:lnTo>
                  <a:lnTo>
                    <a:pt x="350826" y="350827"/>
                  </a:lnTo>
                  <a:lnTo>
                    <a:pt x="350826" y="858878"/>
                  </a:lnTo>
                  <a:lnTo>
                    <a:pt x="765662" y="858878"/>
                  </a:lnTo>
                  <a:cubicBezTo>
                    <a:pt x="781689" y="858878"/>
                    <a:pt x="794681" y="871870"/>
                    <a:pt x="794681" y="887897"/>
                  </a:cubicBezTo>
                  <a:lnTo>
                    <a:pt x="794681" y="1003968"/>
                  </a:lnTo>
                  <a:cubicBezTo>
                    <a:pt x="794681" y="1019995"/>
                    <a:pt x="781689" y="1032987"/>
                    <a:pt x="765662" y="1032987"/>
                  </a:cubicBezTo>
                  <a:lnTo>
                    <a:pt x="292357" y="1032987"/>
                  </a:lnTo>
                  <a:lnTo>
                    <a:pt x="292354" y="1032987"/>
                  </a:lnTo>
                  <a:lnTo>
                    <a:pt x="58472" y="1032987"/>
                  </a:lnTo>
                  <a:lnTo>
                    <a:pt x="58470" y="1032987"/>
                  </a:lnTo>
                  <a:lnTo>
                    <a:pt x="30592" y="1032987"/>
                  </a:lnTo>
                  <a:cubicBezTo>
                    <a:pt x="14565" y="1032987"/>
                    <a:pt x="1573" y="1019995"/>
                    <a:pt x="1573" y="1003968"/>
                  </a:cubicBezTo>
                  <a:lnTo>
                    <a:pt x="1573" y="982304"/>
                  </a:lnTo>
                  <a:lnTo>
                    <a:pt x="0" y="974515"/>
                  </a:lnTo>
                  <a:lnTo>
                    <a:pt x="0" y="58472"/>
                  </a:lnTo>
                  <a:cubicBezTo>
                    <a:pt x="0" y="26179"/>
                    <a:pt x="26179" y="0"/>
                    <a:pt x="58472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E7D6F9DA-9F39-D7DF-DFF2-2AC1022275F8}"/>
                </a:ext>
              </a:extLst>
            </p:cNvPr>
            <p:cNvSpPr/>
            <p:nvPr/>
          </p:nvSpPr>
          <p:spPr>
            <a:xfrm>
              <a:off x="1254841" y="3042122"/>
              <a:ext cx="206628" cy="165303"/>
            </a:xfrm>
            <a:custGeom>
              <a:avLst/>
              <a:gdLst>
                <a:gd name="connsiteX0" fmla="*/ 206629 w 206628"/>
                <a:gd name="connsiteY0" fmla="*/ 70089 h 165303"/>
                <a:gd name="connsiteX1" fmla="*/ 158691 w 206628"/>
                <a:gd name="connsiteY1" fmla="*/ 19836 h 165303"/>
                <a:gd name="connsiteX2" fmla="*/ 158691 w 206628"/>
                <a:gd name="connsiteY2" fmla="*/ 0 h 165303"/>
                <a:gd name="connsiteX3" fmla="*/ 0 w 206628"/>
                <a:gd name="connsiteY3" fmla="*/ 0 h 165303"/>
                <a:gd name="connsiteX4" fmla="*/ 0 w 206628"/>
                <a:gd name="connsiteY4" fmla="*/ 152079 h 165303"/>
                <a:gd name="connsiteX5" fmla="*/ 13224 w 206628"/>
                <a:gd name="connsiteY5" fmla="*/ 165303 h 165303"/>
                <a:gd name="connsiteX6" fmla="*/ 145467 w 206628"/>
                <a:gd name="connsiteY6" fmla="*/ 165303 h 165303"/>
                <a:gd name="connsiteX7" fmla="*/ 158691 w 206628"/>
                <a:gd name="connsiteY7" fmla="*/ 152079 h 165303"/>
                <a:gd name="connsiteX8" fmla="*/ 158691 w 206628"/>
                <a:gd name="connsiteY8" fmla="*/ 120671 h 165303"/>
                <a:gd name="connsiteX9" fmla="*/ 206629 w 206628"/>
                <a:gd name="connsiteY9" fmla="*/ 70089 h 165303"/>
                <a:gd name="connsiteX10" fmla="*/ 159022 w 206628"/>
                <a:gd name="connsiteY10" fmla="*/ 100835 h 165303"/>
                <a:gd name="connsiteX11" fmla="*/ 159022 w 206628"/>
                <a:gd name="connsiteY11" fmla="*/ 39673 h 165303"/>
                <a:gd name="connsiteX12" fmla="*/ 187123 w 206628"/>
                <a:gd name="connsiteY12" fmla="*/ 70089 h 165303"/>
                <a:gd name="connsiteX13" fmla="*/ 159022 w 206628"/>
                <a:gd name="connsiteY13" fmla="*/ 100835 h 165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6628" h="165303">
                  <a:moveTo>
                    <a:pt x="206629" y="70089"/>
                  </a:moveTo>
                  <a:cubicBezTo>
                    <a:pt x="206629" y="42979"/>
                    <a:pt x="185470" y="21159"/>
                    <a:pt x="158691" y="19836"/>
                  </a:cubicBezTo>
                  <a:lnTo>
                    <a:pt x="158691" y="0"/>
                  </a:lnTo>
                  <a:lnTo>
                    <a:pt x="0" y="0"/>
                  </a:lnTo>
                  <a:lnTo>
                    <a:pt x="0" y="152079"/>
                  </a:lnTo>
                  <a:cubicBezTo>
                    <a:pt x="0" y="159352"/>
                    <a:pt x="5951" y="165303"/>
                    <a:pt x="13224" y="165303"/>
                  </a:cubicBezTo>
                  <a:lnTo>
                    <a:pt x="145467" y="165303"/>
                  </a:lnTo>
                  <a:cubicBezTo>
                    <a:pt x="152740" y="165303"/>
                    <a:pt x="158691" y="159352"/>
                    <a:pt x="158691" y="152079"/>
                  </a:cubicBezTo>
                  <a:lnTo>
                    <a:pt x="158691" y="120671"/>
                  </a:lnTo>
                  <a:cubicBezTo>
                    <a:pt x="185470" y="119349"/>
                    <a:pt x="206629" y="97198"/>
                    <a:pt x="206629" y="70089"/>
                  </a:cubicBezTo>
                  <a:close/>
                  <a:moveTo>
                    <a:pt x="159022" y="100835"/>
                  </a:moveTo>
                  <a:lnTo>
                    <a:pt x="159022" y="39673"/>
                  </a:lnTo>
                  <a:cubicBezTo>
                    <a:pt x="174891" y="40995"/>
                    <a:pt x="187123" y="54219"/>
                    <a:pt x="187123" y="70089"/>
                  </a:cubicBezTo>
                  <a:cubicBezTo>
                    <a:pt x="187123" y="85958"/>
                    <a:pt x="174560" y="99512"/>
                    <a:pt x="159022" y="100835"/>
                  </a:cubicBezTo>
                  <a:close/>
                </a:path>
              </a:pathLst>
            </a:custGeom>
            <a:solidFill>
              <a:schemeClr val="accent5">
                <a:lumMod val="60000"/>
                <a:lumOff val="40000"/>
              </a:schemeClr>
            </a:solidFill>
            <a:ln w="32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7" name="Title 1">
            <a:extLst>
              <a:ext uri="{FF2B5EF4-FFF2-40B4-BE49-F238E27FC236}">
                <a16:creationId xmlns:a16="http://schemas.microsoft.com/office/drawing/2014/main" id="{C1D73CF3-0509-B988-ACD2-5E07C5B7A083}"/>
              </a:ext>
            </a:extLst>
          </p:cNvPr>
          <p:cNvSpPr txBox="1">
            <a:spLocks/>
          </p:cNvSpPr>
          <p:nvPr/>
        </p:nvSpPr>
        <p:spPr>
          <a:xfrm>
            <a:off x="7514511" y="3762116"/>
            <a:ext cx="205100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1800" dirty="0">
                <a:solidFill>
                  <a:srgbClr val="F73B3B"/>
                </a:solidFill>
                <a:latin typeface="Century Gothic" panose="020B0502020202020204" pitchFamily="34" charset="0"/>
              </a:rPr>
              <a:t>Low Water</a:t>
            </a:r>
          </a:p>
          <a:p>
            <a:pPr algn="ctr"/>
            <a:r>
              <a:rPr lang="en-US" sz="1800" dirty="0">
                <a:solidFill>
                  <a:srgbClr val="F73B3B"/>
                </a:solidFill>
                <a:latin typeface="Century Gothic" panose="020B0502020202020204" pitchFamily="34" charset="0"/>
              </a:rPr>
              <a:t>Level</a:t>
            </a:r>
          </a:p>
          <a:p>
            <a:pPr algn="ctr"/>
            <a:endParaRPr lang="en-US" sz="1800" dirty="0">
              <a:solidFill>
                <a:srgbClr val="F73B3B"/>
              </a:solidFill>
              <a:latin typeface="Century Gothic" panose="020B0502020202020204" pitchFamily="34" charset="0"/>
            </a:endParaRPr>
          </a:p>
          <a:p>
            <a:pPr algn="ctr"/>
            <a:r>
              <a:rPr lang="en-US" sz="1400" dirty="0">
                <a:solidFill>
                  <a:srgbClr val="F73B3B"/>
                </a:solidFill>
                <a:latin typeface="Century Gothic" panose="020B0502020202020204" pitchFamily="34" charset="0"/>
              </a:rPr>
              <a:t>50ml remaining</a:t>
            </a:r>
          </a:p>
        </p:txBody>
      </p:sp>
      <p:pic>
        <p:nvPicPr>
          <p:cNvPr id="9" name="Graphic 8" descr="Bell with solid fill">
            <a:extLst>
              <a:ext uri="{FF2B5EF4-FFF2-40B4-BE49-F238E27FC236}">
                <a16:creationId xmlns:a16="http://schemas.microsoft.com/office/drawing/2014/main" id="{4F5EE52F-A50C-4F0C-61A2-83350AD3849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67914" y="3293647"/>
            <a:ext cx="517691" cy="517691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9B4A7984-2578-94AD-C95A-BB1662F9CB99}"/>
              </a:ext>
            </a:extLst>
          </p:cNvPr>
          <p:cNvSpPr/>
          <p:nvPr/>
        </p:nvSpPr>
        <p:spPr>
          <a:xfrm>
            <a:off x="11218545" y="4626518"/>
            <a:ext cx="80279" cy="80279"/>
          </a:xfrm>
          <a:prstGeom prst="ellipse">
            <a:avLst/>
          </a:prstGeom>
          <a:solidFill>
            <a:srgbClr val="F73B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35B411E9-F57F-0770-8F70-B8DD409D3923}"/>
              </a:ext>
            </a:extLst>
          </p:cNvPr>
          <p:cNvSpPr/>
          <p:nvPr/>
        </p:nvSpPr>
        <p:spPr>
          <a:xfrm rot="20246342">
            <a:off x="9884077" y="3732128"/>
            <a:ext cx="327766" cy="621819"/>
          </a:xfrm>
          <a:custGeom>
            <a:avLst/>
            <a:gdLst>
              <a:gd name="connsiteX0" fmla="*/ 21908 w 166687"/>
              <a:gd name="connsiteY0" fmla="*/ 316230 h 316229"/>
              <a:gd name="connsiteX1" fmla="*/ 0 w 166687"/>
              <a:gd name="connsiteY1" fmla="*/ 283845 h 316229"/>
              <a:gd name="connsiteX2" fmla="*/ 42863 w 166687"/>
              <a:gd name="connsiteY2" fmla="*/ 255270 h 316229"/>
              <a:gd name="connsiteX3" fmla="*/ 30480 w 166687"/>
              <a:gd name="connsiteY3" fmla="*/ 192405 h 316229"/>
              <a:gd name="connsiteX4" fmla="*/ 83820 w 166687"/>
              <a:gd name="connsiteY4" fmla="*/ 156210 h 316229"/>
              <a:gd name="connsiteX5" fmla="*/ 71438 w 166687"/>
              <a:gd name="connsiteY5" fmla="*/ 93345 h 316229"/>
              <a:gd name="connsiteX6" fmla="*/ 124777 w 166687"/>
              <a:gd name="connsiteY6" fmla="*/ 58102 h 316229"/>
              <a:gd name="connsiteX7" fmla="*/ 114300 w 166687"/>
              <a:gd name="connsiteY7" fmla="*/ 7620 h 316229"/>
              <a:gd name="connsiteX8" fmla="*/ 151448 w 166687"/>
              <a:gd name="connsiteY8" fmla="*/ 0 h 316229"/>
              <a:gd name="connsiteX9" fmla="*/ 166688 w 166687"/>
              <a:gd name="connsiteY9" fmla="*/ 75248 h 316229"/>
              <a:gd name="connsiteX10" fmla="*/ 113348 w 166687"/>
              <a:gd name="connsiteY10" fmla="*/ 111443 h 316229"/>
              <a:gd name="connsiteX11" fmla="*/ 125730 w 166687"/>
              <a:gd name="connsiteY11" fmla="*/ 174308 h 316229"/>
              <a:gd name="connsiteX12" fmla="*/ 72390 w 166687"/>
              <a:gd name="connsiteY12" fmla="*/ 209550 h 316229"/>
              <a:gd name="connsiteX13" fmla="*/ 85725 w 166687"/>
              <a:gd name="connsiteY13" fmla="*/ 273367 h 3162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66687" h="316229">
                <a:moveTo>
                  <a:pt x="21908" y="316230"/>
                </a:moveTo>
                <a:lnTo>
                  <a:pt x="0" y="283845"/>
                </a:lnTo>
                <a:lnTo>
                  <a:pt x="42863" y="255270"/>
                </a:lnTo>
                <a:lnTo>
                  <a:pt x="30480" y="192405"/>
                </a:lnTo>
                <a:lnTo>
                  <a:pt x="83820" y="156210"/>
                </a:lnTo>
                <a:lnTo>
                  <a:pt x="71438" y="93345"/>
                </a:lnTo>
                <a:lnTo>
                  <a:pt x="124777" y="58102"/>
                </a:lnTo>
                <a:lnTo>
                  <a:pt x="114300" y="7620"/>
                </a:lnTo>
                <a:lnTo>
                  <a:pt x="151448" y="0"/>
                </a:lnTo>
                <a:lnTo>
                  <a:pt x="166688" y="75248"/>
                </a:lnTo>
                <a:lnTo>
                  <a:pt x="113348" y="111443"/>
                </a:lnTo>
                <a:lnTo>
                  <a:pt x="125730" y="174308"/>
                </a:lnTo>
                <a:lnTo>
                  <a:pt x="72390" y="209550"/>
                </a:lnTo>
                <a:lnTo>
                  <a:pt x="85725" y="273367"/>
                </a:lnTo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1831FC3D-15E1-4148-BD90-AC9063CC3620}"/>
              </a:ext>
            </a:extLst>
          </p:cNvPr>
          <p:cNvSpPr/>
          <p:nvPr/>
        </p:nvSpPr>
        <p:spPr>
          <a:xfrm rot="1353658" flipH="1">
            <a:off x="6868189" y="3691332"/>
            <a:ext cx="327766" cy="621819"/>
          </a:xfrm>
          <a:custGeom>
            <a:avLst/>
            <a:gdLst>
              <a:gd name="connsiteX0" fmla="*/ 21908 w 166687"/>
              <a:gd name="connsiteY0" fmla="*/ 316230 h 316229"/>
              <a:gd name="connsiteX1" fmla="*/ 0 w 166687"/>
              <a:gd name="connsiteY1" fmla="*/ 283845 h 316229"/>
              <a:gd name="connsiteX2" fmla="*/ 42863 w 166687"/>
              <a:gd name="connsiteY2" fmla="*/ 255270 h 316229"/>
              <a:gd name="connsiteX3" fmla="*/ 30480 w 166687"/>
              <a:gd name="connsiteY3" fmla="*/ 192405 h 316229"/>
              <a:gd name="connsiteX4" fmla="*/ 83820 w 166687"/>
              <a:gd name="connsiteY4" fmla="*/ 156210 h 316229"/>
              <a:gd name="connsiteX5" fmla="*/ 71438 w 166687"/>
              <a:gd name="connsiteY5" fmla="*/ 93345 h 316229"/>
              <a:gd name="connsiteX6" fmla="*/ 124777 w 166687"/>
              <a:gd name="connsiteY6" fmla="*/ 58102 h 316229"/>
              <a:gd name="connsiteX7" fmla="*/ 114300 w 166687"/>
              <a:gd name="connsiteY7" fmla="*/ 7620 h 316229"/>
              <a:gd name="connsiteX8" fmla="*/ 151448 w 166687"/>
              <a:gd name="connsiteY8" fmla="*/ 0 h 316229"/>
              <a:gd name="connsiteX9" fmla="*/ 166688 w 166687"/>
              <a:gd name="connsiteY9" fmla="*/ 75248 h 316229"/>
              <a:gd name="connsiteX10" fmla="*/ 113348 w 166687"/>
              <a:gd name="connsiteY10" fmla="*/ 111443 h 316229"/>
              <a:gd name="connsiteX11" fmla="*/ 125730 w 166687"/>
              <a:gd name="connsiteY11" fmla="*/ 174308 h 316229"/>
              <a:gd name="connsiteX12" fmla="*/ 72390 w 166687"/>
              <a:gd name="connsiteY12" fmla="*/ 209550 h 316229"/>
              <a:gd name="connsiteX13" fmla="*/ 85725 w 166687"/>
              <a:gd name="connsiteY13" fmla="*/ 273367 h 3162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66687" h="316229">
                <a:moveTo>
                  <a:pt x="21908" y="316230"/>
                </a:moveTo>
                <a:lnTo>
                  <a:pt x="0" y="283845"/>
                </a:lnTo>
                <a:lnTo>
                  <a:pt x="42863" y="255270"/>
                </a:lnTo>
                <a:lnTo>
                  <a:pt x="30480" y="192405"/>
                </a:lnTo>
                <a:lnTo>
                  <a:pt x="83820" y="156210"/>
                </a:lnTo>
                <a:lnTo>
                  <a:pt x="71438" y="93345"/>
                </a:lnTo>
                <a:lnTo>
                  <a:pt x="124777" y="58102"/>
                </a:lnTo>
                <a:lnTo>
                  <a:pt x="114300" y="7620"/>
                </a:lnTo>
                <a:lnTo>
                  <a:pt x="151448" y="0"/>
                </a:lnTo>
                <a:lnTo>
                  <a:pt x="166688" y="75248"/>
                </a:lnTo>
                <a:lnTo>
                  <a:pt x="113348" y="111443"/>
                </a:lnTo>
                <a:lnTo>
                  <a:pt x="125730" y="174308"/>
                </a:lnTo>
                <a:lnTo>
                  <a:pt x="72390" y="209550"/>
                </a:lnTo>
                <a:lnTo>
                  <a:pt x="85725" y="273367"/>
                </a:lnTo>
                <a:close/>
              </a:path>
            </a:pathLst>
          </a:custGeom>
          <a:solidFill>
            <a:schemeClr val="accent2">
              <a:lumMod val="60000"/>
              <a:lumOff val="4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420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Tm="4500">
        <p159:morph option="byObject"/>
      </p:transition>
    </mc:Choice>
    <mc:Fallback xmlns="">
      <p:transition spd="slow" advTm="45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"/>
                            </p:stCondLst>
                            <p:childTnLst>
                              <p:par>
                                <p:cTn id="9" presetID="10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10" presetClass="entr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50"/>
                            </p:stCondLst>
                            <p:childTnLst>
                              <p:par>
                                <p:cTn id="17" presetID="10" presetClass="exit" presetSubtype="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10" presetClass="entr" presetSubtype="0" fill="hold" grpId="4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250"/>
                            </p:stCondLst>
                            <p:childTnLst>
                              <p:par>
                                <p:cTn id="25" presetID="10" presetClass="exit" presetSubtype="0" fill="hold" grpId="5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32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37" dur="75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38" dur="150" fill="hold">
                                          <p:stCondLst>
                                            <p:cond delay="15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39" dur="15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40" dur="150" fill="hold">
                                          <p:stCondLst>
                                            <p:cond delay="45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41" dur="15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2750"/>
                            </p:stCondLst>
                            <p:childTnLst>
                              <p:par>
                                <p:cTn id="49" presetID="10" presetClass="exit" presetSubtype="0" fill="hold" grpId="1" nodeType="after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0" grpId="0" animBg="1"/>
      <p:bldP spid="10" grpId="1" animBg="1"/>
      <p:bldP spid="10" grpId="2" animBg="1"/>
      <p:bldP spid="10" grpId="3" animBg="1"/>
      <p:bldP spid="10" grpId="4" animBg="1"/>
      <p:bldP spid="10" grpId="5" animBg="1"/>
      <p:bldP spid="17" grpId="0" animBg="1"/>
      <p:bldP spid="17" grpId="1" animBg="1"/>
      <p:bldP spid="20" grpId="0" animBg="1"/>
      <p:bldP spid="20" grpId="1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4D22E-D362-5901-6E12-99ECBEB6D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03420A9-8867-3B4E-1C44-EB8BA67B6A9A}"/>
              </a:ext>
            </a:extLst>
          </p:cNvPr>
          <p:cNvSpPr txBox="1">
            <a:spLocks/>
          </p:cNvSpPr>
          <p:nvPr/>
        </p:nvSpPr>
        <p:spPr>
          <a:xfrm>
            <a:off x="1274798" y="241554"/>
            <a:ext cx="964240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Data</a:t>
            </a:r>
            <a:endParaRPr lang="aa-ET" dirty="0">
              <a:solidFill>
                <a:schemeClr val="accent1"/>
              </a:solidFill>
              <a:latin typeface="Century Gothic" panose="020B0502020202020204" pitchFamily="34" charset="0"/>
            </a:endParaRP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222B0294-D372-D46D-2EE4-6D82B0AB4F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8446" y="2237225"/>
            <a:ext cx="7512938" cy="6210097"/>
          </a:xfrm>
        </p:spPr>
        <p:txBody>
          <a:bodyPr>
            <a:noAutofit/>
          </a:bodyPr>
          <a:lstStyle/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"properties": 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US" sz="1400" dirty="0" err="1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coffeeBeansLeft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"title": </a:t>
            </a:r>
            <a:r>
              <a:rPr lang="en-US" sz="14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"Remaining Coffee Beans"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"description": </a:t>
            </a:r>
            <a:r>
              <a:rPr lang="en-US" sz="14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"Amount of remaining coffee in grams"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"type": </a:t>
            </a:r>
            <a:r>
              <a:rPr lang="en-US" sz="14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"number"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"minimum": </a:t>
            </a:r>
            <a:r>
              <a:rPr lang="en-US" sz="14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"maximum": </a:t>
            </a:r>
            <a:r>
              <a:rPr lang="en-US" sz="14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500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</a:t>
            </a:r>
            <a:r>
              <a:rPr lang="en-US" sz="1400" dirty="0" err="1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</a:t>
            </a:r>
            <a:r>
              <a:rPr lang="en-US" sz="14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true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"observable": </a:t>
            </a:r>
            <a:r>
              <a:rPr lang="en-US" sz="14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false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"forms": 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 ... 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  <a:endParaRPr lang="en-US" sz="1400" dirty="0">
              <a:solidFill>
                <a:schemeClr val="accent3">
                  <a:lumMod val="8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  <a:p>
            <a:pPr marL="0" indent="0">
              <a:lnSpc>
                <a:spcPct val="70000"/>
              </a:lnSpc>
              <a:buNone/>
            </a:pPr>
            <a:endParaRPr lang="en-US" sz="1400" dirty="0">
              <a:solidFill>
                <a:schemeClr val="accent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2" name="Graphic 1" descr="Smart Phone with solid fill">
            <a:extLst>
              <a:ext uri="{FF2B5EF4-FFF2-40B4-BE49-F238E27FC236}">
                <a16:creationId xmlns:a16="http://schemas.microsoft.com/office/drawing/2014/main" id="{64E852C1-B18C-EA9B-D042-1FBBCDF216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06243" y="1799026"/>
            <a:ext cx="5065411" cy="457028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D21FD62A-6F48-098A-8183-9F5230BDD48C}"/>
              </a:ext>
            </a:extLst>
          </p:cNvPr>
          <p:cNvGrpSpPr/>
          <p:nvPr/>
        </p:nvGrpSpPr>
        <p:grpSpPr>
          <a:xfrm>
            <a:off x="10220056" y="4508985"/>
            <a:ext cx="1193498" cy="1666579"/>
            <a:chOff x="974627" y="2611041"/>
            <a:chExt cx="520902" cy="727378"/>
          </a:xfrm>
          <a:solidFill>
            <a:schemeClr val="tx2"/>
          </a:solidFill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B0105840-9F00-07AE-1E0E-EC9823FC4EBF}"/>
                </a:ext>
              </a:extLst>
            </p:cNvPr>
            <p:cNvSpPr/>
            <p:nvPr/>
          </p:nvSpPr>
          <p:spPr>
            <a:xfrm>
              <a:off x="974627" y="2611041"/>
              <a:ext cx="520902" cy="727378"/>
            </a:xfrm>
            <a:custGeom>
              <a:avLst/>
              <a:gdLst>
                <a:gd name="connsiteX0" fmla="*/ 58472 w 798363"/>
                <a:gd name="connsiteY0" fmla="*/ 0 h 1032987"/>
                <a:gd name="connsiteX1" fmla="*/ 292354 w 798363"/>
                <a:gd name="connsiteY1" fmla="*/ 0 h 1032987"/>
                <a:gd name="connsiteX2" fmla="*/ 292359 w 798363"/>
                <a:gd name="connsiteY2" fmla="*/ 1 h 1032987"/>
                <a:gd name="connsiteX3" fmla="*/ 622950 w 798363"/>
                <a:gd name="connsiteY3" fmla="*/ 1 h 1032987"/>
                <a:gd name="connsiteX4" fmla="*/ 798363 w 798363"/>
                <a:gd name="connsiteY4" fmla="*/ 175414 h 1032987"/>
                <a:gd name="connsiteX5" fmla="*/ 622950 w 798363"/>
                <a:gd name="connsiteY5" fmla="*/ 350827 h 1032987"/>
                <a:gd name="connsiteX6" fmla="*/ 562765 w 798363"/>
                <a:gd name="connsiteY6" fmla="*/ 350827 h 1032987"/>
                <a:gd name="connsiteX7" fmla="*/ 562765 w 798363"/>
                <a:gd name="connsiteY7" fmla="*/ 503174 h 1032987"/>
                <a:gd name="connsiteX8" fmla="*/ 549447 w 798363"/>
                <a:gd name="connsiteY8" fmla="*/ 516492 h 1032987"/>
                <a:gd name="connsiteX9" fmla="*/ 496174 w 798363"/>
                <a:gd name="connsiteY9" fmla="*/ 516492 h 1032987"/>
                <a:gd name="connsiteX10" fmla="*/ 482856 w 798363"/>
                <a:gd name="connsiteY10" fmla="*/ 503174 h 1032987"/>
                <a:gd name="connsiteX11" fmla="*/ 482856 w 798363"/>
                <a:gd name="connsiteY11" fmla="*/ 350827 h 1032987"/>
                <a:gd name="connsiteX12" fmla="*/ 350826 w 798363"/>
                <a:gd name="connsiteY12" fmla="*/ 350827 h 1032987"/>
                <a:gd name="connsiteX13" fmla="*/ 350826 w 798363"/>
                <a:gd name="connsiteY13" fmla="*/ 858878 h 1032987"/>
                <a:gd name="connsiteX14" fmla="*/ 765662 w 798363"/>
                <a:gd name="connsiteY14" fmla="*/ 858878 h 1032987"/>
                <a:gd name="connsiteX15" fmla="*/ 794681 w 798363"/>
                <a:gd name="connsiteY15" fmla="*/ 887897 h 1032987"/>
                <a:gd name="connsiteX16" fmla="*/ 794681 w 798363"/>
                <a:gd name="connsiteY16" fmla="*/ 1003968 h 1032987"/>
                <a:gd name="connsiteX17" fmla="*/ 765662 w 798363"/>
                <a:gd name="connsiteY17" fmla="*/ 1032987 h 1032987"/>
                <a:gd name="connsiteX18" fmla="*/ 292357 w 798363"/>
                <a:gd name="connsiteY18" fmla="*/ 1032987 h 1032987"/>
                <a:gd name="connsiteX19" fmla="*/ 292354 w 798363"/>
                <a:gd name="connsiteY19" fmla="*/ 1032987 h 1032987"/>
                <a:gd name="connsiteX20" fmla="*/ 58472 w 798363"/>
                <a:gd name="connsiteY20" fmla="*/ 1032987 h 1032987"/>
                <a:gd name="connsiteX21" fmla="*/ 58470 w 798363"/>
                <a:gd name="connsiteY21" fmla="*/ 1032987 h 1032987"/>
                <a:gd name="connsiteX22" fmla="*/ 30592 w 798363"/>
                <a:gd name="connsiteY22" fmla="*/ 1032987 h 1032987"/>
                <a:gd name="connsiteX23" fmla="*/ 1573 w 798363"/>
                <a:gd name="connsiteY23" fmla="*/ 1003968 h 1032987"/>
                <a:gd name="connsiteX24" fmla="*/ 1573 w 798363"/>
                <a:gd name="connsiteY24" fmla="*/ 982304 h 1032987"/>
                <a:gd name="connsiteX25" fmla="*/ 0 w 798363"/>
                <a:gd name="connsiteY25" fmla="*/ 974515 h 1032987"/>
                <a:gd name="connsiteX26" fmla="*/ 0 w 798363"/>
                <a:gd name="connsiteY26" fmla="*/ 58472 h 1032987"/>
                <a:gd name="connsiteX27" fmla="*/ 58472 w 798363"/>
                <a:gd name="connsiteY27" fmla="*/ 0 h 1032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798363" h="1032987">
                  <a:moveTo>
                    <a:pt x="58472" y="0"/>
                  </a:moveTo>
                  <a:lnTo>
                    <a:pt x="292354" y="0"/>
                  </a:lnTo>
                  <a:lnTo>
                    <a:pt x="292359" y="1"/>
                  </a:lnTo>
                  <a:lnTo>
                    <a:pt x="622950" y="1"/>
                  </a:lnTo>
                  <a:cubicBezTo>
                    <a:pt x="719828" y="1"/>
                    <a:pt x="798363" y="78536"/>
                    <a:pt x="798363" y="175414"/>
                  </a:cubicBezTo>
                  <a:cubicBezTo>
                    <a:pt x="798363" y="272292"/>
                    <a:pt x="719828" y="350827"/>
                    <a:pt x="622950" y="350827"/>
                  </a:cubicBezTo>
                  <a:lnTo>
                    <a:pt x="562765" y="350827"/>
                  </a:lnTo>
                  <a:lnTo>
                    <a:pt x="562765" y="503174"/>
                  </a:lnTo>
                  <a:cubicBezTo>
                    <a:pt x="562765" y="510529"/>
                    <a:pt x="556802" y="516492"/>
                    <a:pt x="549447" y="516492"/>
                  </a:cubicBezTo>
                  <a:lnTo>
                    <a:pt x="496174" y="516492"/>
                  </a:lnTo>
                  <a:cubicBezTo>
                    <a:pt x="488819" y="516492"/>
                    <a:pt x="482856" y="510529"/>
                    <a:pt x="482856" y="503174"/>
                  </a:cubicBezTo>
                  <a:lnTo>
                    <a:pt x="482856" y="350827"/>
                  </a:lnTo>
                  <a:lnTo>
                    <a:pt x="350826" y="350827"/>
                  </a:lnTo>
                  <a:lnTo>
                    <a:pt x="350826" y="858878"/>
                  </a:lnTo>
                  <a:lnTo>
                    <a:pt x="765662" y="858878"/>
                  </a:lnTo>
                  <a:cubicBezTo>
                    <a:pt x="781689" y="858878"/>
                    <a:pt x="794681" y="871870"/>
                    <a:pt x="794681" y="887897"/>
                  </a:cubicBezTo>
                  <a:lnTo>
                    <a:pt x="794681" y="1003968"/>
                  </a:lnTo>
                  <a:cubicBezTo>
                    <a:pt x="794681" y="1019995"/>
                    <a:pt x="781689" y="1032987"/>
                    <a:pt x="765662" y="1032987"/>
                  </a:cubicBezTo>
                  <a:lnTo>
                    <a:pt x="292357" y="1032987"/>
                  </a:lnTo>
                  <a:lnTo>
                    <a:pt x="292354" y="1032987"/>
                  </a:lnTo>
                  <a:lnTo>
                    <a:pt x="58472" y="1032987"/>
                  </a:lnTo>
                  <a:lnTo>
                    <a:pt x="58470" y="1032987"/>
                  </a:lnTo>
                  <a:lnTo>
                    <a:pt x="30592" y="1032987"/>
                  </a:lnTo>
                  <a:cubicBezTo>
                    <a:pt x="14565" y="1032987"/>
                    <a:pt x="1573" y="1019995"/>
                    <a:pt x="1573" y="1003968"/>
                  </a:cubicBezTo>
                  <a:lnTo>
                    <a:pt x="1573" y="982304"/>
                  </a:lnTo>
                  <a:lnTo>
                    <a:pt x="0" y="974515"/>
                  </a:lnTo>
                  <a:lnTo>
                    <a:pt x="0" y="58472"/>
                  </a:lnTo>
                  <a:cubicBezTo>
                    <a:pt x="0" y="26179"/>
                    <a:pt x="26179" y="0"/>
                    <a:pt x="58472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F8DE35E3-E117-5F47-0701-817035EB4294}"/>
                </a:ext>
              </a:extLst>
            </p:cNvPr>
            <p:cNvSpPr/>
            <p:nvPr/>
          </p:nvSpPr>
          <p:spPr>
            <a:xfrm>
              <a:off x="1254841" y="3042122"/>
              <a:ext cx="206628" cy="165303"/>
            </a:xfrm>
            <a:custGeom>
              <a:avLst/>
              <a:gdLst>
                <a:gd name="connsiteX0" fmla="*/ 206629 w 206628"/>
                <a:gd name="connsiteY0" fmla="*/ 70089 h 165303"/>
                <a:gd name="connsiteX1" fmla="*/ 158691 w 206628"/>
                <a:gd name="connsiteY1" fmla="*/ 19836 h 165303"/>
                <a:gd name="connsiteX2" fmla="*/ 158691 w 206628"/>
                <a:gd name="connsiteY2" fmla="*/ 0 h 165303"/>
                <a:gd name="connsiteX3" fmla="*/ 0 w 206628"/>
                <a:gd name="connsiteY3" fmla="*/ 0 h 165303"/>
                <a:gd name="connsiteX4" fmla="*/ 0 w 206628"/>
                <a:gd name="connsiteY4" fmla="*/ 152079 h 165303"/>
                <a:gd name="connsiteX5" fmla="*/ 13224 w 206628"/>
                <a:gd name="connsiteY5" fmla="*/ 165303 h 165303"/>
                <a:gd name="connsiteX6" fmla="*/ 145467 w 206628"/>
                <a:gd name="connsiteY6" fmla="*/ 165303 h 165303"/>
                <a:gd name="connsiteX7" fmla="*/ 158691 w 206628"/>
                <a:gd name="connsiteY7" fmla="*/ 152079 h 165303"/>
                <a:gd name="connsiteX8" fmla="*/ 158691 w 206628"/>
                <a:gd name="connsiteY8" fmla="*/ 120671 h 165303"/>
                <a:gd name="connsiteX9" fmla="*/ 206629 w 206628"/>
                <a:gd name="connsiteY9" fmla="*/ 70089 h 165303"/>
                <a:gd name="connsiteX10" fmla="*/ 159022 w 206628"/>
                <a:gd name="connsiteY10" fmla="*/ 100835 h 165303"/>
                <a:gd name="connsiteX11" fmla="*/ 159022 w 206628"/>
                <a:gd name="connsiteY11" fmla="*/ 39673 h 165303"/>
                <a:gd name="connsiteX12" fmla="*/ 187123 w 206628"/>
                <a:gd name="connsiteY12" fmla="*/ 70089 h 165303"/>
                <a:gd name="connsiteX13" fmla="*/ 159022 w 206628"/>
                <a:gd name="connsiteY13" fmla="*/ 100835 h 165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6628" h="165303">
                  <a:moveTo>
                    <a:pt x="206629" y="70089"/>
                  </a:moveTo>
                  <a:cubicBezTo>
                    <a:pt x="206629" y="42979"/>
                    <a:pt x="185470" y="21159"/>
                    <a:pt x="158691" y="19836"/>
                  </a:cubicBezTo>
                  <a:lnTo>
                    <a:pt x="158691" y="0"/>
                  </a:lnTo>
                  <a:lnTo>
                    <a:pt x="0" y="0"/>
                  </a:lnTo>
                  <a:lnTo>
                    <a:pt x="0" y="152079"/>
                  </a:lnTo>
                  <a:cubicBezTo>
                    <a:pt x="0" y="159352"/>
                    <a:pt x="5951" y="165303"/>
                    <a:pt x="13224" y="165303"/>
                  </a:cubicBezTo>
                  <a:lnTo>
                    <a:pt x="145467" y="165303"/>
                  </a:lnTo>
                  <a:cubicBezTo>
                    <a:pt x="152740" y="165303"/>
                    <a:pt x="158691" y="159352"/>
                    <a:pt x="158691" y="152079"/>
                  </a:cubicBezTo>
                  <a:lnTo>
                    <a:pt x="158691" y="120671"/>
                  </a:lnTo>
                  <a:cubicBezTo>
                    <a:pt x="185470" y="119349"/>
                    <a:pt x="206629" y="97198"/>
                    <a:pt x="206629" y="70089"/>
                  </a:cubicBezTo>
                  <a:close/>
                  <a:moveTo>
                    <a:pt x="159022" y="100835"/>
                  </a:moveTo>
                  <a:lnTo>
                    <a:pt x="159022" y="39673"/>
                  </a:lnTo>
                  <a:cubicBezTo>
                    <a:pt x="174891" y="40995"/>
                    <a:pt x="187123" y="54219"/>
                    <a:pt x="187123" y="70089"/>
                  </a:cubicBezTo>
                  <a:cubicBezTo>
                    <a:pt x="187123" y="85958"/>
                    <a:pt x="174560" y="99512"/>
                    <a:pt x="159022" y="100835"/>
                  </a:cubicBezTo>
                  <a:close/>
                </a:path>
              </a:pathLst>
            </a:custGeom>
            <a:solidFill>
              <a:schemeClr val="accent5">
                <a:lumMod val="60000"/>
                <a:lumOff val="40000"/>
              </a:schemeClr>
            </a:solidFill>
            <a:ln w="32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0560408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Tm="2500">
        <p159:morph option="byObject"/>
      </p:transition>
    </mc:Choice>
    <mc:Fallback xmlns="">
      <p:transition spd="slow" advTm="25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"/>
                            </p:stCondLst>
                            <p:childTnLst>
                              <p:par>
                                <p:cTn id="9" presetID="22" presetClass="entr" presetSubtype="8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50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22" presetClass="entr" presetSubtype="8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5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50"/>
                            </p:stCondLst>
                            <p:childTnLst>
                              <p:par>
                                <p:cTn id="17" presetID="22" presetClass="entr" presetSubtype="8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50"/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22" presetClass="entr" presetSubtype="8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25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250"/>
                            </p:stCondLst>
                            <p:childTnLst>
                              <p:par>
                                <p:cTn id="25" presetID="22" presetClass="entr" presetSubtype="8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"/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"/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750"/>
                            </p:stCondLst>
                            <p:childTnLst>
                              <p:par>
                                <p:cTn id="33" presetID="22" presetClass="entr" presetSubtype="8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50"/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000"/>
                            </p:stCondLst>
                            <p:childTnLst>
                              <p:par>
                                <p:cTn id="37" presetID="22" presetClass="entr" presetSubtype="8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50"/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250"/>
                            </p:stCondLst>
                            <p:childTnLst>
                              <p:par>
                                <p:cTn id="41" presetID="22" presetClass="entr" presetSubtype="8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250"/>
                                        <p:tgtEl>
                                          <p:spTgt spid="1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500"/>
                            </p:stCondLst>
                            <p:childTnLst>
                              <p:par>
                                <p:cTn id="45" presetID="22" presetClass="entr" presetSubtype="8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50"/>
                                        <p:tgtEl>
                                          <p:spTgt spid="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2750"/>
                            </p:stCondLst>
                            <p:childTnLst>
                              <p:par>
                                <p:cTn id="49" presetID="22" presetClass="entr" presetSubtype="8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50"/>
                                        <p:tgtEl>
                                          <p:spTgt spid="1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3000"/>
                            </p:stCondLst>
                            <p:childTnLst>
                              <p:par>
                                <p:cTn id="53" presetID="22" presetClass="entr" presetSubtype="8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250"/>
                                        <p:tgtEl>
                                          <p:spTgt spid="1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3250"/>
                            </p:stCondLst>
                            <p:childTnLst>
                              <p:par>
                                <p:cTn id="57" presetID="22" presetClass="entr" presetSubtype="8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250"/>
                                        <p:tgtEl>
                                          <p:spTgt spid="1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1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3A028-A05D-DBCF-4DBD-09B67C625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8F48BB4-25F6-1803-0CED-16B00502206E}"/>
              </a:ext>
            </a:extLst>
          </p:cNvPr>
          <p:cNvSpPr txBox="1">
            <a:spLocks/>
          </p:cNvSpPr>
          <p:nvPr/>
        </p:nvSpPr>
        <p:spPr>
          <a:xfrm>
            <a:off x="1274798" y="241554"/>
            <a:ext cx="964240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>
                <a:solidFill>
                  <a:schemeClr val="accent1"/>
                </a:solidFill>
                <a:latin typeface="Century Gothic" panose="020B0502020202020204" pitchFamily="34" charset="0"/>
              </a:rPr>
              <a:t>Data</a:t>
            </a:r>
            <a:endParaRPr lang="aa-ET" dirty="0">
              <a:solidFill>
                <a:schemeClr val="accent1"/>
              </a:solidFill>
              <a:latin typeface="Century Gothic" panose="020B0502020202020204" pitchFamily="34" charset="0"/>
            </a:endParaRP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173249E-2859-A524-18DD-E8F678C985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8446" y="2237225"/>
            <a:ext cx="7512938" cy="6210097"/>
          </a:xfrm>
        </p:spPr>
        <p:txBody>
          <a:bodyPr>
            <a:noAutofit/>
          </a:bodyPr>
          <a:lstStyle/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"properties":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"</a:t>
            </a:r>
            <a:r>
              <a:rPr lang="en-US" sz="1400" dirty="0" err="1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coffeeBeansLeft</a:t>
            </a: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{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"title": "Remaining Coffee Beans",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"description": "Amount of remaining coffee in grams"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"type": </a:t>
            </a:r>
            <a:r>
              <a:rPr lang="en-US" sz="14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"number"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"minimum": </a:t>
            </a:r>
            <a:r>
              <a:rPr lang="en-US" sz="14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</a:t>
            </a:r>
            <a:r>
              <a:rPr lang="en-US" sz="1400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"maximum": </a:t>
            </a:r>
            <a:r>
              <a:rPr lang="en-US" sz="1400" dirty="0">
                <a:solidFill>
                  <a:schemeClr val="accent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500</a:t>
            </a: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</a:t>
            </a:r>
            <a:r>
              <a:rPr lang="en-US" sz="1400" dirty="0" err="1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readOnly</a:t>
            </a: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": true,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"observable": false,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"forms": [ ... ]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pPr marL="0" indent="0">
              <a:lnSpc>
                <a:spcPct val="70000"/>
              </a:lnSpc>
              <a:buNone/>
            </a:pPr>
            <a:r>
              <a:rPr lang="en-US" sz="1400" dirty="0">
                <a:solidFill>
                  <a:schemeClr val="accent3">
                    <a:lumMod val="8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...</a:t>
            </a:r>
          </a:p>
          <a:p>
            <a:pPr marL="0" indent="0">
              <a:lnSpc>
                <a:spcPct val="70000"/>
              </a:lnSpc>
              <a:buNone/>
            </a:pPr>
            <a:endParaRPr lang="en-US" sz="1400" dirty="0">
              <a:solidFill>
                <a:schemeClr val="accent3">
                  <a:lumMod val="8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2" name="Graphic 1" descr="Smart Phone with solid fill">
            <a:extLst>
              <a:ext uri="{FF2B5EF4-FFF2-40B4-BE49-F238E27FC236}">
                <a16:creationId xmlns:a16="http://schemas.microsoft.com/office/drawing/2014/main" id="{EF98D57C-1766-C212-8628-B683FB9E24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06243" y="1799026"/>
            <a:ext cx="5065411" cy="457028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775B4880-222A-E5D2-1790-1CA3800FB785}"/>
              </a:ext>
            </a:extLst>
          </p:cNvPr>
          <p:cNvGrpSpPr/>
          <p:nvPr/>
        </p:nvGrpSpPr>
        <p:grpSpPr>
          <a:xfrm>
            <a:off x="10220056" y="4508985"/>
            <a:ext cx="1193498" cy="1666579"/>
            <a:chOff x="974627" y="2611041"/>
            <a:chExt cx="520902" cy="727378"/>
          </a:xfrm>
          <a:solidFill>
            <a:schemeClr val="tx2"/>
          </a:solidFill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ECF367B8-6317-4001-D445-A7561A968650}"/>
                </a:ext>
              </a:extLst>
            </p:cNvPr>
            <p:cNvSpPr/>
            <p:nvPr/>
          </p:nvSpPr>
          <p:spPr>
            <a:xfrm>
              <a:off x="974627" y="2611041"/>
              <a:ext cx="520902" cy="727378"/>
            </a:xfrm>
            <a:custGeom>
              <a:avLst/>
              <a:gdLst>
                <a:gd name="connsiteX0" fmla="*/ 58472 w 798363"/>
                <a:gd name="connsiteY0" fmla="*/ 0 h 1032987"/>
                <a:gd name="connsiteX1" fmla="*/ 292354 w 798363"/>
                <a:gd name="connsiteY1" fmla="*/ 0 h 1032987"/>
                <a:gd name="connsiteX2" fmla="*/ 292359 w 798363"/>
                <a:gd name="connsiteY2" fmla="*/ 1 h 1032987"/>
                <a:gd name="connsiteX3" fmla="*/ 622950 w 798363"/>
                <a:gd name="connsiteY3" fmla="*/ 1 h 1032987"/>
                <a:gd name="connsiteX4" fmla="*/ 798363 w 798363"/>
                <a:gd name="connsiteY4" fmla="*/ 175414 h 1032987"/>
                <a:gd name="connsiteX5" fmla="*/ 622950 w 798363"/>
                <a:gd name="connsiteY5" fmla="*/ 350827 h 1032987"/>
                <a:gd name="connsiteX6" fmla="*/ 562765 w 798363"/>
                <a:gd name="connsiteY6" fmla="*/ 350827 h 1032987"/>
                <a:gd name="connsiteX7" fmla="*/ 562765 w 798363"/>
                <a:gd name="connsiteY7" fmla="*/ 503174 h 1032987"/>
                <a:gd name="connsiteX8" fmla="*/ 549447 w 798363"/>
                <a:gd name="connsiteY8" fmla="*/ 516492 h 1032987"/>
                <a:gd name="connsiteX9" fmla="*/ 496174 w 798363"/>
                <a:gd name="connsiteY9" fmla="*/ 516492 h 1032987"/>
                <a:gd name="connsiteX10" fmla="*/ 482856 w 798363"/>
                <a:gd name="connsiteY10" fmla="*/ 503174 h 1032987"/>
                <a:gd name="connsiteX11" fmla="*/ 482856 w 798363"/>
                <a:gd name="connsiteY11" fmla="*/ 350827 h 1032987"/>
                <a:gd name="connsiteX12" fmla="*/ 350826 w 798363"/>
                <a:gd name="connsiteY12" fmla="*/ 350827 h 1032987"/>
                <a:gd name="connsiteX13" fmla="*/ 350826 w 798363"/>
                <a:gd name="connsiteY13" fmla="*/ 858878 h 1032987"/>
                <a:gd name="connsiteX14" fmla="*/ 765662 w 798363"/>
                <a:gd name="connsiteY14" fmla="*/ 858878 h 1032987"/>
                <a:gd name="connsiteX15" fmla="*/ 794681 w 798363"/>
                <a:gd name="connsiteY15" fmla="*/ 887897 h 1032987"/>
                <a:gd name="connsiteX16" fmla="*/ 794681 w 798363"/>
                <a:gd name="connsiteY16" fmla="*/ 1003968 h 1032987"/>
                <a:gd name="connsiteX17" fmla="*/ 765662 w 798363"/>
                <a:gd name="connsiteY17" fmla="*/ 1032987 h 1032987"/>
                <a:gd name="connsiteX18" fmla="*/ 292357 w 798363"/>
                <a:gd name="connsiteY18" fmla="*/ 1032987 h 1032987"/>
                <a:gd name="connsiteX19" fmla="*/ 292354 w 798363"/>
                <a:gd name="connsiteY19" fmla="*/ 1032987 h 1032987"/>
                <a:gd name="connsiteX20" fmla="*/ 58472 w 798363"/>
                <a:gd name="connsiteY20" fmla="*/ 1032987 h 1032987"/>
                <a:gd name="connsiteX21" fmla="*/ 58470 w 798363"/>
                <a:gd name="connsiteY21" fmla="*/ 1032987 h 1032987"/>
                <a:gd name="connsiteX22" fmla="*/ 30592 w 798363"/>
                <a:gd name="connsiteY22" fmla="*/ 1032987 h 1032987"/>
                <a:gd name="connsiteX23" fmla="*/ 1573 w 798363"/>
                <a:gd name="connsiteY23" fmla="*/ 1003968 h 1032987"/>
                <a:gd name="connsiteX24" fmla="*/ 1573 w 798363"/>
                <a:gd name="connsiteY24" fmla="*/ 982304 h 1032987"/>
                <a:gd name="connsiteX25" fmla="*/ 0 w 798363"/>
                <a:gd name="connsiteY25" fmla="*/ 974515 h 1032987"/>
                <a:gd name="connsiteX26" fmla="*/ 0 w 798363"/>
                <a:gd name="connsiteY26" fmla="*/ 58472 h 1032987"/>
                <a:gd name="connsiteX27" fmla="*/ 58472 w 798363"/>
                <a:gd name="connsiteY27" fmla="*/ 0 h 1032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798363" h="1032987">
                  <a:moveTo>
                    <a:pt x="58472" y="0"/>
                  </a:moveTo>
                  <a:lnTo>
                    <a:pt x="292354" y="0"/>
                  </a:lnTo>
                  <a:lnTo>
                    <a:pt x="292359" y="1"/>
                  </a:lnTo>
                  <a:lnTo>
                    <a:pt x="622950" y="1"/>
                  </a:lnTo>
                  <a:cubicBezTo>
                    <a:pt x="719828" y="1"/>
                    <a:pt x="798363" y="78536"/>
                    <a:pt x="798363" y="175414"/>
                  </a:cubicBezTo>
                  <a:cubicBezTo>
                    <a:pt x="798363" y="272292"/>
                    <a:pt x="719828" y="350827"/>
                    <a:pt x="622950" y="350827"/>
                  </a:cubicBezTo>
                  <a:lnTo>
                    <a:pt x="562765" y="350827"/>
                  </a:lnTo>
                  <a:lnTo>
                    <a:pt x="562765" y="503174"/>
                  </a:lnTo>
                  <a:cubicBezTo>
                    <a:pt x="562765" y="510529"/>
                    <a:pt x="556802" y="516492"/>
                    <a:pt x="549447" y="516492"/>
                  </a:cubicBezTo>
                  <a:lnTo>
                    <a:pt x="496174" y="516492"/>
                  </a:lnTo>
                  <a:cubicBezTo>
                    <a:pt x="488819" y="516492"/>
                    <a:pt x="482856" y="510529"/>
                    <a:pt x="482856" y="503174"/>
                  </a:cubicBezTo>
                  <a:lnTo>
                    <a:pt x="482856" y="350827"/>
                  </a:lnTo>
                  <a:lnTo>
                    <a:pt x="350826" y="350827"/>
                  </a:lnTo>
                  <a:lnTo>
                    <a:pt x="350826" y="858878"/>
                  </a:lnTo>
                  <a:lnTo>
                    <a:pt x="765662" y="858878"/>
                  </a:lnTo>
                  <a:cubicBezTo>
                    <a:pt x="781689" y="858878"/>
                    <a:pt x="794681" y="871870"/>
                    <a:pt x="794681" y="887897"/>
                  </a:cubicBezTo>
                  <a:lnTo>
                    <a:pt x="794681" y="1003968"/>
                  </a:lnTo>
                  <a:cubicBezTo>
                    <a:pt x="794681" y="1019995"/>
                    <a:pt x="781689" y="1032987"/>
                    <a:pt x="765662" y="1032987"/>
                  </a:cubicBezTo>
                  <a:lnTo>
                    <a:pt x="292357" y="1032987"/>
                  </a:lnTo>
                  <a:lnTo>
                    <a:pt x="292354" y="1032987"/>
                  </a:lnTo>
                  <a:lnTo>
                    <a:pt x="58472" y="1032987"/>
                  </a:lnTo>
                  <a:lnTo>
                    <a:pt x="58470" y="1032987"/>
                  </a:lnTo>
                  <a:lnTo>
                    <a:pt x="30592" y="1032987"/>
                  </a:lnTo>
                  <a:cubicBezTo>
                    <a:pt x="14565" y="1032987"/>
                    <a:pt x="1573" y="1019995"/>
                    <a:pt x="1573" y="1003968"/>
                  </a:cubicBezTo>
                  <a:lnTo>
                    <a:pt x="1573" y="982304"/>
                  </a:lnTo>
                  <a:lnTo>
                    <a:pt x="0" y="974515"/>
                  </a:lnTo>
                  <a:lnTo>
                    <a:pt x="0" y="58472"/>
                  </a:lnTo>
                  <a:cubicBezTo>
                    <a:pt x="0" y="26179"/>
                    <a:pt x="26179" y="0"/>
                    <a:pt x="58472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576E1DB7-4EEB-E6B7-975E-C493B0E59708}"/>
                </a:ext>
              </a:extLst>
            </p:cNvPr>
            <p:cNvSpPr/>
            <p:nvPr/>
          </p:nvSpPr>
          <p:spPr>
            <a:xfrm>
              <a:off x="1254841" y="3042122"/>
              <a:ext cx="206628" cy="165303"/>
            </a:xfrm>
            <a:custGeom>
              <a:avLst/>
              <a:gdLst>
                <a:gd name="connsiteX0" fmla="*/ 206629 w 206628"/>
                <a:gd name="connsiteY0" fmla="*/ 70089 h 165303"/>
                <a:gd name="connsiteX1" fmla="*/ 158691 w 206628"/>
                <a:gd name="connsiteY1" fmla="*/ 19836 h 165303"/>
                <a:gd name="connsiteX2" fmla="*/ 158691 w 206628"/>
                <a:gd name="connsiteY2" fmla="*/ 0 h 165303"/>
                <a:gd name="connsiteX3" fmla="*/ 0 w 206628"/>
                <a:gd name="connsiteY3" fmla="*/ 0 h 165303"/>
                <a:gd name="connsiteX4" fmla="*/ 0 w 206628"/>
                <a:gd name="connsiteY4" fmla="*/ 152079 h 165303"/>
                <a:gd name="connsiteX5" fmla="*/ 13224 w 206628"/>
                <a:gd name="connsiteY5" fmla="*/ 165303 h 165303"/>
                <a:gd name="connsiteX6" fmla="*/ 145467 w 206628"/>
                <a:gd name="connsiteY6" fmla="*/ 165303 h 165303"/>
                <a:gd name="connsiteX7" fmla="*/ 158691 w 206628"/>
                <a:gd name="connsiteY7" fmla="*/ 152079 h 165303"/>
                <a:gd name="connsiteX8" fmla="*/ 158691 w 206628"/>
                <a:gd name="connsiteY8" fmla="*/ 120671 h 165303"/>
                <a:gd name="connsiteX9" fmla="*/ 206629 w 206628"/>
                <a:gd name="connsiteY9" fmla="*/ 70089 h 165303"/>
                <a:gd name="connsiteX10" fmla="*/ 159022 w 206628"/>
                <a:gd name="connsiteY10" fmla="*/ 100835 h 165303"/>
                <a:gd name="connsiteX11" fmla="*/ 159022 w 206628"/>
                <a:gd name="connsiteY11" fmla="*/ 39673 h 165303"/>
                <a:gd name="connsiteX12" fmla="*/ 187123 w 206628"/>
                <a:gd name="connsiteY12" fmla="*/ 70089 h 165303"/>
                <a:gd name="connsiteX13" fmla="*/ 159022 w 206628"/>
                <a:gd name="connsiteY13" fmla="*/ 100835 h 165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6628" h="165303">
                  <a:moveTo>
                    <a:pt x="206629" y="70089"/>
                  </a:moveTo>
                  <a:cubicBezTo>
                    <a:pt x="206629" y="42979"/>
                    <a:pt x="185470" y="21159"/>
                    <a:pt x="158691" y="19836"/>
                  </a:cubicBezTo>
                  <a:lnTo>
                    <a:pt x="158691" y="0"/>
                  </a:lnTo>
                  <a:lnTo>
                    <a:pt x="0" y="0"/>
                  </a:lnTo>
                  <a:lnTo>
                    <a:pt x="0" y="152079"/>
                  </a:lnTo>
                  <a:cubicBezTo>
                    <a:pt x="0" y="159352"/>
                    <a:pt x="5951" y="165303"/>
                    <a:pt x="13224" y="165303"/>
                  </a:cubicBezTo>
                  <a:lnTo>
                    <a:pt x="145467" y="165303"/>
                  </a:lnTo>
                  <a:cubicBezTo>
                    <a:pt x="152740" y="165303"/>
                    <a:pt x="158691" y="159352"/>
                    <a:pt x="158691" y="152079"/>
                  </a:cubicBezTo>
                  <a:lnTo>
                    <a:pt x="158691" y="120671"/>
                  </a:lnTo>
                  <a:cubicBezTo>
                    <a:pt x="185470" y="119349"/>
                    <a:pt x="206629" y="97198"/>
                    <a:pt x="206629" y="70089"/>
                  </a:cubicBezTo>
                  <a:close/>
                  <a:moveTo>
                    <a:pt x="159022" y="100835"/>
                  </a:moveTo>
                  <a:lnTo>
                    <a:pt x="159022" y="39673"/>
                  </a:lnTo>
                  <a:cubicBezTo>
                    <a:pt x="174891" y="40995"/>
                    <a:pt x="187123" y="54219"/>
                    <a:pt x="187123" y="70089"/>
                  </a:cubicBezTo>
                  <a:cubicBezTo>
                    <a:pt x="187123" y="85958"/>
                    <a:pt x="174560" y="99512"/>
                    <a:pt x="159022" y="100835"/>
                  </a:cubicBezTo>
                  <a:close/>
                </a:path>
              </a:pathLst>
            </a:custGeom>
            <a:solidFill>
              <a:schemeClr val="accent5">
                <a:lumMod val="60000"/>
                <a:lumOff val="40000"/>
              </a:schemeClr>
            </a:solidFill>
            <a:ln w="327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9D5ECD07-2EAD-BBC1-054F-0AF8FD3493CB}"/>
              </a:ext>
            </a:extLst>
          </p:cNvPr>
          <p:cNvGrpSpPr/>
          <p:nvPr/>
        </p:nvGrpSpPr>
        <p:grpSpPr>
          <a:xfrm>
            <a:off x="10746105" y="4688816"/>
            <a:ext cx="524745" cy="208350"/>
            <a:chOff x="9843013" y="2095500"/>
            <a:chExt cx="1101971" cy="437538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F4A7FF1F-B192-C1EE-514D-3C1537BCB91F}"/>
                </a:ext>
              </a:extLst>
            </p:cNvPr>
            <p:cNvSpPr/>
            <p:nvPr/>
          </p:nvSpPr>
          <p:spPr>
            <a:xfrm>
              <a:off x="9843013" y="2095500"/>
              <a:ext cx="1101971" cy="437538"/>
            </a:xfrm>
            <a:prstGeom prst="roundRect">
              <a:avLst>
                <a:gd name="adj" fmla="val 50000"/>
              </a:avLst>
            </a:prstGeom>
            <a:solidFill>
              <a:schemeClr val="accent3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31A78F8-DCEC-2304-419F-488DDA7056A5}"/>
                </a:ext>
              </a:extLst>
            </p:cNvPr>
            <p:cNvGrpSpPr/>
            <p:nvPr/>
          </p:nvGrpSpPr>
          <p:grpSpPr>
            <a:xfrm>
              <a:off x="9998060" y="2173688"/>
              <a:ext cx="791876" cy="281161"/>
              <a:chOff x="9931328" y="2153492"/>
              <a:chExt cx="941880" cy="334421"/>
            </a:xfrm>
          </p:grpSpPr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7F285569-B0D3-7C28-8368-CEF4C07F3E27}"/>
                  </a:ext>
                </a:extLst>
              </p:cNvPr>
              <p:cNvSpPr/>
              <p:nvPr/>
            </p:nvSpPr>
            <p:spPr>
              <a:xfrm rot="19951854">
                <a:off x="9931328" y="2160944"/>
                <a:ext cx="297563" cy="326969"/>
              </a:xfrm>
              <a:custGeom>
                <a:avLst/>
                <a:gdLst>
                  <a:gd name="connsiteX0" fmla="*/ 242170 w 297563"/>
                  <a:gd name="connsiteY0" fmla="*/ 17895 h 326969"/>
                  <a:gd name="connsiteX1" fmla="*/ 32972 w 297563"/>
                  <a:gd name="connsiteY1" fmla="*/ 89190 h 326969"/>
                  <a:gd name="connsiteX2" fmla="*/ 55384 w 297563"/>
                  <a:gd name="connsiteY2" fmla="*/ 309075 h 326969"/>
                  <a:gd name="connsiteX3" fmla="*/ 264591 w 297563"/>
                  <a:gd name="connsiteY3" fmla="*/ 237770 h 326969"/>
                  <a:gd name="connsiteX4" fmla="*/ 242170 w 297563"/>
                  <a:gd name="connsiteY4" fmla="*/ 17895 h 326969"/>
                  <a:gd name="connsiteX5" fmla="*/ 167770 w 297563"/>
                  <a:gd name="connsiteY5" fmla="*/ 162323 h 326969"/>
                  <a:gd name="connsiteX6" fmla="*/ 113277 w 297563"/>
                  <a:gd name="connsiteY6" fmla="*/ 288558 h 326969"/>
                  <a:gd name="connsiteX7" fmla="*/ 75958 w 297563"/>
                  <a:gd name="connsiteY7" fmla="*/ 277004 h 326969"/>
                  <a:gd name="connsiteX8" fmla="*/ 72968 w 297563"/>
                  <a:gd name="connsiteY8" fmla="*/ 274804 h 326969"/>
                  <a:gd name="connsiteX9" fmla="*/ 130756 w 297563"/>
                  <a:gd name="connsiteY9" fmla="*/ 153322 h 326969"/>
                  <a:gd name="connsiteX10" fmla="*/ 179047 w 297563"/>
                  <a:gd name="connsiteY10" fmla="*/ 38069 h 326969"/>
                  <a:gd name="connsiteX11" fmla="*/ 179457 w 297563"/>
                  <a:gd name="connsiteY11" fmla="*/ 38069 h 326969"/>
                  <a:gd name="connsiteX12" fmla="*/ 221596 w 297563"/>
                  <a:gd name="connsiteY12" fmla="*/ 49937 h 326969"/>
                  <a:gd name="connsiteX13" fmla="*/ 221958 w 297563"/>
                  <a:gd name="connsiteY13" fmla="*/ 50204 h 326969"/>
                  <a:gd name="connsiteX14" fmla="*/ 167770 w 297563"/>
                  <a:gd name="connsiteY14" fmla="*/ 162323 h 326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97563" h="326969">
                    <a:moveTo>
                      <a:pt x="242170" y="17895"/>
                    </a:moveTo>
                    <a:cubicBezTo>
                      <a:pt x="178209" y="-23138"/>
                      <a:pt x="84550" y="8789"/>
                      <a:pt x="32972" y="89190"/>
                    </a:cubicBezTo>
                    <a:cubicBezTo>
                      <a:pt x="-18606" y="169590"/>
                      <a:pt x="-8576" y="268041"/>
                      <a:pt x="55384" y="309075"/>
                    </a:cubicBezTo>
                    <a:cubicBezTo>
                      <a:pt x="119345" y="350108"/>
                      <a:pt x="213004" y="318180"/>
                      <a:pt x="264591" y="237770"/>
                    </a:cubicBezTo>
                    <a:cubicBezTo>
                      <a:pt x="316179" y="157360"/>
                      <a:pt x="306130" y="58919"/>
                      <a:pt x="242170" y="17895"/>
                    </a:cubicBezTo>
                    <a:close/>
                    <a:moveTo>
                      <a:pt x="167770" y="162323"/>
                    </a:moveTo>
                    <a:cubicBezTo>
                      <a:pt x="157378" y="205128"/>
                      <a:pt x="145862" y="251972"/>
                      <a:pt x="113277" y="288558"/>
                    </a:cubicBezTo>
                    <a:cubicBezTo>
                      <a:pt x="100040" y="288039"/>
                      <a:pt x="87172" y="284055"/>
                      <a:pt x="75958" y="277004"/>
                    </a:cubicBezTo>
                    <a:cubicBezTo>
                      <a:pt x="74911" y="276328"/>
                      <a:pt x="73977" y="275527"/>
                      <a:pt x="72968" y="274804"/>
                    </a:cubicBezTo>
                    <a:cubicBezTo>
                      <a:pt x="108515" y="244543"/>
                      <a:pt x="119411" y="200023"/>
                      <a:pt x="130756" y="153322"/>
                    </a:cubicBezTo>
                    <a:cubicBezTo>
                      <a:pt x="140786" y="112021"/>
                      <a:pt x="151139" y="69845"/>
                      <a:pt x="179047" y="38069"/>
                    </a:cubicBezTo>
                    <a:lnTo>
                      <a:pt x="179457" y="38069"/>
                    </a:lnTo>
                    <a:cubicBezTo>
                      <a:pt x="194358" y="37844"/>
                      <a:pt x="209002" y="41969"/>
                      <a:pt x="221596" y="49937"/>
                    </a:cubicBezTo>
                    <a:cubicBezTo>
                      <a:pt x="221719" y="50023"/>
                      <a:pt x="221834" y="50128"/>
                      <a:pt x="221958" y="50204"/>
                    </a:cubicBezTo>
                    <a:cubicBezTo>
                      <a:pt x="188973" y="75083"/>
                      <a:pt x="178990" y="116146"/>
                      <a:pt x="167770" y="162323"/>
                    </a:cubicBez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8910E1F3-00E7-FFCB-862F-AA9571B198D6}"/>
                  </a:ext>
                </a:extLst>
              </p:cNvPr>
              <p:cNvSpPr/>
              <p:nvPr/>
            </p:nvSpPr>
            <p:spPr>
              <a:xfrm rot="19951854">
                <a:off x="10257161" y="2155864"/>
                <a:ext cx="297563" cy="326969"/>
              </a:xfrm>
              <a:custGeom>
                <a:avLst/>
                <a:gdLst>
                  <a:gd name="connsiteX0" fmla="*/ 242170 w 297563"/>
                  <a:gd name="connsiteY0" fmla="*/ 17895 h 326969"/>
                  <a:gd name="connsiteX1" fmla="*/ 32972 w 297563"/>
                  <a:gd name="connsiteY1" fmla="*/ 89190 h 326969"/>
                  <a:gd name="connsiteX2" fmla="*/ 55384 w 297563"/>
                  <a:gd name="connsiteY2" fmla="*/ 309075 h 326969"/>
                  <a:gd name="connsiteX3" fmla="*/ 264591 w 297563"/>
                  <a:gd name="connsiteY3" fmla="*/ 237770 h 326969"/>
                  <a:gd name="connsiteX4" fmla="*/ 242170 w 297563"/>
                  <a:gd name="connsiteY4" fmla="*/ 17895 h 326969"/>
                  <a:gd name="connsiteX5" fmla="*/ 167770 w 297563"/>
                  <a:gd name="connsiteY5" fmla="*/ 162323 h 326969"/>
                  <a:gd name="connsiteX6" fmla="*/ 113277 w 297563"/>
                  <a:gd name="connsiteY6" fmla="*/ 288558 h 326969"/>
                  <a:gd name="connsiteX7" fmla="*/ 75958 w 297563"/>
                  <a:gd name="connsiteY7" fmla="*/ 277004 h 326969"/>
                  <a:gd name="connsiteX8" fmla="*/ 72968 w 297563"/>
                  <a:gd name="connsiteY8" fmla="*/ 274804 h 326969"/>
                  <a:gd name="connsiteX9" fmla="*/ 130756 w 297563"/>
                  <a:gd name="connsiteY9" fmla="*/ 153322 h 326969"/>
                  <a:gd name="connsiteX10" fmla="*/ 179047 w 297563"/>
                  <a:gd name="connsiteY10" fmla="*/ 38069 h 326969"/>
                  <a:gd name="connsiteX11" fmla="*/ 179457 w 297563"/>
                  <a:gd name="connsiteY11" fmla="*/ 38069 h 326969"/>
                  <a:gd name="connsiteX12" fmla="*/ 221596 w 297563"/>
                  <a:gd name="connsiteY12" fmla="*/ 49937 h 326969"/>
                  <a:gd name="connsiteX13" fmla="*/ 221958 w 297563"/>
                  <a:gd name="connsiteY13" fmla="*/ 50204 h 326969"/>
                  <a:gd name="connsiteX14" fmla="*/ 167770 w 297563"/>
                  <a:gd name="connsiteY14" fmla="*/ 162323 h 326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97563" h="326969">
                    <a:moveTo>
                      <a:pt x="242170" y="17895"/>
                    </a:moveTo>
                    <a:cubicBezTo>
                      <a:pt x="178209" y="-23138"/>
                      <a:pt x="84550" y="8789"/>
                      <a:pt x="32972" y="89190"/>
                    </a:cubicBezTo>
                    <a:cubicBezTo>
                      <a:pt x="-18606" y="169590"/>
                      <a:pt x="-8576" y="268041"/>
                      <a:pt x="55384" y="309075"/>
                    </a:cubicBezTo>
                    <a:cubicBezTo>
                      <a:pt x="119345" y="350108"/>
                      <a:pt x="213004" y="318180"/>
                      <a:pt x="264591" y="237770"/>
                    </a:cubicBezTo>
                    <a:cubicBezTo>
                      <a:pt x="316179" y="157360"/>
                      <a:pt x="306130" y="58919"/>
                      <a:pt x="242170" y="17895"/>
                    </a:cubicBezTo>
                    <a:close/>
                    <a:moveTo>
                      <a:pt x="167770" y="162323"/>
                    </a:moveTo>
                    <a:cubicBezTo>
                      <a:pt x="157378" y="205128"/>
                      <a:pt x="145862" y="251972"/>
                      <a:pt x="113277" y="288558"/>
                    </a:cubicBezTo>
                    <a:cubicBezTo>
                      <a:pt x="100040" y="288039"/>
                      <a:pt x="87172" y="284055"/>
                      <a:pt x="75958" y="277004"/>
                    </a:cubicBezTo>
                    <a:cubicBezTo>
                      <a:pt x="74911" y="276328"/>
                      <a:pt x="73977" y="275527"/>
                      <a:pt x="72968" y="274804"/>
                    </a:cubicBezTo>
                    <a:cubicBezTo>
                      <a:pt x="108515" y="244543"/>
                      <a:pt x="119411" y="200023"/>
                      <a:pt x="130756" y="153322"/>
                    </a:cubicBezTo>
                    <a:cubicBezTo>
                      <a:pt x="140786" y="112021"/>
                      <a:pt x="151139" y="69845"/>
                      <a:pt x="179047" y="38069"/>
                    </a:cubicBezTo>
                    <a:lnTo>
                      <a:pt x="179457" y="38069"/>
                    </a:lnTo>
                    <a:cubicBezTo>
                      <a:pt x="194358" y="37844"/>
                      <a:pt x="209002" y="41969"/>
                      <a:pt x="221596" y="49937"/>
                    </a:cubicBezTo>
                    <a:cubicBezTo>
                      <a:pt x="221719" y="50023"/>
                      <a:pt x="221834" y="50128"/>
                      <a:pt x="221958" y="50204"/>
                    </a:cubicBezTo>
                    <a:cubicBezTo>
                      <a:pt x="188973" y="75083"/>
                      <a:pt x="178990" y="116146"/>
                      <a:pt x="167770" y="162323"/>
                    </a:cubicBez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185BD7C4-A5D3-350B-302E-CF93E5479355}"/>
                  </a:ext>
                </a:extLst>
              </p:cNvPr>
              <p:cNvSpPr/>
              <p:nvPr/>
            </p:nvSpPr>
            <p:spPr>
              <a:xfrm rot="19951854">
                <a:off x="10575645" y="2153492"/>
                <a:ext cx="297563" cy="326969"/>
              </a:xfrm>
              <a:custGeom>
                <a:avLst/>
                <a:gdLst>
                  <a:gd name="connsiteX0" fmla="*/ 242170 w 297563"/>
                  <a:gd name="connsiteY0" fmla="*/ 17895 h 326969"/>
                  <a:gd name="connsiteX1" fmla="*/ 32972 w 297563"/>
                  <a:gd name="connsiteY1" fmla="*/ 89190 h 326969"/>
                  <a:gd name="connsiteX2" fmla="*/ 55384 w 297563"/>
                  <a:gd name="connsiteY2" fmla="*/ 309075 h 326969"/>
                  <a:gd name="connsiteX3" fmla="*/ 264591 w 297563"/>
                  <a:gd name="connsiteY3" fmla="*/ 237770 h 326969"/>
                  <a:gd name="connsiteX4" fmla="*/ 242170 w 297563"/>
                  <a:gd name="connsiteY4" fmla="*/ 17895 h 326969"/>
                  <a:gd name="connsiteX5" fmla="*/ 167770 w 297563"/>
                  <a:gd name="connsiteY5" fmla="*/ 162323 h 326969"/>
                  <a:gd name="connsiteX6" fmla="*/ 113277 w 297563"/>
                  <a:gd name="connsiteY6" fmla="*/ 288558 h 326969"/>
                  <a:gd name="connsiteX7" fmla="*/ 75958 w 297563"/>
                  <a:gd name="connsiteY7" fmla="*/ 277004 h 326969"/>
                  <a:gd name="connsiteX8" fmla="*/ 72968 w 297563"/>
                  <a:gd name="connsiteY8" fmla="*/ 274804 h 326969"/>
                  <a:gd name="connsiteX9" fmla="*/ 130756 w 297563"/>
                  <a:gd name="connsiteY9" fmla="*/ 153322 h 326969"/>
                  <a:gd name="connsiteX10" fmla="*/ 179047 w 297563"/>
                  <a:gd name="connsiteY10" fmla="*/ 38069 h 326969"/>
                  <a:gd name="connsiteX11" fmla="*/ 179457 w 297563"/>
                  <a:gd name="connsiteY11" fmla="*/ 38069 h 326969"/>
                  <a:gd name="connsiteX12" fmla="*/ 221596 w 297563"/>
                  <a:gd name="connsiteY12" fmla="*/ 49937 h 326969"/>
                  <a:gd name="connsiteX13" fmla="*/ 221958 w 297563"/>
                  <a:gd name="connsiteY13" fmla="*/ 50204 h 326969"/>
                  <a:gd name="connsiteX14" fmla="*/ 167770 w 297563"/>
                  <a:gd name="connsiteY14" fmla="*/ 162323 h 3269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97563" h="326969">
                    <a:moveTo>
                      <a:pt x="242170" y="17895"/>
                    </a:moveTo>
                    <a:cubicBezTo>
                      <a:pt x="178209" y="-23138"/>
                      <a:pt x="84550" y="8789"/>
                      <a:pt x="32972" y="89190"/>
                    </a:cubicBezTo>
                    <a:cubicBezTo>
                      <a:pt x="-18606" y="169590"/>
                      <a:pt x="-8576" y="268041"/>
                      <a:pt x="55384" y="309075"/>
                    </a:cubicBezTo>
                    <a:cubicBezTo>
                      <a:pt x="119345" y="350108"/>
                      <a:pt x="213004" y="318180"/>
                      <a:pt x="264591" y="237770"/>
                    </a:cubicBezTo>
                    <a:cubicBezTo>
                      <a:pt x="316179" y="157360"/>
                      <a:pt x="306130" y="58919"/>
                      <a:pt x="242170" y="17895"/>
                    </a:cubicBezTo>
                    <a:close/>
                    <a:moveTo>
                      <a:pt x="167770" y="162323"/>
                    </a:moveTo>
                    <a:cubicBezTo>
                      <a:pt x="157378" y="205128"/>
                      <a:pt x="145862" y="251972"/>
                      <a:pt x="113277" y="288558"/>
                    </a:cubicBezTo>
                    <a:cubicBezTo>
                      <a:pt x="100040" y="288039"/>
                      <a:pt x="87172" y="284055"/>
                      <a:pt x="75958" y="277004"/>
                    </a:cubicBezTo>
                    <a:cubicBezTo>
                      <a:pt x="74911" y="276328"/>
                      <a:pt x="73977" y="275527"/>
                      <a:pt x="72968" y="274804"/>
                    </a:cubicBezTo>
                    <a:cubicBezTo>
                      <a:pt x="108515" y="244543"/>
                      <a:pt x="119411" y="200023"/>
                      <a:pt x="130756" y="153322"/>
                    </a:cubicBezTo>
                    <a:cubicBezTo>
                      <a:pt x="140786" y="112021"/>
                      <a:pt x="151139" y="69845"/>
                      <a:pt x="179047" y="38069"/>
                    </a:cubicBezTo>
                    <a:lnTo>
                      <a:pt x="179457" y="38069"/>
                    </a:lnTo>
                    <a:cubicBezTo>
                      <a:pt x="194358" y="37844"/>
                      <a:pt x="209002" y="41969"/>
                      <a:pt x="221596" y="49937"/>
                    </a:cubicBezTo>
                    <a:cubicBezTo>
                      <a:pt x="221719" y="50023"/>
                      <a:pt x="221834" y="50128"/>
                      <a:pt x="221958" y="50204"/>
                    </a:cubicBezTo>
                    <a:cubicBezTo>
                      <a:pt x="188973" y="75083"/>
                      <a:pt x="178990" y="116146"/>
                      <a:pt x="167770" y="162323"/>
                    </a:cubicBezTo>
                    <a:close/>
                  </a:path>
                </a:pathLst>
              </a:custGeom>
              <a:solidFill>
                <a:schemeClr val="accent2">
                  <a:lumMod val="75000"/>
                </a:schemeClr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sp>
        <p:nvSpPr>
          <p:cNvPr id="13" name="Title 1">
            <a:extLst>
              <a:ext uri="{FF2B5EF4-FFF2-40B4-BE49-F238E27FC236}">
                <a16:creationId xmlns:a16="http://schemas.microsoft.com/office/drawing/2014/main" id="{0686EE14-6D2B-AFF8-13BD-ADE7D971C674}"/>
              </a:ext>
            </a:extLst>
          </p:cNvPr>
          <p:cNvSpPr txBox="1">
            <a:spLocks/>
          </p:cNvSpPr>
          <p:nvPr/>
        </p:nvSpPr>
        <p:spPr>
          <a:xfrm>
            <a:off x="7514511" y="3811338"/>
            <a:ext cx="205100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1800" dirty="0">
                <a:solidFill>
                  <a:schemeClr val="accent5">
                    <a:lumMod val="75000"/>
                  </a:schemeClr>
                </a:solidFill>
                <a:latin typeface="Century Gothic" panose="020B0502020202020204" pitchFamily="34" charset="0"/>
              </a:rPr>
              <a:t>Remaining Coffee Beans:</a:t>
            </a:r>
          </a:p>
          <a:p>
            <a:pPr algn="ctr"/>
            <a:endParaRPr lang="en-US" sz="1800" dirty="0">
              <a:solidFill>
                <a:schemeClr val="accent5">
                  <a:lumMod val="75000"/>
                </a:schemeClr>
              </a:solidFill>
              <a:latin typeface="Century Gothic" panose="020B0502020202020204" pitchFamily="34" charset="0"/>
            </a:endParaRPr>
          </a:p>
          <a:p>
            <a:pPr algn="ctr"/>
            <a:r>
              <a:rPr lang="en-US" sz="1800" dirty="0">
                <a:solidFill>
                  <a:schemeClr val="accent5">
                    <a:lumMod val="75000"/>
                  </a:schemeClr>
                </a:solidFill>
                <a:latin typeface="Century Gothic" panose="020B0502020202020204" pitchFamily="34" charset="0"/>
              </a:rPr>
              <a:t>500g</a:t>
            </a:r>
          </a:p>
        </p:txBody>
      </p:sp>
      <p:pic>
        <p:nvPicPr>
          <p:cNvPr id="15" name="Graphic 14" descr="Information with solid fill">
            <a:extLst>
              <a:ext uri="{FF2B5EF4-FFF2-40B4-BE49-F238E27FC236}">
                <a16:creationId xmlns:a16="http://schemas.microsoft.com/office/drawing/2014/main" id="{F134BCB2-DB7C-18FF-30E5-C8F4A8340FB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8267914" y="3293647"/>
            <a:ext cx="517691" cy="517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69088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Tm="17200">
        <p159:morph option="byObject"/>
      </p:transition>
    </mc:Choice>
    <mc:Fallback xmlns="">
      <p:transition spd="slow" advTm="172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500"/>
                            </p:stCondLst>
                            <p:childTnLst>
                              <p:par>
                                <p:cTn id="15" presetID="22" presetClass="exit" presetSubtype="2" fill="hold" nodeType="after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0"/>
                            </p:stCondLst>
                            <p:childTnLst>
                              <p:par>
                                <p:cTn id="19" presetID="26" presetClass="emph" presetSubtype="0" fill="hold" nodeType="afterEffect">
                                  <p:stCondLst>
                                    <p:cond delay="8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500" tmFilter="0, 0; .2, .5; .8, .5; 1, 0"/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1" dur="250" autoRev="1" fill="hold"/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2" presetID="26" presetClass="emph" presetSubtype="0" fill="hold" nodeType="withEffect">
                                  <p:stCondLst>
                                    <p:cond delay="8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 tmFilter="0, 0; .2, .5; .8, .5; 1, 0"/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4" dur="250" autoRev="1" fill="hold"/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26" presetClass="emph" presetSubtype="0" fill="hold" nodeType="withEffect">
                                  <p:stCondLst>
                                    <p:cond delay="8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 tmFilter="0, 0; .2, .5; .8, .5; 1, 0"/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27" dur="250" autoRev="1" fill="hold"/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4000"/>
                            </p:stCondLst>
                            <p:childTnLst>
                              <p:par>
                                <p:cTn id="29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 tmFilter="0, 0; .2, .5; .8, .5; 1, 0"/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1" dur="250" autoRev="1" fill="hold"/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32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500" tmFilter="0, 0; .2, .5; .8, .5; 1, 0"/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4" dur="250" autoRev="1" fill="hold"/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35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 tmFilter="0, 0; .2, .5; .8, .5; 1, 0"/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37" dur="250" autoRev="1" fill="hold"/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4500"/>
                            </p:stCondLst>
                            <p:childTnLst>
                              <p:par>
                                <p:cTn id="39" presetID="26" presetClass="emph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" dur="500" tmFilter="0, 0; .2, .5; .8, .5; 1, 0"/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1" dur="250" autoRev="1" fill="hold"/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42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500" tmFilter="0, 0; .2, .5; .8, .5; 1, 0"/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4" dur="250" autoRev="1" fill="hold"/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45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500" tmFilter="0, 0; .2, .5; .8, .5; 1, 0"/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47" dur="250" autoRev="1" fill="hold"/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79D50C5-FAF9-69C9-E581-B5318807CD15}"/>
              </a:ext>
            </a:extLst>
          </p:cNvPr>
          <p:cNvSpPr/>
          <p:nvPr/>
        </p:nvSpPr>
        <p:spPr>
          <a:xfrm>
            <a:off x="1032256" y="3291829"/>
            <a:ext cx="4547616" cy="2818177"/>
          </a:xfrm>
          <a:prstGeom prst="roundRect">
            <a:avLst>
              <a:gd name="adj" fmla="val 8522"/>
            </a:avLst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B2EE81-90D0-AEF5-195E-CD3BBEC1AAC8}"/>
              </a:ext>
            </a:extLst>
          </p:cNvPr>
          <p:cNvSpPr txBox="1"/>
          <p:nvPr/>
        </p:nvSpPr>
        <p:spPr>
          <a:xfrm>
            <a:off x="2731008" y="58521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94EC36A-72C0-5D97-08B6-18C18A96A95D}"/>
              </a:ext>
            </a:extLst>
          </p:cNvPr>
          <p:cNvSpPr txBox="1"/>
          <p:nvPr/>
        </p:nvSpPr>
        <p:spPr>
          <a:xfrm>
            <a:off x="8769346" y="2544227"/>
            <a:ext cx="23903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2"/>
                </a:solidFill>
                <a:latin typeface="Century Gothic" panose="020B0502020202020204" pitchFamily="34" charset="0"/>
              </a:rPr>
              <a:t>Next Video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0610344-5073-9351-D254-6D8408C00B10}"/>
              </a:ext>
            </a:extLst>
          </p:cNvPr>
          <p:cNvSpPr>
            <a:spLocks/>
          </p:cNvSpPr>
          <p:nvPr/>
        </p:nvSpPr>
        <p:spPr>
          <a:xfrm>
            <a:off x="4507675" y="432606"/>
            <a:ext cx="3176651" cy="3696485"/>
          </a:xfrm>
          <a:prstGeom prst="rect">
            <a:avLst/>
          </a:prstGeom>
          <a:noFill/>
        </p:spPr>
        <p:txBody>
          <a:bodyPr wrap="none" lIns="91440" tIns="45720" rIns="91440" bIns="45720">
            <a:prstTxWarp prst="textArchUp">
              <a:avLst>
                <a:gd name="adj" fmla="val 11740300"/>
              </a:avLst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  <a:latin typeface="Century Gothic" panose="020B0502020202020204" pitchFamily="34" charset="0"/>
              </a:rPr>
              <a:t>Subscribe to our Channel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648E07-0ADA-3213-F04B-B618F86FE55A}"/>
              </a:ext>
            </a:extLst>
          </p:cNvPr>
          <p:cNvSpPr txBox="1"/>
          <p:nvPr/>
        </p:nvSpPr>
        <p:spPr>
          <a:xfrm>
            <a:off x="1032256" y="2544228"/>
            <a:ext cx="15568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accent2"/>
                </a:solidFill>
                <a:latin typeface="Century Gothic" panose="020B0502020202020204" pitchFamily="34" charset="0"/>
              </a:rPr>
              <a:t>Playlist</a:t>
            </a:r>
            <a:r>
              <a:rPr lang="en-US" sz="2400" dirty="0">
                <a:solidFill>
                  <a:schemeClr val="accent2"/>
                </a:solidFill>
                <a:latin typeface="Century Gothic" panose="020B0502020202020204" pitchFamily="34" charset="0"/>
              </a:rPr>
              <a:t> 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B0419334-D010-AABC-F69E-4CE3A439194D}"/>
              </a:ext>
            </a:extLst>
          </p:cNvPr>
          <p:cNvSpPr/>
          <p:nvPr/>
        </p:nvSpPr>
        <p:spPr>
          <a:xfrm>
            <a:off x="4899713" y="736429"/>
            <a:ext cx="2392574" cy="2392574"/>
          </a:xfrm>
          <a:prstGeom prst="ellipse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7CFD8EC-DAD6-2D70-BC4C-CA8D499F942E}"/>
              </a:ext>
            </a:extLst>
          </p:cNvPr>
          <p:cNvSpPr/>
          <p:nvPr/>
        </p:nvSpPr>
        <p:spPr>
          <a:xfrm>
            <a:off x="6612128" y="3291829"/>
            <a:ext cx="4547616" cy="2818177"/>
          </a:xfrm>
          <a:prstGeom prst="roundRect">
            <a:avLst>
              <a:gd name="adj" fmla="val 8522"/>
            </a:avLst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3359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17800">
        <p:fade/>
      </p:transition>
    </mc:Choice>
    <mc:Fallback xmlns="">
      <p:transition spd="slow" advClick="0" advTm="178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WoT">
      <a:dk1>
        <a:srgbClr val="EDF3F8"/>
      </a:dk1>
      <a:lt1>
        <a:srgbClr val="000000"/>
      </a:lt1>
      <a:dk2>
        <a:srgbClr val="ECBF7C"/>
      </a:dk2>
      <a:lt2>
        <a:srgbClr val="AFCBE0"/>
      </a:lt2>
      <a:accent1>
        <a:srgbClr val="0052A5"/>
      </a:accent1>
      <a:accent2>
        <a:srgbClr val="ED7D31"/>
      </a:accent2>
      <a:accent3>
        <a:srgbClr val="FFFFFF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{640321A2-7C26-874A-BACB-BE2A97C410C5}tf10001119</Template>
  <TotalTime>21178</TotalTime>
  <Words>5616</Words>
  <Application>Microsoft Office PowerPoint</Application>
  <PresentationFormat>Widescreen</PresentationFormat>
  <Paragraphs>910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3" baseType="lpstr">
      <vt:lpstr>Arial</vt:lpstr>
      <vt:lpstr>Calibri</vt:lpstr>
      <vt:lpstr>Calibri Light</vt:lpstr>
      <vt:lpstr>Century Gothic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Sezgin, Idil</dc:creator>
  <cp:lastModifiedBy>Penchev, Teodor</cp:lastModifiedBy>
  <cp:revision>522</cp:revision>
  <dcterms:created xsi:type="dcterms:W3CDTF">2023-01-06T10:41:30Z</dcterms:created>
  <dcterms:modified xsi:type="dcterms:W3CDTF">2025-12-10T16:00:46Z</dcterms:modified>
</cp:coreProperties>
</file>